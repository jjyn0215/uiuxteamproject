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image" Target="../media/image-2-3.png"/><Relationship Id="rId4" Type="http://schemas.openxmlformats.org/officeDocument/2006/relationships/image" Target="../media/image-2-4.svg"/><Relationship Id="rId5" Type="http://schemas.openxmlformats.org/officeDocument/2006/relationships/image" Target="../media/image-2-5.png"/><Relationship Id="rId6" Type="http://schemas.openxmlformats.org/officeDocument/2006/relationships/image" Target="../media/image-2-6.svg"/><Relationship Id="rId7" Type="http://schemas.openxmlformats.org/officeDocument/2006/relationships/image" Target="../media/image-2-7.png"/><Relationship Id="rId8" Type="http://schemas.openxmlformats.org/officeDocument/2006/relationships/image" Target="../media/image-2-8.svg"/><Relationship Id="rId9" Type="http://schemas.openxmlformats.org/officeDocument/2006/relationships/image" Target="../media/image-2-9.png"/><Relationship Id="rId10" Type="http://schemas.openxmlformats.org/officeDocument/2006/relationships/image" Target="../media/image-2-10.svg"/><Relationship Id="rId11" Type="http://schemas.openxmlformats.org/officeDocument/2006/relationships/image" Target="../media/image-2-11.png"/><Relationship Id="rId12" Type="http://schemas.openxmlformats.org/officeDocument/2006/relationships/image" Target="../media/image-2-12.sv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image" Target="../media/image-3-3.png"/><Relationship Id="rId4" Type="http://schemas.openxmlformats.org/officeDocument/2006/relationships/image" Target="../media/image-3-4.svg"/><Relationship Id="rId5" Type="http://schemas.openxmlformats.org/officeDocument/2006/relationships/image" Target="../media/image-3-5.png"/><Relationship Id="rId6" Type="http://schemas.openxmlformats.org/officeDocument/2006/relationships/image" Target="../media/image-3-6.svg"/><Relationship Id="rId7" Type="http://schemas.openxmlformats.org/officeDocument/2006/relationships/image" Target="../media/image-3-7.png"/><Relationship Id="rId8" Type="http://schemas.openxmlformats.org/officeDocument/2006/relationships/image" Target="../media/image-3-8.svg"/><Relationship Id="rId9" Type="http://schemas.openxmlformats.org/officeDocument/2006/relationships/image" Target="../media/image-3-9.png"/><Relationship Id="rId10" Type="http://schemas.openxmlformats.org/officeDocument/2006/relationships/image" Target="../media/image-3-10.sv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image" Target="../media/image-4-3.png"/><Relationship Id="rId4" Type="http://schemas.openxmlformats.org/officeDocument/2006/relationships/image" Target="../media/image-4-4.svg"/><Relationship Id="rId5" Type="http://schemas.openxmlformats.org/officeDocument/2006/relationships/image" Target="../media/image-4-5.png"/><Relationship Id="rId6" Type="http://schemas.openxmlformats.org/officeDocument/2006/relationships/image" Target="../media/image-4-6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image" Target="../media/image-5-3.png"/><Relationship Id="rId4" Type="http://schemas.openxmlformats.org/officeDocument/2006/relationships/image" Target="../media/image-5-4.svg"/><Relationship Id="rId5" Type="http://schemas.openxmlformats.org/officeDocument/2006/relationships/image" Target="../media/image-5-5.png"/><Relationship Id="rId6" Type="http://schemas.openxmlformats.org/officeDocument/2006/relationships/image" Target="../media/image-5-6.svg"/><Relationship Id="rId7" Type="http://schemas.openxmlformats.org/officeDocument/2006/relationships/image" Target="../media/image-5-7.png"/><Relationship Id="rId8" Type="http://schemas.openxmlformats.org/officeDocument/2006/relationships/image" Target="../media/image-5-8.svg"/><Relationship Id="rId9" Type="http://schemas.openxmlformats.org/officeDocument/2006/relationships/image" Target="../media/image-5-9.png"/><Relationship Id="rId10" Type="http://schemas.openxmlformats.org/officeDocument/2006/relationships/image" Target="../media/image-5-10.svg"/><Relationship Id="rId11" Type="http://schemas.openxmlformats.org/officeDocument/2006/relationships/image" Target="../media/image-5-11.png"/><Relationship Id="rId12" Type="http://schemas.openxmlformats.org/officeDocument/2006/relationships/image" Target="../media/image-5-12.svg"/><Relationship Id="rId13" Type="http://schemas.openxmlformats.org/officeDocument/2006/relationships/image" Target="../media/image-5-13.png"/><Relationship Id="rId14" Type="http://schemas.openxmlformats.org/officeDocument/2006/relationships/image" Target="../media/image-5-14.svg"/><Relationship Id="rId15" Type="http://schemas.openxmlformats.org/officeDocument/2006/relationships/slideLayout" Target="../slideLayouts/slideLayout1.xml"/><Relationship Id="rId1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svg"/><Relationship Id="rId3" Type="http://schemas.openxmlformats.org/officeDocument/2006/relationships/image" Target="../media/image-8-3.png"/><Relationship Id="rId4" Type="http://schemas.openxmlformats.org/officeDocument/2006/relationships/image" Target="../media/image-8-4.svg"/><Relationship Id="rId5" Type="http://schemas.openxmlformats.org/officeDocument/2006/relationships/image" Target="../media/image-8-5.png"/><Relationship Id="rId6" Type="http://schemas.openxmlformats.org/officeDocument/2006/relationships/image" Target="../media/image-8-6.svg"/><Relationship Id="rId7" Type="http://schemas.openxmlformats.org/officeDocument/2006/relationships/image" Target="../media/image-8-7.png"/><Relationship Id="rId8" Type="http://schemas.openxmlformats.org/officeDocument/2006/relationships/image" Target="../media/image-8-8.sv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A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720840" y="0"/>
            <a:ext cx="547085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7827264" cy="6858000"/>
          </a:xfrm>
          <a:prstGeom prst="rect">
            <a:avLst/>
          </a:prstGeom>
          <a:solidFill>
            <a:srgbClr val="F7FAF4"/>
          </a:solidFill>
          <a:ln w="12700">
            <a:solidFill>
              <a:srgbClr val="F7FAF4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603504" y="384048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386948"/>
                </a:solidFill>
                <a:latin typeface="A2Z" pitchFamily="34" charset="0"/>
                <a:ea typeface="A2Z" pitchFamily="34" charset="-122"/>
                <a:cs typeface="A2Z" pitchFamily="34" charset="-120"/>
              </a:rPr>
              <a:t>LET'S ALARM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9235440" y="384048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47168"/>
                </a:solidFill>
                <a:latin typeface="A2Z" pitchFamily="34" charset="0"/>
                <a:ea typeface="A2Z" pitchFamily="34" charset="-122"/>
                <a:cs typeface="A2Z" pitchFamily="34" charset="-120"/>
              </a:rPr>
              <a:t>평가 (1) 프로그램 개요 및 설명</a:t>
            </a:r>
            <a:endParaRPr lang="en-US" sz="800" dirty="0"/>
          </a:p>
        </p:txBody>
      </p:sp>
      <p:sp>
        <p:nvSpPr>
          <p:cNvPr id="6" name="Shape 3"/>
          <p:cNvSpPr/>
          <p:nvPr/>
        </p:nvSpPr>
        <p:spPr>
          <a:xfrm>
            <a:off x="603504" y="704088"/>
            <a:ext cx="10981944" cy="0"/>
          </a:xfrm>
          <a:prstGeom prst="line">
            <a:avLst/>
          </a:prstGeom>
          <a:noFill/>
          <a:ln w="12700">
            <a:solidFill>
              <a:srgbClr val="DAE6DD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03504" y="6419088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15" kern="0" dirty="0">
                <a:solidFill>
                  <a:srgbClr val="647168"/>
                </a:solidFill>
                <a:latin typeface="A2Z" pitchFamily="34" charset="0"/>
                <a:ea typeface="A2Z" pitchFamily="34" charset="-122"/>
                <a:cs typeface="A2Z" pitchFamily="34" charset="-120"/>
              </a:rPr>
              <a:t>UI/UX PROGRAMMING   /   TEAM 06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11155680" y="6419088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86948"/>
                </a:solidFill>
                <a:latin typeface="A2Z" pitchFamily="34" charset="0"/>
                <a:ea typeface="A2Z" pitchFamily="34" charset="-122"/>
                <a:cs typeface="A2Z" pitchFamily="34" charset="-120"/>
              </a:rPr>
              <a:t>01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603504" y="1133856"/>
            <a:ext cx="21031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35" kern="0" dirty="0">
                <a:solidFill>
                  <a:srgbClr val="386948"/>
                </a:solidFill>
                <a:latin typeface="A2Z" pitchFamily="34" charset="0"/>
                <a:ea typeface="A2Z" pitchFamily="34" charset="-122"/>
                <a:cs typeface="A2Z" pitchFamily="34" charset="-120"/>
              </a:rPr>
              <a:t>Android first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585216" y="1581912"/>
            <a:ext cx="5577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2C342E"/>
                </a:solidFill>
                <a:latin typeface="KIMM_Bold" pitchFamily="34" charset="0"/>
                <a:ea typeface="KIMM_Bold" pitchFamily="34" charset="-122"/>
                <a:cs typeface="KIMM_Bold" pitchFamily="34" charset="-120"/>
              </a:rPr>
              <a:t>Let's alarm</a:t>
            </a:r>
            <a:endParaRPr lang="en-US" sz="4200" dirty="0"/>
          </a:p>
        </p:txBody>
      </p:sp>
      <p:sp>
        <p:nvSpPr>
          <p:cNvPr id="11" name="Text 8"/>
          <p:cNvSpPr/>
          <p:nvPr/>
        </p:nvSpPr>
        <p:spPr>
          <a:xfrm>
            <a:off x="621792" y="2441448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86948"/>
                </a:solidFill>
                <a:latin typeface="KIMM_Bold" pitchFamily="34" charset="0"/>
                <a:ea typeface="KIMM_Bold" pitchFamily="34" charset="-122"/>
                <a:cs typeface="KIMM_Bold" pitchFamily="34" charset="-120"/>
              </a:rPr>
              <a:t>렛츠알람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612648" y="3145536"/>
            <a:ext cx="5440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C342E"/>
                </a:solidFill>
                <a:latin typeface="A2Z" pitchFamily="34" charset="0"/>
                <a:ea typeface="A2Z" pitchFamily="34" charset="-122"/>
                <a:cs typeface="A2Z" pitchFamily="34" charset="-120"/>
              </a:rPr>
              <a:t>여러 Android 기기의 알람 변경 상태를 공유하는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2C342E"/>
                </a:solidFill>
                <a:latin typeface="A2Z" pitchFamily="34" charset="0"/>
                <a:ea typeface="A2Z" pitchFamily="34" charset="-122"/>
                <a:cs typeface="A2Z" pitchFamily="34" charset="-120"/>
              </a:rPr>
              <a:t>Flutter 기반 실시간 동기화 알람 앱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621792" y="4069080"/>
            <a:ext cx="5257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168"/>
                </a:solidFill>
                <a:latin typeface="A2Z" pitchFamily="34" charset="0"/>
                <a:ea typeface="A2Z" pitchFamily="34" charset="-122"/>
                <a:cs typeface="A2Z" pitchFamily="34" charset="-120"/>
              </a:rPr>
              <a:t>Firebase로 변경 내용을 연결하고, 실제 정각 울림은 각 기기의 로컬 예약이 담당합니다.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612648" y="4846320"/>
            <a:ext cx="1252728" cy="292608"/>
          </a:xfrm>
          <a:prstGeom prst="roundRect">
            <a:avLst>
              <a:gd name="adj" fmla="val 25000"/>
            </a:avLst>
          </a:prstGeom>
          <a:solidFill>
            <a:srgbClr val="E7F7EB"/>
          </a:solidFill>
          <a:ln w="12700">
            <a:solidFill>
              <a:srgbClr val="E7F7E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22376" y="4905756"/>
            <a:ext cx="10332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86948"/>
                </a:solidFill>
                <a:latin typeface="A2Z" pitchFamily="34" charset="0"/>
                <a:ea typeface="A2Z" pitchFamily="34" charset="-122"/>
                <a:cs typeface="A2Z" pitchFamily="34" charset="-120"/>
              </a:rPr>
              <a:t>Flutter / Dart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1975104" y="4846320"/>
            <a:ext cx="1024128" cy="292608"/>
          </a:xfrm>
          <a:prstGeom prst="roundRect">
            <a:avLst>
              <a:gd name="adj" fmla="val 25000"/>
            </a:avLst>
          </a:prstGeom>
          <a:solidFill>
            <a:srgbClr val="E7F7EB"/>
          </a:solidFill>
          <a:ln w="12700">
            <a:solidFill>
              <a:srgbClr val="E7F7EB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2084832" y="4905756"/>
            <a:ext cx="8046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86948"/>
                </a:solidFill>
                <a:latin typeface="A2Z" pitchFamily="34" charset="0"/>
                <a:ea typeface="A2Z" pitchFamily="34" charset="-122"/>
                <a:cs typeface="A2Z" pitchFamily="34" charset="-120"/>
              </a:rPr>
              <a:t>Firebase</a:t>
            </a:r>
            <a:endParaRPr lang="en-US" sz="850" dirty="0"/>
          </a:p>
        </p:txBody>
      </p:sp>
      <p:sp>
        <p:nvSpPr>
          <p:cNvPr id="18" name="Shape 15"/>
          <p:cNvSpPr/>
          <p:nvPr/>
        </p:nvSpPr>
        <p:spPr>
          <a:xfrm>
            <a:off x="3108960" y="4846320"/>
            <a:ext cx="1444752" cy="292608"/>
          </a:xfrm>
          <a:prstGeom prst="roundRect">
            <a:avLst>
              <a:gd name="adj" fmla="val 25000"/>
            </a:avLst>
          </a:prstGeom>
          <a:solidFill>
            <a:srgbClr val="E7F7EB"/>
          </a:solidFill>
          <a:ln w="12700">
            <a:solidFill>
              <a:srgbClr val="E7F7EB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3218688" y="4905756"/>
            <a:ext cx="12252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86948"/>
                </a:solidFill>
                <a:latin typeface="A2Z" pitchFamily="34" charset="0"/>
                <a:ea typeface="A2Z" pitchFamily="34" charset="-122"/>
                <a:cs typeface="A2Z" pitchFamily="34" charset="-120"/>
              </a:rPr>
              <a:t>Android / Kotlin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621792" y="5632704"/>
            <a:ext cx="31272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47168"/>
                </a:solidFill>
                <a:latin typeface="A2Z" pitchFamily="34" charset="0"/>
                <a:ea typeface="A2Z" pitchFamily="34" charset="-122"/>
                <a:cs typeface="A2Z" pitchFamily="34" charset="-120"/>
              </a:rPr>
              <a:t>김준형  계획·디자인·기능 구현·테스트</a:t>
            </a:r>
            <a:endParaRPr lang="en-US" sz="850" dirty="0"/>
          </a:p>
        </p:txBody>
      </p:sp>
      <p:sp>
        <p:nvSpPr>
          <p:cNvPr id="21" name="Text 18"/>
          <p:cNvSpPr/>
          <p:nvPr/>
        </p:nvSpPr>
        <p:spPr>
          <a:xfrm>
            <a:off x="3721608" y="5632704"/>
            <a:ext cx="27797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47168"/>
                </a:solidFill>
                <a:latin typeface="A2Z" pitchFamily="34" charset="0"/>
                <a:ea typeface="A2Z" pitchFamily="34" charset="-122"/>
                <a:cs typeface="A2Z" pitchFamily="34" charset="-120"/>
              </a:rPr>
              <a:t>양상현  자료조사·발표자료·테스트</a:t>
            </a:r>
            <a:endParaRPr lang="en-US" sz="850" dirty="0"/>
          </a:p>
        </p:txBody>
      </p:sp>
      <p:sp>
        <p:nvSpPr>
          <p:cNvPr id="22" name="Text 19"/>
          <p:cNvSpPr/>
          <p:nvPr/>
        </p:nvSpPr>
        <p:spPr>
          <a:xfrm>
            <a:off x="621792" y="5916168"/>
            <a:ext cx="63276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47168"/>
                </a:solidFill>
                <a:latin typeface="A2Z" pitchFamily="34" charset="0"/>
                <a:ea typeface="A2Z" pitchFamily="34" charset="-122"/>
                <a:cs typeface="A2Z" pitchFamily="34" charset="-120"/>
              </a:rPr>
              <a:t>정준호  코드 작성·기능 구현·테스트     김민준  UI/UX 기획·요구사항 정의·테스트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8567928" y="1033272"/>
            <a:ext cx="2423160" cy="5120640"/>
          </a:xfrm>
          <a:prstGeom prst="roundRect">
            <a:avLst>
              <a:gd name="adj" fmla="val 6792"/>
            </a:avLst>
          </a:prstGeom>
          <a:solidFill>
            <a:srgbClr val="FFFFFF"/>
          </a:solidFill>
          <a:ln w="12700">
            <a:solidFill>
              <a:srgbClr val="D3E0D7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8650224" y="1124712"/>
            <a:ext cx="2258568" cy="4937760"/>
          </a:xfrm>
          <a:prstGeom prst="roundRect">
            <a:avLst>
              <a:gd name="adj" fmla="val 5263"/>
            </a:avLst>
          </a:prstGeom>
          <a:solidFill>
            <a:srgbClr val="F7FAF4"/>
          </a:solidFill>
          <a:ln w="12700">
            <a:solidFill>
              <a:srgbClr val="F7FAF4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9550908" y="1188720"/>
            <a:ext cx="457200" cy="73152"/>
          </a:xfrm>
          <a:prstGeom prst="roundRect">
            <a:avLst>
              <a:gd name="adj" fmla="val 37500"/>
            </a:avLst>
          </a:prstGeom>
          <a:solidFill>
            <a:srgbClr val="D2DDD5"/>
          </a:solidFill>
          <a:ln w="12700">
            <a:solidFill>
              <a:srgbClr val="D2DDD5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8833104" y="1563624"/>
            <a:ext cx="189280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C342E"/>
                </a:solidFill>
                <a:latin typeface="KIMM_Bold" pitchFamily="34" charset="0"/>
                <a:ea typeface="KIMM_Bold" pitchFamily="34" charset="-122"/>
                <a:cs typeface="KIMM_Bold" pitchFamily="34" charset="-120"/>
              </a:rPr>
              <a:t>07:30</a:t>
            </a:r>
            <a:endParaRPr lang="en-US" sz="1700" dirty="0"/>
          </a:p>
        </p:txBody>
      </p:sp>
      <p:sp>
        <p:nvSpPr>
          <p:cNvPr id="27" name="Text 24"/>
          <p:cNvSpPr/>
          <p:nvPr/>
        </p:nvSpPr>
        <p:spPr>
          <a:xfrm>
            <a:off x="8833104" y="1911096"/>
            <a:ext cx="18928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168"/>
                </a:solidFill>
                <a:latin typeface="A2Z" pitchFamily="34" charset="0"/>
                <a:ea typeface="A2Z" pitchFamily="34" charset="-122"/>
                <a:cs typeface="A2Z" pitchFamily="34" charset="-120"/>
              </a:rPr>
              <a:t>평일 아침</a:t>
            </a:r>
            <a:endParaRPr lang="en-US" sz="800" dirty="0"/>
          </a:p>
        </p:txBody>
      </p:sp>
      <p:sp>
        <p:nvSpPr>
          <p:cNvPr id="28" name="Shape 25"/>
          <p:cNvSpPr/>
          <p:nvPr/>
        </p:nvSpPr>
        <p:spPr>
          <a:xfrm>
            <a:off x="8769096" y="2340864"/>
            <a:ext cx="2020824" cy="612648"/>
          </a:xfrm>
          <a:prstGeom prst="roundRect">
            <a:avLst>
              <a:gd name="adj" fmla="val 11940"/>
            </a:avLst>
          </a:prstGeom>
          <a:solidFill>
            <a:srgbClr val="FFFFFF"/>
          </a:solidFill>
          <a:ln w="12700">
            <a:solidFill>
              <a:srgbClr val="DAE6DD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8897112" y="2478024"/>
            <a:ext cx="17647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C342E"/>
                </a:solidFill>
                <a:latin typeface="A2Z" pitchFamily="34" charset="0"/>
                <a:ea typeface="A2Z" pitchFamily="34" charset="-122"/>
                <a:cs typeface="A2Z" pitchFamily="34" charset="-120"/>
              </a:rPr>
              <a:t>06:40  기상 알람</a:t>
            </a:r>
            <a:endParaRPr lang="en-US" sz="800" dirty="0"/>
          </a:p>
        </p:txBody>
      </p:sp>
      <p:sp>
        <p:nvSpPr>
          <p:cNvPr id="30" name="Shape 27"/>
          <p:cNvSpPr/>
          <p:nvPr/>
        </p:nvSpPr>
        <p:spPr>
          <a:xfrm>
            <a:off x="10378440" y="2532888"/>
            <a:ext cx="265176" cy="109728"/>
          </a:xfrm>
          <a:prstGeom prst="roundRect">
            <a:avLst>
              <a:gd name="adj" fmla="val 41667"/>
            </a:avLst>
          </a:prstGeom>
          <a:solidFill>
            <a:srgbClr val="386948"/>
          </a:solidFill>
          <a:ln w="12700">
            <a:solidFill>
              <a:srgbClr val="386948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8769096" y="3072384"/>
            <a:ext cx="2020824" cy="612648"/>
          </a:xfrm>
          <a:prstGeom prst="roundRect">
            <a:avLst>
              <a:gd name="adj" fmla="val 11940"/>
            </a:avLst>
          </a:prstGeom>
          <a:solidFill>
            <a:srgbClr val="FFFFFF"/>
          </a:solidFill>
          <a:ln w="12700">
            <a:solidFill>
              <a:srgbClr val="DAE6DD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8897112" y="3209544"/>
            <a:ext cx="17647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C342E"/>
                </a:solidFill>
                <a:latin typeface="A2Z" pitchFamily="34" charset="0"/>
                <a:ea typeface="A2Z" pitchFamily="34" charset="-122"/>
                <a:cs typeface="A2Z" pitchFamily="34" charset="-120"/>
              </a:rPr>
              <a:t>07:30  회의 준비</a:t>
            </a:r>
            <a:endParaRPr lang="en-US" sz="800" dirty="0"/>
          </a:p>
        </p:txBody>
      </p:sp>
      <p:sp>
        <p:nvSpPr>
          <p:cNvPr id="33" name="Shape 30"/>
          <p:cNvSpPr/>
          <p:nvPr/>
        </p:nvSpPr>
        <p:spPr>
          <a:xfrm>
            <a:off x="10378440" y="3264408"/>
            <a:ext cx="265176" cy="109728"/>
          </a:xfrm>
          <a:prstGeom prst="roundRect">
            <a:avLst>
              <a:gd name="adj" fmla="val 41667"/>
            </a:avLst>
          </a:prstGeom>
          <a:solidFill>
            <a:srgbClr val="B9EFC5"/>
          </a:solidFill>
          <a:ln w="12700">
            <a:solidFill>
              <a:srgbClr val="B9EFC5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10396728" y="5394960"/>
            <a:ext cx="338328" cy="338328"/>
          </a:xfrm>
          <a:prstGeom prst="ellipse">
            <a:avLst>
              <a:gd name="adj" fmla="val 21622"/>
            </a:avLst>
          </a:prstGeom>
          <a:solidFill>
            <a:srgbClr val="386948"/>
          </a:solidFill>
          <a:ln w="12700">
            <a:solidFill>
              <a:srgbClr val="386948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10396728" y="5468112"/>
            <a:ext cx="3383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2Z" pitchFamily="34" charset="0"/>
                <a:ea typeface="A2Z" pitchFamily="34" charset="-122"/>
                <a:cs typeface="A2Z" pitchFamily="34" charset="-120"/>
              </a:rPr>
              <a:t>+</a:t>
            </a:r>
            <a:endParaRPr lang="en-US" sz="1200" dirty="0"/>
          </a:p>
        </p:txBody>
      </p:sp>
      <p:sp>
        <p:nvSpPr>
          <p:cNvPr id="36" name="Text 33"/>
          <p:cNvSpPr/>
          <p:nvPr/>
        </p:nvSpPr>
        <p:spPr>
          <a:xfrm>
            <a:off x="8769096" y="5788152"/>
            <a:ext cx="1645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168"/>
                </a:solidFill>
                <a:latin typeface="A2Z" pitchFamily="34" charset="0"/>
                <a:ea typeface="A2Z" pitchFamily="34" charset="-122"/>
                <a:cs typeface="A2Z" pitchFamily="34" charset="-120"/>
              </a:rPr>
              <a:t>실제 화면 교체 영역</a:t>
            </a:r>
            <a:endParaRPr lang="en-US" sz="700" dirty="0"/>
          </a:p>
        </p:txBody>
      </p:sp>
      <p:sp>
        <p:nvSpPr>
          <p:cNvPr id="37" name="Text 34"/>
          <p:cNvSpPr/>
          <p:nvPr/>
        </p:nvSpPr>
        <p:spPr>
          <a:xfrm>
            <a:off x="8001000" y="11338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386948"/>
                </a:solidFill>
                <a:latin typeface="KIMM_Light" pitchFamily="34" charset="0"/>
                <a:ea typeface="KIMM_Light" pitchFamily="34" charset="-122"/>
                <a:cs typeface="KIMM_Light" pitchFamily="34" charset="-120"/>
              </a:rPr>
              <a:t>01</a:t>
            </a:r>
            <a:endParaRPr lang="en-US" sz="2100" dirty="0"/>
          </a:p>
        </p:txBody>
      </p:sp>
      <p:sp>
        <p:nvSpPr>
          <p:cNvPr id="38" name="Shape 35"/>
          <p:cNvSpPr/>
          <p:nvPr/>
        </p:nvSpPr>
        <p:spPr>
          <a:xfrm>
            <a:off x="8028432" y="1609344"/>
            <a:ext cx="384048" cy="0"/>
          </a:xfrm>
          <a:prstGeom prst="line">
            <a:avLst/>
          </a:prstGeom>
          <a:noFill/>
          <a:ln w="17780">
            <a:solidFill>
              <a:srgbClr val="386948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A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720840" y="0"/>
            <a:ext cx="547085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7827264" cy="6858000"/>
          </a:xfrm>
          <a:prstGeom prst="rect">
            <a:avLst/>
          </a:prstGeom>
          <a:solidFill>
            <a:srgbClr val="F7FAF4"/>
          </a:solidFill>
          <a:ln w="12700">
            <a:solidFill>
              <a:srgbClr val="F7FAF4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603504" y="384048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386948"/>
                </a:solidFill>
                <a:latin typeface="A2Z" pitchFamily="34" charset="0"/>
                <a:ea typeface="A2Z" pitchFamily="34" charset="-122"/>
                <a:cs typeface="A2Z" pitchFamily="34" charset="-120"/>
              </a:rPr>
              <a:t>LET'S ALARM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9235440" y="384048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47168"/>
                </a:solidFill>
                <a:latin typeface="A2Z" pitchFamily="34" charset="0"/>
                <a:ea typeface="A2Z" pitchFamily="34" charset="-122"/>
                <a:cs typeface="A2Z" pitchFamily="34" charset="-120"/>
              </a:rPr>
              <a:t>평가 (1) 프로그램 개요 및 설명</a:t>
            </a:r>
            <a:endParaRPr lang="en-US" sz="800" dirty="0"/>
          </a:p>
        </p:txBody>
      </p:sp>
      <p:sp>
        <p:nvSpPr>
          <p:cNvPr id="6" name="Shape 3"/>
          <p:cNvSpPr/>
          <p:nvPr/>
        </p:nvSpPr>
        <p:spPr>
          <a:xfrm>
            <a:off x="603504" y="704088"/>
            <a:ext cx="10981944" cy="0"/>
          </a:xfrm>
          <a:prstGeom prst="line">
            <a:avLst/>
          </a:prstGeom>
          <a:noFill/>
          <a:ln w="12700">
            <a:solidFill>
              <a:srgbClr val="DAE6DD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03504" y="6419088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15" kern="0" dirty="0">
                <a:solidFill>
                  <a:srgbClr val="647168"/>
                </a:solidFill>
                <a:latin typeface="A2Z" pitchFamily="34" charset="0"/>
                <a:ea typeface="A2Z" pitchFamily="34" charset="-122"/>
                <a:cs typeface="A2Z" pitchFamily="34" charset="-120"/>
              </a:rPr>
              <a:t>UI/UX PROGRAMMING   /   TEAM 06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11155680" y="6419088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86948"/>
                </a:solidFill>
                <a:latin typeface="A2Z" pitchFamily="34" charset="0"/>
                <a:ea typeface="A2Z" pitchFamily="34" charset="-122"/>
                <a:cs typeface="A2Z" pitchFamily="34" charset="-120"/>
              </a:rPr>
              <a:t>02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594360" y="969264"/>
            <a:ext cx="8869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C342E"/>
                </a:solidFill>
                <a:latin typeface="KIMM_Bold" pitchFamily="34" charset="0"/>
                <a:ea typeface="KIMM_Bold" pitchFamily="34" charset="-122"/>
                <a:cs typeface="KIMM_Bold" pitchFamily="34" charset="-120"/>
              </a:rPr>
              <a:t>프로그램 개요 및 개발 목표</a:t>
            </a:r>
            <a:endParaRPr lang="en-US" sz="2700" dirty="0"/>
          </a:p>
        </p:txBody>
      </p:sp>
      <p:sp>
        <p:nvSpPr>
          <p:cNvPr id="10" name="Text 7"/>
          <p:cNvSpPr/>
          <p:nvPr/>
        </p:nvSpPr>
        <p:spPr>
          <a:xfrm>
            <a:off x="612648" y="1545336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86948"/>
                </a:solidFill>
                <a:latin typeface="A2Z" pitchFamily="34" charset="0"/>
                <a:ea typeface="A2Z" pitchFamily="34" charset="-122"/>
                <a:cs typeface="A2Z" pitchFamily="34" charset="-120"/>
              </a:rPr>
              <a:t>기기마다 분리된 알람 상태를 Android 우선 구현과 Firebase 동기화로 연결합니다.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621792" y="2194560"/>
            <a:ext cx="4782312" cy="1892808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DAE6DD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22960" y="2386584"/>
            <a:ext cx="329184" cy="32918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280160" y="2377440"/>
            <a:ext cx="39227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C342E"/>
                </a:solidFill>
                <a:latin typeface="KIMM_Bold" pitchFamily="34" charset="0"/>
                <a:ea typeface="KIMM_Bold" pitchFamily="34" charset="-122"/>
                <a:cs typeface="KIMM_Bold" pitchFamily="34" charset="-120"/>
              </a:rPr>
              <a:t>Problem</a:t>
            </a:r>
            <a:endParaRPr lang="en-US" sz="1700" dirty="0"/>
          </a:p>
        </p:txBody>
      </p:sp>
      <p:sp>
        <p:nvSpPr>
          <p:cNvPr id="14" name="Text 10"/>
          <p:cNvSpPr/>
          <p:nvPr/>
        </p:nvSpPr>
        <p:spPr>
          <a:xfrm>
            <a:off x="841248" y="2788920"/>
            <a:ext cx="43434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647168"/>
                </a:solidFill>
                <a:latin typeface="A2Z" pitchFamily="34" charset="0"/>
                <a:ea typeface="A2Z" pitchFamily="34" charset="-122"/>
                <a:cs typeface="A2Z" pitchFamily="34" charset="-120"/>
              </a:rPr>
              <a:t>각 기기의 알람 설정과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647168"/>
                </a:solidFill>
                <a:latin typeface="A2Z" pitchFamily="34" charset="0"/>
                <a:ea typeface="A2Z" pitchFamily="34" charset="-122"/>
                <a:cs typeface="A2Z" pitchFamily="34" charset="-120"/>
              </a:rPr>
              <a:t>해제·스누즈 상태가 분리됨</a:t>
            </a:r>
            <a:endParaRPr lang="en-US" sz="1500" dirty="0"/>
          </a:p>
        </p:txBody>
      </p:sp>
      <p:sp>
        <p:nvSpPr>
          <p:cNvPr id="15" name="Shape 11"/>
          <p:cNvSpPr/>
          <p:nvPr/>
        </p:nvSpPr>
        <p:spPr>
          <a:xfrm>
            <a:off x="5742432" y="2194560"/>
            <a:ext cx="5833872" cy="1892808"/>
          </a:xfrm>
          <a:prstGeom prst="roundRect">
            <a:avLst>
              <a:gd name="adj" fmla="val 4348"/>
            </a:avLst>
          </a:prstGeom>
          <a:solidFill>
            <a:srgbClr val="386948"/>
          </a:solidFill>
          <a:ln w="12700">
            <a:solidFill>
              <a:srgbClr val="386948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943600" y="2386584"/>
            <a:ext cx="329184" cy="32918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400800" y="2377440"/>
            <a:ext cx="49743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KIMM_Bold" pitchFamily="34" charset="0"/>
                <a:ea typeface="KIMM_Bold" pitchFamily="34" charset="-122"/>
                <a:cs typeface="KIMM_Bold" pitchFamily="34" charset="-120"/>
              </a:rPr>
              <a:t>Solution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5961888" y="2788920"/>
            <a:ext cx="53949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2Z" pitchFamily="34" charset="0"/>
                <a:ea typeface="A2Z" pitchFamily="34" charset="-122"/>
                <a:cs typeface="A2Z" pitchFamily="34" charset="-120"/>
              </a:rPr>
              <a:t>Android 알람을 먼저 완성하고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2Z" pitchFamily="34" charset="0"/>
                <a:ea typeface="A2Z" pitchFamily="34" charset="-122"/>
                <a:cs typeface="A2Z" pitchFamily="34" charset="-120"/>
              </a:rPr>
              <a:t>Firebase로 변경 상태를 공유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640080" y="4526280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5" kern="0" dirty="0">
                <a:solidFill>
                  <a:srgbClr val="386948"/>
                </a:solidFill>
                <a:latin typeface="A2Z" pitchFamily="34" charset="0"/>
                <a:ea typeface="A2Z" pitchFamily="34" charset="-122"/>
                <a:cs typeface="A2Z" pitchFamily="34" charset="-120"/>
              </a:rPr>
              <a:t>IMPLEMENTATION SCOPE</a:t>
            </a:r>
            <a:endParaRPr lang="en-US" sz="850" dirty="0"/>
          </a:p>
        </p:txBody>
      </p:sp>
      <p:sp>
        <p:nvSpPr>
          <p:cNvPr id="20" name="Shape 15"/>
          <p:cNvSpPr/>
          <p:nvPr/>
        </p:nvSpPr>
        <p:spPr>
          <a:xfrm>
            <a:off x="621792" y="4919472"/>
            <a:ext cx="3236976" cy="621792"/>
          </a:xfrm>
          <a:prstGeom prst="roundRect">
            <a:avLst>
              <a:gd name="adj" fmla="val 8824"/>
            </a:avLst>
          </a:prstGeom>
          <a:solidFill>
            <a:srgbClr val="E7F7EB"/>
          </a:solidFill>
          <a:ln w="12700">
            <a:solidFill>
              <a:srgbClr val="B9EFC5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49808" y="5074920"/>
            <a:ext cx="265176" cy="26517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106424" y="5047488"/>
            <a:ext cx="26426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C342E"/>
                </a:solidFill>
                <a:latin typeface="A2Z" pitchFamily="34" charset="0"/>
                <a:ea typeface="A2Z" pitchFamily="34" charset="-122"/>
                <a:cs typeface="A2Z" pitchFamily="34" charset="-120"/>
              </a:rPr>
              <a:t>기본 구현</a:t>
            </a:r>
            <a:endParaRPr lang="en-US" sz="900" dirty="0"/>
          </a:p>
        </p:txBody>
      </p:sp>
      <p:sp>
        <p:nvSpPr>
          <p:cNvPr id="23" name="Text 17"/>
          <p:cNvSpPr/>
          <p:nvPr/>
        </p:nvSpPr>
        <p:spPr>
          <a:xfrm>
            <a:off x="1106424" y="5285232"/>
            <a:ext cx="264261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647168"/>
                </a:solidFill>
                <a:latin typeface="A2Z" pitchFamily="34" charset="0"/>
                <a:ea typeface="A2Z" pitchFamily="34" charset="-122"/>
                <a:cs typeface="A2Z" pitchFamily="34" charset="-120"/>
              </a:rPr>
              <a:t>Flutter Android 앱 / 로컬 알람</a:t>
            </a:r>
            <a:endParaRPr lang="en-US" sz="730" dirty="0"/>
          </a:p>
        </p:txBody>
      </p:sp>
      <p:sp>
        <p:nvSpPr>
          <p:cNvPr id="24" name="Shape 18"/>
          <p:cNvSpPr/>
          <p:nvPr/>
        </p:nvSpPr>
        <p:spPr>
          <a:xfrm>
            <a:off x="4050792" y="4919472"/>
            <a:ext cx="3236976" cy="621792"/>
          </a:xfrm>
          <a:prstGeom prst="roundRect">
            <a:avLst>
              <a:gd name="adj" fmla="val 8824"/>
            </a:avLst>
          </a:prstGeom>
          <a:solidFill>
            <a:srgbClr val="E7F7EB"/>
          </a:solidFill>
          <a:ln w="12700">
            <a:solidFill>
              <a:srgbClr val="B9EFC5"/>
            </a:solidFill>
            <a:prstDash val="solid"/>
          </a:ln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178808" y="5074920"/>
            <a:ext cx="265176" cy="265176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4535424" y="5047488"/>
            <a:ext cx="26426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C342E"/>
                </a:solidFill>
                <a:latin typeface="A2Z" pitchFamily="34" charset="0"/>
                <a:ea typeface="A2Z" pitchFamily="34" charset="-122"/>
                <a:cs typeface="A2Z" pitchFamily="34" charset="-120"/>
              </a:rPr>
              <a:t>동기화</a:t>
            </a:r>
            <a:endParaRPr lang="en-US" sz="900" dirty="0"/>
          </a:p>
        </p:txBody>
      </p:sp>
      <p:sp>
        <p:nvSpPr>
          <p:cNvPr id="27" name="Text 20"/>
          <p:cNvSpPr/>
          <p:nvPr/>
        </p:nvSpPr>
        <p:spPr>
          <a:xfrm>
            <a:off x="4535424" y="5285232"/>
            <a:ext cx="264261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647168"/>
                </a:solidFill>
                <a:latin typeface="A2Z" pitchFamily="34" charset="0"/>
                <a:ea typeface="A2Z" pitchFamily="34" charset="-122"/>
                <a:cs typeface="A2Z" pitchFamily="34" charset="-120"/>
              </a:rPr>
              <a:t>로그인 / 그룹 / Firebase</a:t>
            </a:r>
            <a:endParaRPr lang="en-US" sz="730" dirty="0"/>
          </a:p>
        </p:txBody>
      </p:sp>
      <p:sp>
        <p:nvSpPr>
          <p:cNvPr id="28" name="Shape 21"/>
          <p:cNvSpPr/>
          <p:nvPr/>
        </p:nvSpPr>
        <p:spPr>
          <a:xfrm>
            <a:off x="7479792" y="4919472"/>
            <a:ext cx="4096512" cy="621792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12700">
            <a:solidFill>
              <a:srgbClr val="DAE6DD"/>
            </a:solidFill>
            <a:prstDash val="solid"/>
          </a:ln>
        </p:spPr>
      </p:sp>
      <p:pic>
        <p:nvPicPr>
          <p:cNvPr id="29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607808" y="5074920"/>
            <a:ext cx="265176" cy="265176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7964424" y="5047488"/>
            <a:ext cx="35021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C342E"/>
                </a:solidFill>
                <a:latin typeface="A2Z" pitchFamily="34" charset="0"/>
                <a:ea typeface="A2Z" pitchFamily="34" charset="-122"/>
                <a:cs typeface="A2Z" pitchFamily="34" charset="-120"/>
              </a:rPr>
              <a:t>향후 확장</a:t>
            </a:r>
            <a:endParaRPr lang="en-US" sz="900" dirty="0"/>
          </a:p>
        </p:txBody>
      </p:sp>
      <p:sp>
        <p:nvSpPr>
          <p:cNvPr id="31" name="Text 23"/>
          <p:cNvSpPr/>
          <p:nvPr/>
        </p:nvSpPr>
        <p:spPr>
          <a:xfrm>
            <a:off x="7964424" y="5285232"/>
            <a:ext cx="350215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647168"/>
                </a:solidFill>
                <a:latin typeface="A2Z" pitchFamily="34" charset="0"/>
                <a:ea typeface="A2Z" pitchFamily="34" charset="-122"/>
                <a:cs typeface="A2Z" pitchFamily="34" charset="-120"/>
              </a:rPr>
              <a:t>Web / Linux / Windows</a:t>
            </a:r>
            <a:endParaRPr lang="en-US" sz="730" dirty="0"/>
          </a:p>
        </p:txBody>
      </p:sp>
      <p:sp>
        <p:nvSpPr>
          <p:cNvPr id="32" name="Shape 24"/>
          <p:cNvSpPr/>
          <p:nvPr/>
        </p:nvSpPr>
        <p:spPr>
          <a:xfrm>
            <a:off x="621792" y="5879592"/>
            <a:ext cx="1353312" cy="292608"/>
          </a:xfrm>
          <a:prstGeom prst="roundRect">
            <a:avLst>
              <a:gd name="adj" fmla="val 25000"/>
            </a:avLst>
          </a:prstGeom>
          <a:solidFill>
            <a:srgbClr val="E7F7EB"/>
          </a:solidFill>
          <a:ln w="12700">
            <a:solidFill>
              <a:srgbClr val="E7F7EB"/>
            </a:solidFill>
            <a:prstDash val="solid"/>
          </a:ln>
        </p:spPr>
      </p:sp>
      <p:sp>
        <p:nvSpPr>
          <p:cNvPr id="33" name="Text 25"/>
          <p:cNvSpPr/>
          <p:nvPr/>
        </p:nvSpPr>
        <p:spPr>
          <a:xfrm>
            <a:off x="731520" y="5939028"/>
            <a:ext cx="11338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86948"/>
                </a:solidFill>
                <a:latin typeface="A2Z" pitchFamily="34" charset="0"/>
                <a:ea typeface="A2Z" pitchFamily="34" charset="-122"/>
                <a:cs typeface="A2Z" pitchFamily="34" charset="-120"/>
              </a:rPr>
              <a:t>Flutter (Dart)</a:t>
            </a:r>
            <a:endParaRPr lang="en-US" sz="850" dirty="0"/>
          </a:p>
        </p:txBody>
      </p:sp>
      <p:sp>
        <p:nvSpPr>
          <p:cNvPr id="34" name="Shape 26"/>
          <p:cNvSpPr/>
          <p:nvPr/>
        </p:nvSpPr>
        <p:spPr>
          <a:xfrm>
            <a:off x="2103120" y="5879592"/>
            <a:ext cx="1042416" cy="292608"/>
          </a:xfrm>
          <a:prstGeom prst="roundRect">
            <a:avLst>
              <a:gd name="adj" fmla="val 25000"/>
            </a:avLst>
          </a:prstGeom>
          <a:solidFill>
            <a:srgbClr val="E7F7EB"/>
          </a:solidFill>
          <a:ln w="12700">
            <a:solidFill>
              <a:srgbClr val="E7F7EB"/>
            </a:solidFill>
            <a:prstDash val="solid"/>
          </a:ln>
        </p:spPr>
      </p:sp>
      <p:sp>
        <p:nvSpPr>
          <p:cNvPr id="35" name="Text 27"/>
          <p:cNvSpPr/>
          <p:nvPr/>
        </p:nvSpPr>
        <p:spPr>
          <a:xfrm>
            <a:off x="2212848" y="5939028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86948"/>
                </a:solidFill>
                <a:latin typeface="A2Z" pitchFamily="34" charset="0"/>
                <a:ea typeface="A2Z" pitchFamily="34" charset="-122"/>
                <a:cs typeface="A2Z" pitchFamily="34" charset="-120"/>
              </a:rPr>
              <a:t>Firebase</a:t>
            </a:r>
            <a:endParaRPr lang="en-US" sz="850" dirty="0"/>
          </a:p>
        </p:txBody>
      </p:sp>
      <p:sp>
        <p:nvSpPr>
          <p:cNvPr id="36" name="Shape 28"/>
          <p:cNvSpPr/>
          <p:nvPr/>
        </p:nvSpPr>
        <p:spPr>
          <a:xfrm>
            <a:off x="3273552" y="5879592"/>
            <a:ext cx="1490472" cy="292608"/>
          </a:xfrm>
          <a:prstGeom prst="roundRect">
            <a:avLst>
              <a:gd name="adj" fmla="val 25000"/>
            </a:avLst>
          </a:prstGeom>
          <a:solidFill>
            <a:srgbClr val="E7F7EB"/>
          </a:solidFill>
          <a:ln w="12700">
            <a:solidFill>
              <a:srgbClr val="E7F7EB"/>
            </a:solidFill>
            <a:prstDash val="solid"/>
          </a:ln>
        </p:spPr>
      </p:sp>
      <p:sp>
        <p:nvSpPr>
          <p:cNvPr id="37" name="Text 29"/>
          <p:cNvSpPr/>
          <p:nvPr/>
        </p:nvSpPr>
        <p:spPr>
          <a:xfrm>
            <a:off x="3383280" y="5939028"/>
            <a:ext cx="1271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86948"/>
                </a:solidFill>
                <a:latin typeface="A2Z" pitchFamily="34" charset="0"/>
                <a:ea typeface="A2Z" pitchFamily="34" charset="-122"/>
                <a:cs typeface="A2Z" pitchFamily="34" charset="-120"/>
              </a:rPr>
              <a:t>Kotlin / Android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A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720840" y="0"/>
            <a:ext cx="547085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7827264" cy="6858000"/>
          </a:xfrm>
          <a:prstGeom prst="rect">
            <a:avLst/>
          </a:prstGeom>
          <a:solidFill>
            <a:srgbClr val="F7FAF4"/>
          </a:solidFill>
          <a:ln w="12700">
            <a:solidFill>
              <a:srgbClr val="F7FAF4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603504" y="384048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386948"/>
                </a:solidFill>
                <a:latin typeface="A2Z" pitchFamily="34" charset="0"/>
                <a:ea typeface="A2Z" pitchFamily="34" charset="-122"/>
                <a:cs typeface="A2Z" pitchFamily="34" charset="-120"/>
              </a:rPr>
              <a:t>LET'S ALARM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9235440" y="384048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47168"/>
                </a:solidFill>
                <a:latin typeface="A2Z" pitchFamily="34" charset="0"/>
                <a:ea typeface="A2Z" pitchFamily="34" charset="-122"/>
                <a:cs typeface="A2Z" pitchFamily="34" charset="-120"/>
              </a:rPr>
              <a:t>평가 (3) 주요 기능 설명</a:t>
            </a:r>
            <a:endParaRPr lang="en-US" sz="800" dirty="0"/>
          </a:p>
        </p:txBody>
      </p:sp>
      <p:sp>
        <p:nvSpPr>
          <p:cNvPr id="6" name="Shape 3"/>
          <p:cNvSpPr/>
          <p:nvPr/>
        </p:nvSpPr>
        <p:spPr>
          <a:xfrm>
            <a:off x="603504" y="704088"/>
            <a:ext cx="10981944" cy="0"/>
          </a:xfrm>
          <a:prstGeom prst="line">
            <a:avLst/>
          </a:prstGeom>
          <a:noFill/>
          <a:ln w="12700">
            <a:solidFill>
              <a:srgbClr val="DAE6DD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03504" y="6419088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15" kern="0" dirty="0">
                <a:solidFill>
                  <a:srgbClr val="647168"/>
                </a:solidFill>
                <a:latin typeface="A2Z" pitchFamily="34" charset="0"/>
                <a:ea typeface="A2Z" pitchFamily="34" charset="-122"/>
                <a:cs typeface="A2Z" pitchFamily="34" charset="-120"/>
              </a:rPr>
              <a:t>UI/UX PROGRAMMING   /   TEAM 06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11155680" y="6419088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86948"/>
                </a:solidFill>
                <a:latin typeface="A2Z" pitchFamily="34" charset="0"/>
                <a:ea typeface="A2Z" pitchFamily="34" charset="-122"/>
                <a:cs typeface="A2Z" pitchFamily="34" charset="-120"/>
              </a:rPr>
              <a:t>03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594360" y="969264"/>
            <a:ext cx="8869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C342E"/>
                </a:solidFill>
                <a:latin typeface="KIMM_Bold" pitchFamily="34" charset="0"/>
                <a:ea typeface="KIMM_Bold" pitchFamily="34" charset="-122"/>
                <a:cs typeface="KIMM_Bold" pitchFamily="34" charset="-120"/>
              </a:rPr>
              <a:t>주요 UI 기능 I. 알람 관리</a:t>
            </a:r>
            <a:endParaRPr lang="en-US" sz="2700" dirty="0"/>
          </a:p>
        </p:txBody>
      </p:sp>
      <p:sp>
        <p:nvSpPr>
          <p:cNvPr id="10" name="Text 7"/>
          <p:cNvSpPr/>
          <p:nvPr/>
        </p:nvSpPr>
        <p:spPr>
          <a:xfrm>
            <a:off x="612648" y="1545336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86948"/>
                </a:solidFill>
                <a:latin typeface="A2Z" pitchFamily="34" charset="0"/>
                <a:ea typeface="A2Z" pitchFamily="34" charset="-122"/>
                <a:cs typeface="A2Z" pitchFamily="34" charset="-120"/>
              </a:rPr>
              <a:t>목록에서 상태를 확인하고, 편집 화면에서 알람 조건을 구체적으로 설정합니다.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621792" y="2130552"/>
            <a:ext cx="3236976" cy="3584448"/>
          </a:xfrm>
          <a:prstGeom prst="roundRect">
            <a:avLst>
              <a:gd name="adj" fmla="val 2825"/>
            </a:avLst>
          </a:prstGeom>
          <a:solidFill>
            <a:srgbClr val="FFFFFF"/>
          </a:solidFill>
          <a:ln w="12700">
            <a:solidFill>
              <a:srgbClr val="DAE6DD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768096" y="2295144"/>
            <a:ext cx="2944368" cy="2935224"/>
          </a:xfrm>
          <a:prstGeom prst="roundRect">
            <a:avLst>
              <a:gd name="adj" fmla="val 1869"/>
            </a:avLst>
          </a:prstGeom>
          <a:solidFill>
            <a:srgbClr val="EEF5F0"/>
          </a:solidFill>
          <a:ln w="12700">
            <a:solidFill>
              <a:srgbClr val="EEF5F0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1005840" y="2578608"/>
            <a:ext cx="2468880" cy="2386584"/>
          </a:xfrm>
          <a:prstGeom prst="line">
            <a:avLst/>
          </a:prstGeom>
          <a:noFill/>
          <a:ln w="12700">
            <a:solidFill>
              <a:srgbClr val="B9EFC5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474720" y="2578608"/>
            <a:ext cx="-2468880" cy="2386584"/>
          </a:xfrm>
          <a:prstGeom prst="line">
            <a:avLst/>
          </a:prstGeom>
          <a:noFill/>
          <a:ln w="12700">
            <a:solidFill>
              <a:srgbClr val="B9EFC5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96112" y="3730752"/>
            <a:ext cx="2688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86948"/>
                </a:solidFill>
                <a:latin typeface="A2Z" pitchFamily="34" charset="0"/>
                <a:ea typeface="A2Z" pitchFamily="34" charset="-122"/>
                <a:cs typeface="A2Z" pitchFamily="34" charset="-120"/>
              </a:rPr>
              <a:t>실제 앱 화면 캡처 삽입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795528" y="5349240"/>
            <a:ext cx="1747967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b="1" dirty="0">
                <a:solidFill>
                  <a:srgbClr val="2C342E"/>
                </a:solidFill>
                <a:latin typeface="A2Z" pitchFamily="34" charset="0"/>
                <a:ea typeface="A2Z" pitchFamily="34" charset="-122"/>
                <a:cs typeface="A2Z" pitchFamily="34" charset="-120"/>
              </a:rPr>
              <a:t>AlarmHomeScreen</a:t>
            </a:r>
            <a:endParaRPr lang="en-US" sz="860" dirty="0"/>
          </a:p>
        </p:txBody>
      </p:sp>
      <p:sp>
        <p:nvSpPr>
          <p:cNvPr id="17" name="Text 14"/>
          <p:cNvSpPr/>
          <p:nvPr/>
        </p:nvSpPr>
        <p:spPr>
          <a:xfrm>
            <a:off x="2337389" y="5349240"/>
            <a:ext cx="1262421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dirty="0">
                <a:solidFill>
                  <a:srgbClr val="647168"/>
                </a:solidFill>
                <a:latin typeface="A2Z" pitchFamily="34" charset="0"/>
                <a:ea typeface="A2Z" pitchFamily="34" charset="-122"/>
                <a:cs typeface="A2Z" pitchFamily="34" charset="-120"/>
              </a:rPr>
              <a:t>홈 화면</a:t>
            </a:r>
            <a:endParaRPr lang="en-US" sz="760" dirty="0"/>
          </a:p>
        </p:txBody>
      </p:sp>
      <p:sp>
        <p:nvSpPr>
          <p:cNvPr id="18" name="Shape 15"/>
          <p:cNvSpPr/>
          <p:nvPr/>
        </p:nvSpPr>
        <p:spPr>
          <a:xfrm>
            <a:off x="4114800" y="2130552"/>
            <a:ext cx="3236976" cy="3584448"/>
          </a:xfrm>
          <a:prstGeom prst="roundRect">
            <a:avLst>
              <a:gd name="adj" fmla="val 2825"/>
            </a:avLst>
          </a:prstGeom>
          <a:solidFill>
            <a:srgbClr val="FFFFFF"/>
          </a:solidFill>
          <a:ln w="12700">
            <a:solidFill>
              <a:srgbClr val="DAE6DD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4261104" y="2295144"/>
            <a:ext cx="2944368" cy="2935224"/>
          </a:xfrm>
          <a:prstGeom prst="roundRect">
            <a:avLst>
              <a:gd name="adj" fmla="val 1869"/>
            </a:avLst>
          </a:prstGeom>
          <a:solidFill>
            <a:srgbClr val="EEF5F0"/>
          </a:solidFill>
          <a:ln w="12700">
            <a:solidFill>
              <a:srgbClr val="EEF5F0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4498848" y="2578608"/>
            <a:ext cx="2468880" cy="2386584"/>
          </a:xfrm>
          <a:prstGeom prst="line">
            <a:avLst/>
          </a:prstGeom>
          <a:noFill/>
          <a:ln w="12700">
            <a:solidFill>
              <a:srgbClr val="B9EFC5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967728" y="2578608"/>
            <a:ext cx="-2468880" cy="2386584"/>
          </a:xfrm>
          <a:prstGeom prst="line">
            <a:avLst/>
          </a:prstGeom>
          <a:noFill/>
          <a:ln w="12700">
            <a:solidFill>
              <a:srgbClr val="B9EFC5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389120" y="3730752"/>
            <a:ext cx="2688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86948"/>
                </a:solidFill>
                <a:latin typeface="A2Z" pitchFamily="34" charset="0"/>
                <a:ea typeface="A2Z" pitchFamily="34" charset="-122"/>
                <a:cs typeface="A2Z" pitchFamily="34" charset="-120"/>
              </a:rPr>
              <a:t>실제 앱 화면 캡처 삽입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4288536" y="5349240"/>
            <a:ext cx="1747967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b="1" dirty="0">
                <a:solidFill>
                  <a:srgbClr val="2C342E"/>
                </a:solidFill>
                <a:latin typeface="A2Z" pitchFamily="34" charset="0"/>
                <a:ea typeface="A2Z" pitchFamily="34" charset="-122"/>
                <a:cs typeface="A2Z" pitchFamily="34" charset="-120"/>
              </a:rPr>
              <a:t>AlarmEditorSheet</a:t>
            </a:r>
            <a:endParaRPr lang="en-US" sz="860" dirty="0"/>
          </a:p>
        </p:txBody>
      </p:sp>
      <p:sp>
        <p:nvSpPr>
          <p:cNvPr id="24" name="Text 21"/>
          <p:cNvSpPr/>
          <p:nvPr/>
        </p:nvSpPr>
        <p:spPr>
          <a:xfrm>
            <a:off x="5830397" y="5349240"/>
            <a:ext cx="1262421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dirty="0">
                <a:solidFill>
                  <a:srgbClr val="647168"/>
                </a:solidFill>
                <a:latin typeface="A2Z" pitchFamily="34" charset="0"/>
                <a:ea typeface="A2Z" pitchFamily="34" charset="-122"/>
                <a:cs typeface="A2Z" pitchFamily="34" charset="-120"/>
              </a:rPr>
              <a:t>편집 화면</a:t>
            </a:r>
            <a:endParaRPr lang="en-US" sz="760" dirty="0"/>
          </a:p>
        </p:txBody>
      </p:sp>
      <p:sp>
        <p:nvSpPr>
          <p:cNvPr id="25" name="Text 22"/>
          <p:cNvSpPr/>
          <p:nvPr/>
        </p:nvSpPr>
        <p:spPr>
          <a:xfrm>
            <a:off x="7735824" y="2139696"/>
            <a:ext cx="15544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5" kern="0" dirty="0">
                <a:solidFill>
                  <a:srgbClr val="386948"/>
                </a:solidFill>
                <a:latin typeface="A2Z" pitchFamily="34" charset="0"/>
                <a:ea typeface="A2Z" pitchFamily="34" charset="-122"/>
                <a:cs typeface="A2Z" pitchFamily="34" charset="-120"/>
              </a:rPr>
              <a:t>USER ACTION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7708392" y="2496312"/>
            <a:ext cx="3867912" cy="621792"/>
          </a:xfrm>
          <a:prstGeom prst="roundRect">
            <a:avLst>
              <a:gd name="adj" fmla="val 8824"/>
            </a:avLst>
          </a:prstGeom>
          <a:solidFill>
            <a:srgbClr val="E7F7EB"/>
          </a:solidFill>
          <a:ln w="12700">
            <a:solidFill>
              <a:srgbClr val="B9EFC5"/>
            </a:solidFill>
            <a:prstDash val="solid"/>
          </a:ln>
        </p:spPr>
      </p:sp>
      <p:pic>
        <p:nvPicPr>
          <p:cNvPr id="2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836408" y="2651760"/>
            <a:ext cx="265176" cy="265176"/>
          </a:xfrm>
          <a:prstGeom prst="rect">
            <a:avLst/>
          </a:prstGeom>
        </p:spPr>
      </p:pic>
      <p:sp>
        <p:nvSpPr>
          <p:cNvPr id="28" name="Text 24"/>
          <p:cNvSpPr/>
          <p:nvPr/>
        </p:nvSpPr>
        <p:spPr>
          <a:xfrm>
            <a:off x="8193024" y="2624328"/>
            <a:ext cx="32735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C342E"/>
                </a:solidFill>
                <a:latin typeface="A2Z" pitchFamily="34" charset="0"/>
                <a:ea typeface="A2Z" pitchFamily="34" charset="-122"/>
                <a:cs typeface="A2Z" pitchFamily="34" charset="-120"/>
              </a:rPr>
              <a:t>알람 목록 확인</a:t>
            </a:r>
            <a:endParaRPr lang="en-US" sz="900" dirty="0"/>
          </a:p>
        </p:txBody>
      </p:sp>
      <p:sp>
        <p:nvSpPr>
          <p:cNvPr id="29" name="Text 25"/>
          <p:cNvSpPr/>
          <p:nvPr/>
        </p:nvSpPr>
        <p:spPr>
          <a:xfrm>
            <a:off x="8193024" y="2862072"/>
            <a:ext cx="327355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647168"/>
                </a:solidFill>
                <a:latin typeface="A2Z" pitchFamily="34" charset="0"/>
                <a:ea typeface="A2Z" pitchFamily="34" charset="-122"/>
                <a:cs typeface="A2Z" pitchFamily="34" charset="-120"/>
              </a:rPr>
              <a:t>시간 / 상태 / 그룹 표시</a:t>
            </a:r>
            <a:endParaRPr lang="en-US" sz="730" dirty="0"/>
          </a:p>
        </p:txBody>
      </p:sp>
      <p:sp>
        <p:nvSpPr>
          <p:cNvPr id="30" name="Shape 26"/>
          <p:cNvSpPr/>
          <p:nvPr/>
        </p:nvSpPr>
        <p:spPr>
          <a:xfrm>
            <a:off x="7708392" y="3282696"/>
            <a:ext cx="3867912" cy="621792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12700">
            <a:solidFill>
              <a:srgbClr val="DAE6DD"/>
            </a:solidFill>
            <a:prstDash val="solid"/>
          </a:ln>
        </p:spPr>
      </p:sp>
      <p:pic>
        <p:nvPicPr>
          <p:cNvPr id="31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836408" y="3438144"/>
            <a:ext cx="265176" cy="265176"/>
          </a:xfrm>
          <a:prstGeom prst="rect">
            <a:avLst/>
          </a:prstGeom>
        </p:spPr>
      </p:pic>
      <p:sp>
        <p:nvSpPr>
          <p:cNvPr id="32" name="Text 27"/>
          <p:cNvSpPr/>
          <p:nvPr/>
        </p:nvSpPr>
        <p:spPr>
          <a:xfrm>
            <a:off x="8193024" y="3410712"/>
            <a:ext cx="32735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C342E"/>
                </a:solidFill>
                <a:latin typeface="A2Z" pitchFamily="34" charset="0"/>
                <a:ea typeface="A2Z" pitchFamily="34" charset="-122"/>
                <a:cs typeface="A2Z" pitchFamily="34" charset="-120"/>
              </a:rPr>
              <a:t>활성화 토글</a:t>
            </a:r>
            <a:endParaRPr lang="en-US" sz="900" dirty="0"/>
          </a:p>
        </p:txBody>
      </p:sp>
      <p:sp>
        <p:nvSpPr>
          <p:cNvPr id="33" name="Text 28"/>
          <p:cNvSpPr/>
          <p:nvPr/>
        </p:nvSpPr>
        <p:spPr>
          <a:xfrm>
            <a:off x="8193024" y="3648456"/>
            <a:ext cx="327355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647168"/>
                </a:solidFill>
                <a:latin typeface="A2Z" pitchFamily="34" charset="0"/>
                <a:ea typeface="A2Z" pitchFamily="34" charset="-122"/>
                <a:cs typeface="A2Z" pitchFamily="34" charset="-120"/>
              </a:rPr>
              <a:t>예약 켜기 또는 끄기</a:t>
            </a:r>
            <a:endParaRPr lang="en-US" sz="730" dirty="0"/>
          </a:p>
        </p:txBody>
      </p:sp>
      <p:sp>
        <p:nvSpPr>
          <p:cNvPr id="34" name="Shape 29"/>
          <p:cNvSpPr/>
          <p:nvPr/>
        </p:nvSpPr>
        <p:spPr>
          <a:xfrm>
            <a:off x="7708392" y="4069080"/>
            <a:ext cx="3867912" cy="621792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12700">
            <a:solidFill>
              <a:srgbClr val="DAE6DD"/>
            </a:solidFill>
            <a:prstDash val="solid"/>
          </a:ln>
        </p:spPr>
      </p:sp>
      <p:pic>
        <p:nvPicPr>
          <p:cNvPr id="35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836408" y="4224528"/>
            <a:ext cx="265176" cy="265176"/>
          </a:xfrm>
          <a:prstGeom prst="rect">
            <a:avLst/>
          </a:prstGeom>
        </p:spPr>
      </p:pic>
      <p:sp>
        <p:nvSpPr>
          <p:cNvPr id="36" name="Text 30"/>
          <p:cNvSpPr/>
          <p:nvPr/>
        </p:nvSpPr>
        <p:spPr>
          <a:xfrm>
            <a:off x="8193024" y="4197096"/>
            <a:ext cx="32735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C342E"/>
                </a:solidFill>
                <a:latin typeface="A2Z" pitchFamily="34" charset="0"/>
                <a:ea typeface="A2Z" pitchFamily="34" charset="-122"/>
                <a:cs typeface="A2Z" pitchFamily="34" charset="-120"/>
              </a:rPr>
              <a:t>요일 반복 설정</a:t>
            </a:r>
            <a:endParaRPr lang="en-US" sz="900" dirty="0"/>
          </a:p>
        </p:txBody>
      </p:sp>
      <p:sp>
        <p:nvSpPr>
          <p:cNvPr id="37" name="Text 31"/>
          <p:cNvSpPr/>
          <p:nvPr/>
        </p:nvSpPr>
        <p:spPr>
          <a:xfrm>
            <a:off x="8193024" y="4434840"/>
            <a:ext cx="327355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647168"/>
                </a:solidFill>
                <a:latin typeface="A2Z" pitchFamily="34" charset="0"/>
                <a:ea typeface="A2Z" pitchFamily="34" charset="-122"/>
                <a:cs typeface="A2Z" pitchFamily="34" charset="-120"/>
              </a:rPr>
              <a:t>월 - 일 반복 선택</a:t>
            </a:r>
            <a:endParaRPr lang="en-US" sz="730" dirty="0"/>
          </a:p>
        </p:txBody>
      </p:sp>
      <p:sp>
        <p:nvSpPr>
          <p:cNvPr id="38" name="Shape 32"/>
          <p:cNvSpPr/>
          <p:nvPr/>
        </p:nvSpPr>
        <p:spPr>
          <a:xfrm>
            <a:off x="7708392" y="4855464"/>
            <a:ext cx="3867912" cy="621792"/>
          </a:xfrm>
          <a:prstGeom prst="roundRect">
            <a:avLst>
              <a:gd name="adj" fmla="val 8824"/>
            </a:avLst>
          </a:prstGeom>
          <a:solidFill>
            <a:srgbClr val="E7F7EB"/>
          </a:solidFill>
          <a:ln w="12700">
            <a:solidFill>
              <a:srgbClr val="B9EFC5"/>
            </a:solidFill>
            <a:prstDash val="solid"/>
          </a:ln>
        </p:spPr>
      </p:sp>
      <p:pic>
        <p:nvPicPr>
          <p:cNvPr id="39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836408" y="5010912"/>
            <a:ext cx="265176" cy="265176"/>
          </a:xfrm>
          <a:prstGeom prst="rect">
            <a:avLst/>
          </a:prstGeom>
        </p:spPr>
      </p:pic>
      <p:sp>
        <p:nvSpPr>
          <p:cNvPr id="40" name="Text 33"/>
          <p:cNvSpPr/>
          <p:nvPr/>
        </p:nvSpPr>
        <p:spPr>
          <a:xfrm>
            <a:off x="8193024" y="4983480"/>
            <a:ext cx="32735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C342E"/>
                </a:solidFill>
                <a:latin typeface="A2Z" pitchFamily="34" charset="0"/>
                <a:ea typeface="A2Z" pitchFamily="34" charset="-122"/>
                <a:cs typeface="A2Z" pitchFamily="34" charset="-120"/>
              </a:rPr>
              <a:t>소리 · 진동 · 다시 알림</a:t>
            </a:r>
            <a:endParaRPr lang="en-US" sz="900" dirty="0"/>
          </a:p>
        </p:txBody>
      </p:sp>
      <p:sp>
        <p:nvSpPr>
          <p:cNvPr id="41" name="Text 34"/>
          <p:cNvSpPr/>
          <p:nvPr/>
        </p:nvSpPr>
        <p:spPr>
          <a:xfrm>
            <a:off x="8193024" y="5221224"/>
            <a:ext cx="327355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647168"/>
                </a:solidFill>
                <a:latin typeface="A2Z" pitchFamily="34" charset="0"/>
                <a:ea typeface="A2Z" pitchFamily="34" charset="-122"/>
                <a:cs typeface="A2Z" pitchFamily="34" charset="-120"/>
              </a:rPr>
              <a:t>스누즈 간격 / 횟수</a:t>
            </a:r>
            <a:endParaRPr lang="en-US" sz="73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A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720840" y="0"/>
            <a:ext cx="547085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7827264" cy="6858000"/>
          </a:xfrm>
          <a:prstGeom prst="rect">
            <a:avLst/>
          </a:prstGeom>
          <a:solidFill>
            <a:srgbClr val="F7FAF4"/>
          </a:solidFill>
          <a:ln w="12700">
            <a:solidFill>
              <a:srgbClr val="F7FAF4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603504" y="384048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386948"/>
                </a:solidFill>
                <a:latin typeface="A2Z" pitchFamily="34" charset="0"/>
                <a:ea typeface="A2Z" pitchFamily="34" charset="-122"/>
                <a:cs typeface="A2Z" pitchFamily="34" charset="-120"/>
              </a:rPr>
              <a:t>LET'S ALARM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9235440" y="384048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47168"/>
                </a:solidFill>
                <a:latin typeface="A2Z" pitchFamily="34" charset="0"/>
                <a:ea typeface="A2Z" pitchFamily="34" charset="-122"/>
                <a:cs typeface="A2Z" pitchFamily="34" charset="-120"/>
              </a:rPr>
              <a:t>평가 (3) 주요 기능 설명</a:t>
            </a:r>
            <a:endParaRPr lang="en-US" sz="800" dirty="0"/>
          </a:p>
        </p:txBody>
      </p:sp>
      <p:sp>
        <p:nvSpPr>
          <p:cNvPr id="6" name="Shape 3"/>
          <p:cNvSpPr/>
          <p:nvPr/>
        </p:nvSpPr>
        <p:spPr>
          <a:xfrm>
            <a:off x="603504" y="704088"/>
            <a:ext cx="10981944" cy="0"/>
          </a:xfrm>
          <a:prstGeom prst="line">
            <a:avLst/>
          </a:prstGeom>
          <a:noFill/>
          <a:ln w="12700">
            <a:solidFill>
              <a:srgbClr val="DAE6DD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03504" y="6419088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15" kern="0" dirty="0">
                <a:solidFill>
                  <a:srgbClr val="647168"/>
                </a:solidFill>
                <a:latin typeface="A2Z" pitchFamily="34" charset="0"/>
                <a:ea typeface="A2Z" pitchFamily="34" charset="-122"/>
                <a:cs typeface="A2Z" pitchFamily="34" charset="-120"/>
              </a:rPr>
              <a:t>UI/UX PROGRAMMING   /   TEAM 06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11155680" y="6419088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86948"/>
                </a:solidFill>
                <a:latin typeface="A2Z" pitchFamily="34" charset="0"/>
                <a:ea typeface="A2Z" pitchFamily="34" charset="-122"/>
                <a:cs typeface="A2Z" pitchFamily="34" charset="-120"/>
              </a:rPr>
              <a:t>04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594360" y="969264"/>
            <a:ext cx="8869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C342E"/>
                </a:solidFill>
                <a:latin typeface="KIMM_Bold" pitchFamily="34" charset="0"/>
                <a:ea typeface="KIMM_Bold" pitchFamily="34" charset="-122"/>
                <a:cs typeface="KIMM_Bold" pitchFamily="34" charset="-120"/>
              </a:rPr>
              <a:t>주요 UI 기능 II. 울림과 계정 동기화</a:t>
            </a:r>
            <a:endParaRPr lang="en-US" sz="2700" dirty="0"/>
          </a:p>
        </p:txBody>
      </p:sp>
      <p:sp>
        <p:nvSpPr>
          <p:cNvPr id="10" name="Text 7"/>
          <p:cNvSpPr/>
          <p:nvPr/>
        </p:nvSpPr>
        <p:spPr>
          <a:xfrm>
            <a:off x="612648" y="1545336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86948"/>
                </a:solidFill>
                <a:latin typeface="A2Z" pitchFamily="34" charset="0"/>
                <a:ea typeface="A2Z" pitchFamily="34" charset="-122"/>
                <a:cs typeface="A2Z" pitchFamily="34" charset="-120"/>
              </a:rPr>
              <a:t>로컬 알람은 바로 사용할 수 있고, 로그인 후에는 그룹 단위 공유 상태를 동기화합니다.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621792" y="2130552"/>
            <a:ext cx="3127248" cy="3483864"/>
          </a:xfrm>
          <a:prstGeom prst="roundRect">
            <a:avLst>
              <a:gd name="adj" fmla="val 2924"/>
            </a:avLst>
          </a:prstGeom>
          <a:solidFill>
            <a:srgbClr val="FFFFFF"/>
          </a:solidFill>
          <a:ln w="12700">
            <a:solidFill>
              <a:srgbClr val="DAE6DD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768096" y="2295144"/>
            <a:ext cx="2834640" cy="2834640"/>
          </a:xfrm>
          <a:prstGeom prst="roundRect">
            <a:avLst>
              <a:gd name="adj" fmla="val 1935"/>
            </a:avLst>
          </a:prstGeom>
          <a:solidFill>
            <a:srgbClr val="EEF5F0"/>
          </a:solidFill>
          <a:ln w="12700">
            <a:solidFill>
              <a:srgbClr val="EEF5F0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1005840" y="2578608"/>
            <a:ext cx="2359152" cy="2286000"/>
          </a:xfrm>
          <a:prstGeom prst="line">
            <a:avLst/>
          </a:prstGeom>
          <a:noFill/>
          <a:ln w="12700">
            <a:solidFill>
              <a:srgbClr val="B9EFC5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364992" y="2578608"/>
            <a:ext cx="-2359152" cy="2286000"/>
          </a:xfrm>
          <a:prstGeom prst="line">
            <a:avLst/>
          </a:prstGeom>
          <a:noFill/>
          <a:ln w="12700">
            <a:solidFill>
              <a:srgbClr val="B9EFC5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96112" y="3680460"/>
            <a:ext cx="2578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86948"/>
                </a:solidFill>
                <a:latin typeface="A2Z" pitchFamily="34" charset="0"/>
                <a:ea typeface="A2Z" pitchFamily="34" charset="-122"/>
                <a:cs typeface="A2Z" pitchFamily="34" charset="-120"/>
              </a:rPr>
              <a:t>실제 앱 화면 캡처 삽입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795528" y="5248656"/>
            <a:ext cx="168871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b="1" dirty="0">
                <a:solidFill>
                  <a:srgbClr val="2C342E"/>
                </a:solidFill>
                <a:latin typeface="A2Z" pitchFamily="34" charset="0"/>
                <a:ea typeface="A2Z" pitchFamily="34" charset="-122"/>
                <a:cs typeface="A2Z" pitchFamily="34" charset="-120"/>
              </a:rPr>
              <a:t>AlarmRingScreen</a:t>
            </a:r>
            <a:endParaRPr lang="en-US" sz="860" dirty="0"/>
          </a:p>
        </p:txBody>
      </p:sp>
      <p:sp>
        <p:nvSpPr>
          <p:cNvPr id="17" name="Text 14"/>
          <p:cNvSpPr/>
          <p:nvPr/>
        </p:nvSpPr>
        <p:spPr>
          <a:xfrm>
            <a:off x="2279233" y="5248656"/>
            <a:ext cx="1219627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dirty="0">
                <a:solidFill>
                  <a:srgbClr val="647168"/>
                </a:solidFill>
                <a:latin typeface="A2Z" pitchFamily="34" charset="0"/>
                <a:ea typeface="A2Z" pitchFamily="34" charset="-122"/>
                <a:cs typeface="A2Z" pitchFamily="34" charset="-120"/>
              </a:rPr>
              <a:t>울림 화면</a:t>
            </a:r>
            <a:endParaRPr lang="en-US" sz="760" dirty="0"/>
          </a:p>
        </p:txBody>
      </p:sp>
      <p:sp>
        <p:nvSpPr>
          <p:cNvPr id="18" name="Shape 15"/>
          <p:cNvSpPr/>
          <p:nvPr/>
        </p:nvSpPr>
        <p:spPr>
          <a:xfrm>
            <a:off x="3977640" y="2130552"/>
            <a:ext cx="3127248" cy="3483864"/>
          </a:xfrm>
          <a:prstGeom prst="roundRect">
            <a:avLst>
              <a:gd name="adj" fmla="val 2924"/>
            </a:avLst>
          </a:prstGeom>
          <a:solidFill>
            <a:srgbClr val="FFFFFF"/>
          </a:solidFill>
          <a:ln w="12700">
            <a:solidFill>
              <a:srgbClr val="DAE6DD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4123944" y="2295144"/>
            <a:ext cx="2834640" cy="2834640"/>
          </a:xfrm>
          <a:prstGeom prst="roundRect">
            <a:avLst>
              <a:gd name="adj" fmla="val 1935"/>
            </a:avLst>
          </a:prstGeom>
          <a:solidFill>
            <a:srgbClr val="EEF5F0"/>
          </a:solidFill>
          <a:ln w="12700">
            <a:solidFill>
              <a:srgbClr val="EEF5F0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4361688" y="2578608"/>
            <a:ext cx="2359152" cy="2286000"/>
          </a:xfrm>
          <a:prstGeom prst="line">
            <a:avLst/>
          </a:prstGeom>
          <a:noFill/>
          <a:ln w="12700">
            <a:solidFill>
              <a:srgbClr val="B9EFC5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720840" y="2578608"/>
            <a:ext cx="-2359152" cy="2286000"/>
          </a:xfrm>
          <a:prstGeom prst="line">
            <a:avLst/>
          </a:prstGeom>
          <a:noFill/>
          <a:ln w="12700">
            <a:solidFill>
              <a:srgbClr val="B9EFC5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251960" y="3680460"/>
            <a:ext cx="2578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86948"/>
                </a:solidFill>
                <a:latin typeface="A2Z" pitchFamily="34" charset="0"/>
                <a:ea typeface="A2Z" pitchFamily="34" charset="-122"/>
                <a:cs typeface="A2Z" pitchFamily="34" charset="-120"/>
              </a:rPr>
              <a:t>실제 앱 화면 캡처 삽입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4151376" y="5248656"/>
            <a:ext cx="168871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b="1" dirty="0">
                <a:solidFill>
                  <a:srgbClr val="2C342E"/>
                </a:solidFill>
                <a:latin typeface="A2Z" pitchFamily="34" charset="0"/>
                <a:ea typeface="A2Z" pitchFamily="34" charset="-122"/>
                <a:cs typeface="A2Z" pitchFamily="34" charset="-120"/>
              </a:rPr>
              <a:t>Auth / Group Screen</a:t>
            </a:r>
            <a:endParaRPr lang="en-US" sz="860" dirty="0"/>
          </a:p>
        </p:txBody>
      </p:sp>
      <p:sp>
        <p:nvSpPr>
          <p:cNvPr id="24" name="Text 21"/>
          <p:cNvSpPr/>
          <p:nvPr/>
        </p:nvSpPr>
        <p:spPr>
          <a:xfrm>
            <a:off x="5635081" y="5248656"/>
            <a:ext cx="1219627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dirty="0">
                <a:solidFill>
                  <a:srgbClr val="647168"/>
                </a:solidFill>
                <a:latin typeface="A2Z" pitchFamily="34" charset="0"/>
                <a:ea typeface="A2Z" pitchFamily="34" charset="-122"/>
                <a:cs typeface="A2Z" pitchFamily="34" charset="-120"/>
              </a:rPr>
              <a:t>계정 관리</a:t>
            </a:r>
            <a:endParaRPr lang="en-US" sz="760" dirty="0"/>
          </a:p>
        </p:txBody>
      </p:sp>
      <p:sp>
        <p:nvSpPr>
          <p:cNvPr id="25" name="Shape 22"/>
          <p:cNvSpPr/>
          <p:nvPr/>
        </p:nvSpPr>
        <p:spPr>
          <a:xfrm>
            <a:off x="7434072" y="2130552"/>
            <a:ext cx="4142232" cy="1517904"/>
          </a:xfrm>
          <a:prstGeom prst="roundRect">
            <a:avLst>
              <a:gd name="adj" fmla="val 5422"/>
            </a:avLst>
          </a:prstGeom>
          <a:solidFill>
            <a:srgbClr val="FFFFFF"/>
          </a:solidFill>
          <a:ln w="12700">
            <a:solidFill>
              <a:srgbClr val="DAE6DD"/>
            </a:solidFill>
            <a:prstDash val="solid"/>
          </a:ln>
        </p:spPr>
      </p:sp>
      <p:pic>
        <p:nvPicPr>
          <p:cNvPr id="2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635240" y="2322576"/>
            <a:ext cx="329184" cy="329184"/>
          </a:xfrm>
          <a:prstGeom prst="rect">
            <a:avLst/>
          </a:prstGeom>
        </p:spPr>
      </p:pic>
      <p:sp>
        <p:nvSpPr>
          <p:cNvPr id="27" name="Text 23"/>
          <p:cNvSpPr/>
          <p:nvPr/>
        </p:nvSpPr>
        <p:spPr>
          <a:xfrm>
            <a:off x="8092440" y="2313432"/>
            <a:ext cx="32826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342E"/>
                </a:solidFill>
                <a:latin typeface="KIMM_Bold" pitchFamily="34" charset="0"/>
                <a:ea typeface="KIMM_Bold" pitchFamily="34" charset="-122"/>
                <a:cs typeface="KIMM_Bold" pitchFamily="34" charset="-120"/>
              </a:rPr>
              <a:t>알람 울림</a:t>
            </a:r>
            <a:endParaRPr lang="en-US" sz="1200" dirty="0"/>
          </a:p>
        </p:txBody>
      </p:sp>
      <p:sp>
        <p:nvSpPr>
          <p:cNvPr id="28" name="Text 24"/>
          <p:cNvSpPr/>
          <p:nvPr/>
        </p:nvSpPr>
        <p:spPr>
          <a:xfrm>
            <a:off x="7653528" y="2724912"/>
            <a:ext cx="370332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40" dirty="0">
                <a:solidFill>
                  <a:srgbClr val="647168"/>
                </a:solidFill>
                <a:latin typeface="A2Z" pitchFamily="34" charset="0"/>
                <a:ea typeface="A2Z" pitchFamily="34" charset="-122"/>
                <a:cs typeface="A2Z" pitchFamily="34" charset="-120"/>
              </a:rPr>
              <a:t>잠금화면 전용 화면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647168"/>
                </a:solidFill>
                <a:latin typeface="A2Z" pitchFamily="34" charset="0"/>
                <a:ea typeface="A2Z" pitchFamily="34" charset="-122"/>
                <a:cs typeface="A2Z" pitchFamily="34" charset="-120"/>
              </a:rPr>
              <a:t>Dismiss: 현재 울림 종료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647168"/>
                </a:solidFill>
                <a:latin typeface="A2Z" pitchFamily="34" charset="0"/>
                <a:ea typeface="A2Z" pitchFamily="34" charset="-122"/>
                <a:cs typeface="A2Z" pitchFamily="34" charset="-120"/>
              </a:rPr>
              <a:t>Snooze: 설정 시간 뒤 재알림</a:t>
            </a:r>
            <a:endParaRPr lang="en-US" sz="940" dirty="0"/>
          </a:p>
        </p:txBody>
      </p:sp>
      <p:sp>
        <p:nvSpPr>
          <p:cNvPr id="29" name="Shape 25"/>
          <p:cNvSpPr/>
          <p:nvPr/>
        </p:nvSpPr>
        <p:spPr>
          <a:xfrm>
            <a:off x="7434072" y="3895344"/>
            <a:ext cx="4142232" cy="1307592"/>
          </a:xfrm>
          <a:prstGeom prst="roundRect">
            <a:avLst>
              <a:gd name="adj" fmla="val 6294"/>
            </a:avLst>
          </a:prstGeom>
          <a:solidFill>
            <a:srgbClr val="E7F7EB"/>
          </a:solidFill>
          <a:ln w="12700">
            <a:solidFill>
              <a:srgbClr val="B9EFC5"/>
            </a:solidFill>
            <a:prstDash val="solid"/>
          </a:ln>
        </p:spPr>
      </p:sp>
      <p:pic>
        <p:nvPicPr>
          <p:cNvPr id="30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635240" y="4087368"/>
            <a:ext cx="329184" cy="329184"/>
          </a:xfrm>
          <a:prstGeom prst="rect">
            <a:avLst/>
          </a:prstGeom>
        </p:spPr>
      </p:pic>
      <p:sp>
        <p:nvSpPr>
          <p:cNvPr id="31" name="Text 26"/>
          <p:cNvSpPr/>
          <p:nvPr/>
        </p:nvSpPr>
        <p:spPr>
          <a:xfrm>
            <a:off x="8092440" y="4078224"/>
            <a:ext cx="32826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342E"/>
                </a:solidFill>
                <a:latin typeface="KIMM_Bold" pitchFamily="34" charset="0"/>
                <a:ea typeface="KIMM_Bold" pitchFamily="34" charset="-122"/>
                <a:cs typeface="KIMM_Bold" pitchFamily="34" charset="-120"/>
              </a:rPr>
              <a:t>사용 방식</a:t>
            </a:r>
            <a:endParaRPr lang="en-US" sz="1200" dirty="0"/>
          </a:p>
        </p:txBody>
      </p:sp>
      <p:sp>
        <p:nvSpPr>
          <p:cNvPr id="32" name="Text 27"/>
          <p:cNvSpPr/>
          <p:nvPr/>
        </p:nvSpPr>
        <p:spPr>
          <a:xfrm>
            <a:off x="7653528" y="4489704"/>
            <a:ext cx="370332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47168"/>
                </a:solidFill>
                <a:latin typeface="A2Z" pitchFamily="34" charset="0"/>
                <a:ea typeface="A2Z" pitchFamily="34" charset="-122"/>
                <a:cs typeface="A2Z" pitchFamily="34" charset="-120"/>
              </a:rPr>
              <a:t>로그아웃   로컬 알람 사용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47168"/>
                </a:solidFill>
                <a:latin typeface="A2Z" pitchFamily="34" charset="0"/>
                <a:ea typeface="A2Z" pitchFamily="34" charset="-122"/>
                <a:cs typeface="A2Z" pitchFamily="34" charset="-120"/>
              </a:rPr>
              <a:t>로그인 + 그룹   공유 동기화 사용</a:t>
            </a:r>
            <a:endParaRPr lang="en-US" sz="950" dirty="0"/>
          </a:p>
        </p:txBody>
      </p:sp>
      <p:sp>
        <p:nvSpPr>
          <p:cNvPr id="33" name="Text 28"/>
          <p:cNvSpPr/>
          <p:nvPr/>
        </p:nvSpPr>
        <p:spPr>
          <a:xfrm>
            <a:off x="7452360" y="5495544"/>
            <a:ext cx="40416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386948"/>
                </a:solidFill>
                <a:latin typeface="A2Z" pitchFamily="34" charset="0"/>
                <a:ea typeface="A2Z" pitchFamily="34" charset="-122"/>
                <a:cs typeface="A2Z" pitchFamily="34" charset="-120"/>
              </a:rPr>
              <a:t>Firebase 내부 처리는 다음 구조도에서 설명합니다.</a:t>
            </a:r>
            <a:endParaRPr lang="en-US" sz="88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538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03504" y="384048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B9EFC5"/>
                </a:solidFill>
                <a:latin typeface="A2Z" pitchFamily="34" charset="0"/>
                <a:ea typeface="A2Z" pitchFamily="34" charset="-122"/>
                <a:cs typeface="A2Z" pitchFamily="34" charset="-120"/>
              </a:rPr>
              <a:t>LET'S ALARM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9235440" y="384048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E4F0E6"/>
                </a:solidFill>
                <a:latin typeface="A2Z" pitchFamily="34" charset="0"/>
                <a:ea typeface="A2Z" pitchFamily="34" charset="-122"/>
                <a:cs typeface="A2Z" pitchFamily="34" charset="-120"/>
              </a:rPr>
              <a:t>평가 (2) 전체 구조도 설명</a:t>
            </a:r>
            <a:endParaRPr lang="en-US" sz="800" dirty="0"/>
          </a:p>
        </p:txBody>
      </p:sp>
      <p:sp>
        <p:nvSpPr>
          <p:cNvPr id="5" name="Shape 2"/>
          <p:cNvSpPr/>
          <p:nvPr/>
        </p:nvSpPr>
        <p:spPr>
          <a:xfrm>
            <a:off x="603504" y="704088"/>
            <a:ext cx="10981944" cy="0"/>
          </a:xfrm>
          <a:prstGeom prst="line">
            <a:avLst/>
          </a:prstGeom>
          <a:noFill/>
          <a:ln w="12700">
            <a:solidFill>
              <a:srgbClr val="527768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03504" y="6419088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15" kern="0" dirty="0">
                <a:solidFill>
                  <a:srgbClr val="E4F0E6"/>
                </a:solidFill>
                <a:latin typeface="A2Z" pitchFamily="34" charset="0"/>
                <a:ea typeface="A2Z" pitchFamily="34" charset="-122"/>
                <a:cs typeface="A2Z" pitchFamily="34" charset="-120"/>
              </a:rPr>
              <a:t>UI/UX PROGRAMMING   /   TEAM 06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155680" y="6419088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EFC5"/>
                </a:solidFill>
                <a:latin typeface="A2Z" pitchFamily="34" charset="0"/>
                <a:ea typeface="A2Z" pitchFamily="34" charset="-122"/>
                <a:cs typeface="A2Z" pitchFamily="34" charset="-120"/>
              </a:rPr>
              <a:t>05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594360" y="996696"/>
            <a:ext cx="6629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KIMM_Bold" pitchFamily="34" charset="0"/>
                <a:ea typeface="KIMM_Bold" pitchFamily="34" charset="-122"/>
                <a:cs typeface="KIMM_Bold" pitchFamily="34" charset="-120"/>
              </a:rPr>
              <a:t>Firebase 기반 동기화 알람 구조</a:t>
            </a:r>
            <a:endParaRPr lang="en-US" sz="2700" dirty="0"/>
          </a:p>
        </p:txBody>
      </p:sp>
      <p:sp>
        <p:nvSpPr>
          <p:cNvPr id="9" name="Text 6"/>
          <p:cNvSpPr/>
          <p:nvPr/>
        </p:nvSpPr>
        <p:spPr>
          <a:xfrm>
            <a:off x="612648" y="1554480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5E9DE"/>
                </a:solidFill>
                <a:latin typeface="A2Z" pitchFamily="34" charset="0"/>
                <a:ea typeface="A2Z" pitchFamily="34" charset="-122"/>
                <a:cs typeface="A2Z" pitchFamily="34" charset="-120"/>
              </a:rPr>
              <a:t>기기 간에는 변경 상태를 전달하고, 정각 울림은 각 Android 기기가 수행합니다.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594360" y="2240280"/>
            <a:ext cx="2121408" cy="2834640"/>
          </a:xfrm>
          <a:prstGeom prst="roundRect">
            <a:avLst>
              <a:gd name="adj" fmla="val 4310"/>
            </a:avLst>
          </a:prstGeom>
          <a:solidFill>
            <a:srgbClr val="214537"/>
          </a:solidFill>
          <a:ln w="12700">
            <a:solidFill>
              <a:srgbClr val="52776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13816" y="2459736"/>
            <a:ext cx="1024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5" kern="0" dirty="0">
                <a:solidFill>
                  <a:srgbClr val="B9EFC5"/>
                </a:solidFill>
                <a:latin typeface="A2Z" pitchFamily="34" charset="0"/>
                <a:ea typeface="A2Z" pitchFamily="34" charset="-122"/>
                <a:cs typeface="A2Z" pitchFamily="34" charset="-120"/>
              </a:rPr>
              <a:t>DEVICE A</a:t>
            </a:r>
            <a:endParaRPr lang="en-US" sz="800" dirty="0"/>
          </a:p>
        </p:txBody>
      </p:sp>
      <p:sp>
        <p:nvSpPr>
          <p:cNvPr id="12" name="Shape 9"/>
          <p:cNvSpPr/>
          <p:nvPr/>
        </p:nvSpPr>
        <p:spPr>
          <a:xfrm>
            <a:off x="804672" y="2871216"/>
            <a:ext cx="1709928" cy="749808"/>
          </a:xfrm>
          <a:prstGeom prst="roundRect">
            <a:avLst>
              <a:gd name="adj" fmla="val 9756"/>
            </a:avLst>
          </a:prstGeom>
          <a:solidFill>
            <a:srgbClr val="F7FAF4"/>
          </a:solidFill>
          <a:ln w="12700">
            <a:solidFill>
              <a:srgbClr val="F7FAF4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50976" y="3044952"/>
            <a:ext cx="283464" cy="28346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325880" y="3026664"/>
            <a:ext cx="10698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C342E"/>
                </a:solidFill>
                <a:latin typeface="A2Z" pitchFamily="34" charset="0"/>
                <a:ea typeface="A2Z" pitchFamily="34" charset="-122"/>
                <a:cs typeface="A2Z" pitchFamily="34" charset="-120"/>
              </a:rPr>
              <a:t>Flutter Android 앱</a:t>
            </a:r>
            <a:endParaRPr lang="en-US" sz="950" dirty="0"/>
          </a:p>
        </p:txBody>
      </p:sp>
      <p:sp>
        <p:nvSpPr>
          <p:cNvPr id="15" name="Text 11"/>
          <p:cNvSpPr/>
          <p:nvPr/>
        </p:nvSpPr>
        <p:spPr>
          <a:xfrm>
            <a:off x="1325880" y="3291840"/>
            <a:ext cx="10698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168"/>
                </a:solidFill>
                <a:latin typeface="A2Z" pitchFamily="34" charset="0"/>
                <a:ea typeface="A2Z" pitchFamily="34" charset="-122"/>
                <a:cs typeface="A2Z" pitchFamily="34" charset="-120"/>
              </a:rPr>
              <a:t>알람 생성 / 수정</a:t>
            </a:r>
            <a:endParaRPr lang="en-US" sz="750" dirty="0"/>
          </a:p>
        </p:txBody>
      </p:sp>
      <p:sp>
        <p:nvSpPr>
          <p:cNvPr id="16" name="Shape 12"/>
          <p:cNvSpPr/>
          <p:nvPr/>
        </p:nvSpPr>
        <p:spPr>
          <a:xfrm>
            <a:off x="804672" y="3931920"/>
            <a:ext cx="1709928" cy="749808"/>
          </a:xfrm>
          <a:prstGeom prst="roundRect">
            <a:avLst>
              <a:gd name="adj" fmla="val 9756"/>
            </a:avLst>
          </a:prstGeom>
          <a:solidFill>
            <a:srgbClr val="E7F7EB"/>
          </a:solidFill>
          <a:ln w="12700">
            <a:solidFill>
              <a:srgbClr val="B9EFC5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50976" y="4105656"/>
            <a:ext cx="283464" cy="283464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4087368"/>
            <a:ext cx="10698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C342E"/>
                </a:solidFill>
                <a:latin typeface="A2Z" pitchFamily="34" charset="0"/>
                <a:ea typeface="A2Z" pitchFamily="34" charset="-122"/>
                <a:cs typeface="A2Z" pitchFamily="34" charset="-120"/>
              </a:rPr>
              <a:t>로컬 알람 예약</a:t>
            </a:r>
            <a:endParaRPr lang="en-US" sz="950" dirty="0"/>
          </a:p>
        </p:txBody>
      </p:sp>
      <p:sp>
        <p:nvSpPr>
          <p:cNvPr id="19" name="Text 14"/>
          <p:cNvSpPr/>
          <p:nvPr/>
        </p:nvSpPr>
        <p:spPr>
          <a:xfrm>
            <a:off x="1325880" y="4352544"/>
            <a:ext cx="10698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168"/>
                </a:solidFill>
                <a:latin typeface="A2Z" pitchFamily="34" charset="0"/>
                <a:ea typeface="A2Z" pitchFamily="34" charset="-122"/>
                <a:cs typeface="A2Z" pitchFamily="34" charset="-120"/>
              </a:rPr>
              <a:t>정각 울림 담당</a:t>
            </a:r>
            <a:endParaRPr lang="en-US" sz="750" dirty="0"/>
          </a:p>
        </p:txBody>
      </p:sp>
      <p:sp>
        <p:nvSpPr>
          <p:cNvPr id="20" name="Shape 15"/>
          <p:cNvSpPr/>
          <p:nvPr/>
        </p:nvSpPr>
        <p:spPr>
          <a:xfrm>
            <a:off x="3273552" y="2057400"/>
            <a:ext cx="5623560" cy="3200400"/>
          </a:xfrm>
          <a:prstGeom prst="roundRect">
            <a:avLst>
              <a:gd name="adj" fmla="val 2857"/>
            </a:avLst>
          </a:prstGeom>
          <a:solidFill>
            <a:srgbClr val="F7FAF4"/>
          </a:solidFill>
          <a:ln w="12700">
            <a:solidFill>
              <a:srgbClr val="F7FAF4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3529584" y="2286000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5" kern="0" dirty="0">
                <a:solidFill>
                  <a:srgbClr val="386948"/>
                </a:solidFill>
                <a:latin typeface="A2Z" pitchFamily="34" charset="0"/>
                <a:ea typeface="A2Z" pitchFamily="34" charset="-122"/>
                <a:cs typeface="A2Z" pitchFamily="34" charset="-120"/>
              </a:rPr>
              <a:t>FIREBASE CLOUD</a:t>
            </a:r>
            <a:endParaRPr lang="en-US" sz="800" dirty="0"/>
          </a:p>
        </p:txBody>
      </p:sp>
      <p:sp>
        <p:nvSpPr>
          <p:cNvPr id="22" name="Shape 17"/>
          <p:cNvSpPr/>
          <p:nvPr/>
        </p:nvSpPr>
        <p:spPr>
          <a:xfrm>
            <a:off x="3557016" y="2770632"/>
            <a:ext cx="114300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DAE6DD"/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703320" y="2944368"/>
            <a:ext cx="283464" cy="283464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4078224" y="2926080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C342E"/>
                </a:solidFill>
                <a:latin typeface="A2Z" pitchFamily="34" charset="0"/>
                <a:ea typeface="A2Z" pitchFamily="34" charset="-122"/>
                <a:cs typeface="A2Z" pitchFamily="34" charset="-120"/>
              </a:rPr>
              <a:t>Authentication</a:t>
            </a:r>
            <a:endParaRPr lang="en-US" sz="850" dirty="0"/>
          </a:p>
        </p:txBody>
      </p:sp>
      <p:sp>
        <p:nvSpPr>
          <p:cNvPr id="25" name="Text 19"/>
          <p:cNvSpPr/>
          <p:nvPr/>
        </p:nvSpPr>
        <p:spPr>
          <a:xfrm>
            <a:off x="4078224" y="3191256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168"/>
                </a:solidFill>
                <a:latin typeface="A2Z" pitchFamily="34" charset="0"/>
                <a:ea typeface="A2Z" pitchFamily="34" charset="-122"/>
                <a:cs typeface="A2Z" pitchFamily="34" charset="-120"/>
              </a:rPr>
              <a:t>사용자 식별</a:t>
            </a:r>
            <a:endParaRPr lang="en-US" sz="750" dirty="0"/>
          </a:p>
        </p:txBody>
      </p:sp>
      <p:sp>
        <p:nvSpPr>
          <p:cNvPr id="26" name="Shape 20"/>
          <p:cNvSpPr/>
          <p:nvPr/>
        </p:nvSpPr>
        <p:spPr>
          <a:xfrm>
            <a:off x="4901184" y="2770632"/>
            <a:ext cx="1170432" cy="777240"/>
          </a:xfrm>
          <a:prstGeom prst="roundRect">
            <a:avLst>
              <a:gd name="adj" fmla="val 9412"/>
            </a:avLst>
          </a:prstGeom>
          <a:solidFill>
            <a:srgbClr val="FFF3CD"/>
          </a:solidFill>
          <a:ln w="12700">
            <a:solidFill>
              <a:srgbClr val="F0BE53"/>
            </a:solidFill>
            <a:prstDash val="solid"/>
          </a:ln>
        </p:spPr>
      </p:sp>
      <p:sp>
        <p:nvSpPr>
          <p:cNvPr id="27" name="Text 21"/>
          <p:cNvSpPr/>
          <p:nvPr/>
        </p:nvSpPr>
        <p:spPr>
          <a:xfrm>
            <a:off x="5065776" y="2926080"/>
            <a:ext cx="8869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2C342E"/>
                </a:solidFill>
                <a:latin typeface="A2Z" pitchFamily="34" charset="0"/>
                <a:ea typeface="A2Z" pitchFamily="34" charset="-122"/>
                <a:cs typeface="A2Z" pitchFamily="34" charset="-120"/>
              </a:rPr>
              <a:t>Cloud Firestore</a:t>
            </a:r>
            <a:endParaRPr lang="en-US" sz="830" dirty="0"/>
          </a:p>
        </p:txBody>
      </p:sp>
      <p:sp>
        <p:nvSpPr>
          <p:cNvPr id="28" name="Text 22"/>
          <p:cNvSpPr/>
          <p:nvPr/>
        </p:nvSpPr>
        <p:spPr>
          <a:xfrm>
            <a:off x="5065776" y="3191256"/>
            <a:ext cx="8869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168"/>
                </a:solidFill>
                <a:latin typeface="A2Z" pitchFamily="34" charset="0"/>
                <a:ea typeface="A2Z" pitchFamily="34" charset="-122"/>
                <a:cs typeface="A2Z" pitchFamily="34" charset="-120"/>
              </a:rPr>
              <a:t>공유 원본 저장</a:t>
            </a:r>
            <a:endParaRPr lang="en-US" sz="750" dirty="0"/>
          </a:p>
        </p:txBody>
      </p:sp>
      <p:sp>
        <p:nvSpPr>
          <p:cNvPr id="29" name="Shape 23"/>
          <p:cNvSpPr/>
          <p:nvPr/>
        </p:nvSpPr>
        <p:spPr>
          <a:xfrm>
            <a:off x="6281928" y="2770632"/>
            <a:ext cx="1170432" cy="777240"/>
          </a:xfrm>
          <a:prstGeom prst="roundRect">
            <a:avLst>
              <a:gd name="adj" fmla="val 9412"/>
            </a:avLst>
          </a:prstGeom>
          <a:solidFill>
            <a:srgbClr val="FFF3CD"/>
          </a:solidFill>
          <a:ln w="12700">
            <a:solidFill>
              <a:srgbClr val="F0BE53"/>
            </a:solidFill>
            <a:prstDash val="solid"/>
          </a:ln>
        </p:spPr>
      </p:sp>
      <p:sp>
        <p:nvSpPr>
          <p:cNvPr id="30" name="Text 24"/>
          <p:cNvSpPr/>
          <p:nvPr/>
        </p:nvSpPr>
        <p:spPr>
          <a:xfrm>
            <a:off x="6446520" y="2926080"/>
            <a:ext cx="8869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2C342E"/>
                </a:solidFill>
                <a:latin typeface="A2Z" pitchFamily="34" charset="0"/>
                <a:ea typeface="A2Z" pitchFamily="34" charset="-122"/>
                <a:cs typeface="A2Z" pitchFamily="34" charset="-120"/>
              </a:rPr>
              <a:t>Cloud Functions</a:t>
            </a:r>
            <a:endParaRPr lang="en-US" sz="830" dirty="0"/>
          </a:p>
        </p:txBody>
      </p:sp>
      <p:sp>
        <p:nvSpPr>
          <p:cNvPr id="31" name="Text 25"/>
          <p:cNvSpPr/>
          <p:nvPr/>
        </p:nvSpPr>
        <p:spPr>
          <a:xfrm>
            <a:off x="6446520" y="3191256"/>
            <a:ext cx="8869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168"/>
                </a:solidFill>
                <a:latin typeface="A2Z" pitchFamily="34" charset="0"/>
                <a:ea typeface="A2Z" pitchFamily="34" charset="-122"/>
                <a:cs typeface="A2Z" pitchFamily="34" charset="-120"/>
              </a:rPr>
              <a:t>변경 감지</a:t>
            </a:r>
            <a:endParaRPr lang="en-US" sz="750" dirty="0"/>
          </a:p>
        </p:txBody>
      </p:sp>
      <p:sp>
        <p:nvSpPr>
          <p:cNvPr id="32" name="Shape 26"/>
          <p:cNvSpPr/>
          <p:nvPr/>
        </p:nvSpPr>
        <p:spPr>
          <a:xfrm>
            <a:off x="7671816" y="2770632"/>
            <a:ext cx="941832" cy="777240"/>
          </a:xfrm>
          <a:prstGeom prst="roundRect">
            <a:avLst>
              <a:gd name="adj" fmla="val 9412"/>
            </a:avLst>
          </a:prstGeom>
          <a:solidFill>
            <a:srgbClr val="E7F7EB"/>
          </a:solidFill>
          <a:ln w="12700">
            <a:solidFill>
              <a:srgbClr val="B9EFC5"/>
            </a:solidFill>
            <a:prstDash val="solid"/>
          </a:ln>
        </p:spPr>
      </p:sp>
      <p:pic>
        <p:nvPicPr>
          <p:cNvPr id="33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818120" y="2944368"/>
            <a:ext cx="283464" cy="283464"/>
          </a:xfrm>
          <a:prstGeom prst="rect">
            <a:avLst/>
          </a:prstGeom>
        </p:spPr>
      </p:pic>
      <p:sp>
        <p:nvSpPr>
          <p:cNvPr id="34" name="Text 27"/>
          <p:cNvSpPr/>
          <p:nvPr/>
        </p:nvSpPr>
        <p:spPr>
          <a:xfrm>
            <a:off x="8193024" y="2926080"/>
            <a:ext cx="3017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C342E"/>
                </a:solidFill>
                <a:latin typeface="A2Z" pitchFamily="34" charset="0"/>
                <a:ea typeface="A2Z" pitchFamily="34" charset="-122"/>
                <a:cs typeface="A2Z" pitchFamily="34" charset="-120"/>
              </a:rPr>
              <a:t>FCM</a:t>
            </a:r>
            <a:endParaRPr lang="en-US" sz="900" dirty="0"/>
          </a:p>
        </p:txBody>
      </p:sp>
      <p:sp>
        <p:nvSpPr>
          <p:cNvPr id="35" name="Text 28"/>
          <p:cNvSpPr/>
          <p:nvPr/>
        </p:nvSpPr>
        <p:spPr>
          <a:xfrm>
            <a:off x="8193024" y="3191256"/>
            <a:ext cx="3017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168"/>
                </a:solidFill>
                <a:latin typeface="A2Z" pitchFamily="34" charset="0"/>
                <a:ea typeface="A2Z" pitchFamily="34" charset="-122"/>
                <a:cs typeface="A2Z" pitchFamily="34" charset="-120"/>
              </a:rPr>
              <a:t>변경 전달</a:t>
            </a:r>
            <a:endParaRPr lang="en-US" sz="750" dirty="0"/>
          </a:p>
        </p:txBody>
      </p:sp>
      <p:sp>
        <p:nvSpPr>
          <p:cNvPr id="36" name="Text 29"/>
          <p:cNvSpPr/>
          <p:nvPr/>
        </p:nvSpPr>
        <p:spPr>
          <a:xfrm>
            <a:off x="4974336" y="4005072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386948"/>
                </a:solidFill>
                <a:latin typeface="A2Z" pitchFamily="34" charset="0"/>
                <a:ea typeface="A2Z" pitchFamily="34" charset="-122"/>
                <a:cs typeface="A2Z" pitchFamily="34" charset="-120"/>
              </a:rPr>
              <a:t>1. 저장</a:t>
            </a:r>
            <a:endParaRPr lang="en-US" sz="750" dirty="0"/>
          </a:p>
        </p:txBody>
      </p:sp>
      <p:sp>
        <p:nvSpPr>
          <p:cNvPr id="37" name="Text 30"/>
          <p:cNvSpPr/>
          <p:nvPr/>
        </p:nvSpPr>
        <p:spPr>
          <a:xfrm>
            <a:off x="6391656" y="4005072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386948"/>
                </a:solidFill>
                <a:latin typeface="A2Z" pitchFamily="34" charset="0"/>
                <a:ea typeface="A2Z" pitchFamily="34" charset="-122"/>
                <a:cs typeface="A2Z" pitchFamily="34" charset="-120"/>
              </a:rPr>
              <a:t>2. 감지</a:t>
            </a:r>
            <a:endParaRPr lang="en-US" sz="750" dirty="0"/>
          </a:p>
        </p:txBody>
      </p:sp>
      <p:sp>
        <p:nvSpPr>
          <p:cNvPr id="38" name="Text 31"/>
          <p:cNvSpPr/>
          <p:nvPr/>
        </p:nvSpPr>
        <p:spPr>
          <a:xfrm>
            <a:off x="7744968" y="4005072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386948"/>
                </a:solidFill>
                <a:latin typeface="A2Z" pitchFamily="34" charset="0"/>
                <a:ea typeface="A2Z" pitchFamily="34" charset="-122"/>
                <a:cs typeface="A2Z" pitchFamily="34" charset="-120"/>
              </a:rPr>
              <a:t>3. 전달</a:t>
            </a:r>
            <a:endParaRPr lang="en-US" sz="750" dirty="0"/>
          </a:p>
        </p:txBody>
      </p:sp>
      <p:sp>
        <p:nvSpPr>
          <p:cNvPr id="39" name="Shape 32"/>
          <p:cNvSpPr/>
          <p:nvPr/>
        </p:nvSpPr>
        <p:spPr>
          <a:xfrm>
            <a:off x="3575304" y="4517136"/>
            <a:ext cx="4983480" cy="0"/>
          </a:xfrm>
          <a:prstGeom prst="line">
            <a:avLst/>
          </a:prstGeom>
          <a:noFill/>
          <a:ln w="12700">
            <a:solidFill>
              <a:srgbClr val="DAE6DD"/>
            </a:solidFill>
            <a:prstDash val="solid"/>
          </a:ln>
        </p:spPr>
      </p:sp>
      <p:sp>
        <p:nvSpPr>
          <p:cNvPr id="40" name="Text 33"/>
          <p:cNvSpPr/>
          <p:nvPr/>
        </p:nvSpPr>
        <p:spPr>
          <a:xfrm>
            <a:off x="3675888" y="4700016"/>
            <a:ext cx="47548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647168"/>
                </a:solidFill>
                <a:latin typeface="A2Z" pitchFamily="34" charset="0"/>
                <a:ea typeface="A2Z" pitchFamily="34" charset="-122"/>
                <a:cs typeface="A2Z" pitchFamily="34" charset="-120"/>
              </a:rPr>
              <a:t>로그인 / 그룹 공유 알람 동기화 경로</a:t>
            </a:r>
            <a:endParaRPr lang="en-US" sz="820" dirty="0"/>
          </a:p>
        </p:txBody>
      </p:sp>
      <p:sp>
        <p:nvSpPr>
          <p:cNvPr id="41" name="Shape 34"/>
          <p:cNvSpPr/>
          <p:nvPr/>
        </p:nvSpPr>
        <p:spPr>
          <a:xfrm>
            <a:off x="9445752" y="2240280"/>
            <a:ext cx="2148840" cy="2834640"/>
          </a:xfrm>
          <a:prstGeom prst="roundRect">
            <a:avLst>
              <a:gd name="adj" fmla="val 4255"/>
            </a:avLst>
          </a:prstGeom>
          <a:solidFill>
            <a:srgbClr val="214537"/>
          </a:solidFill>
          <a:ln w="12700">
            <a:solidFill>
              <a:srgbClr val="527768"/>
            </a:solidFill>
            <a:prstDash val="solid"/>
          </a:ln>
        </p:spPr>
      </p:sp>
      <p:sp>
        <p:nvSpPr>
          <p:cNvPr id="42" name="Text 35"/>
          <p:cNvSpPr/>
          <p:nvPr/>
        </p:nvSpPr>
        <p:spPr>
          <a:xfrm>
            <a:off x="9665208" y="2459736"/>
            <a:ext cx="1024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5" kern="0" dirty="0">
                <a:solidFill>
                  <a:srgbClr val="B9EFC5"/>
                </a:solidFill>
                <a:latin typeface="A2Z" pitchFamily="34" charset="0"/>
                <a:ea typeface="A2Z" pitchFamily="34" charset="-122"/>
                <a:cs typeface="A2Z" pitchFamily="34" charset="-120"/>
              </a:rPr>
              <a:t>DEVICE B</a:t>
            </a:r>
            <a:endParaRPr lang="en-US" sz="800" dirty="0"/>
          </a:p>
        </p:txBody>
      </p:sp>
      <p:sp>
        <p:nvSpPr>
          <p:cNvPr id="43" name="Shape 36"/>
          <p:cNvSpPr/>
          <p:nvPr/>
        </p:nvSpPr>
        <p:spPr>
          <a:xfrm>
            <a:off x="9656064" y="2871216"/>
            <a:ext cx="1728216" cy="749808"/>
          </a:xfrm>
          <a:prstGeom prst="roundRect">
            <a:avLst>
              <a:gd name="adj" fmla="val 9756"/>
            </a:avLst>
          </a:prstGeom>
          <a:solidFill>
            <a:srgbClr val="F7FAF4"/>
          </a:solidFill>
          <a:ln w="12700">
            <a:solidFill>
              <a:srgbClr val="F7FAF4"/>
            </a:solidFill>
            <a:prstDash val="solid"/>
          </a:ln>
        </p:spPr>
      </p:sp>
      <p:pic>
        <p:nvPicPr>
          <p:cNvPr id="44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9802368" y="3044952"/>
            <a:ext cx="283464" cy="283464"/>
          </a:xfrm>
          <a:prstGeom prst="rect">
            <a:avLst/>
          </a:prstGeom>
        </p:spPr>
      </p:pic>
      <p:sp>
        <p:nvSpPr>
          <p:cNvPr id="45" name="Text 37"/>
          <p:cNvSpPr/>
          <p:nvPr/>
        </p:nvSpPr>
        <p:spPr>
          <a:xfrm>
            <a:off x="10177272" y="3026664"/>
            <a:ext cx="1088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C342E"/>
                </a:solidFill>
                <a:latin typeface="A2Z" pitchFamily="34" charset="0"/>
                <a:ea typeface="A2Z" pitchFamily="34" charset="-122"/>
                <a:cs typeface="A2Z" pitchFamily="34" charset="-120"/>
              </a:rPr>
              <a:t>Flutter Android 앱</a:t>
            </a:r>
            <a:endParaRPr lang="en-US" sz="950" dirty="0"/>
          </a:p>
        </p:txBody>
      </p:sp>
      <p:sp>
        <p:nvSpPr>
          <p:cNvPr id="46" name="Text 38"/>
          <p:cNvSpPr/>
          <p:nvPr/>
        </p:nvSpPr>
        <p:spPr>
          <a:xfrm>
            <a:off x="10177272" y="3291840"/>
            <a:ext cx="10881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168"/>
                </a:solidFill>
                <a:latin typeface="A2Z" pitchFamily="34" charset="0"/>
                <a:ea typeface="A2Z" pitchFamily="34" charset="-122"/>
                <a:cs typeface="A2Z" pitchFamily="34" charset="-120"/>
              </a:rPr>
              <a:t>동기화 수신</a:t>
            </a:r>
            <a:endParaRPr lang="en-US" sz="750" dirty="0"/>
          </a:p>
        </p:txBody>
      </p:sp>
      <p:sp>
        <p:nvSpPr>
          <p:cNvPr id="47" name="Shape 39"/>
          <p:cNvSpPr/>
          <p:nvPr/>
        </p:nvSpPr>
        <p:spPr>
          <a:xfrm>
            <a:off x="9656064" y="3931920"/>
            <a:ext cx="1728216" cy="749808"/>
          </a:xfrm>
          <a:prstGeom prst="roundRect">
            <a:avLst>
              <a:gd name="adj" fmla="val 9756"/>
            </a:avLst>
          </a:prstGeom>
          <a:solidFill>
            <a:srgbClr val="E7F7EB"/>
          </a:solidFill>
          <a:ln w="12700">
            <a:solidFill>
              <a:srgbClr val="B9EFC5"/>
            </a:solidFill>
            <a:prstDash val="solid"/>
          </a:ln>
        </p:spPr>
      </p:sp>
      <p:pic>
        <p:nvPicPr>
          <p:cNvPr id="48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9802368" y="4105656"/>
            <a:ext cx="283464" cy="283464"/>
          </a:xfrm>
          <a:prstGeom prst="rect">
            <a:avLst/>
          </a:prstGeom>
        </p:spPr>
      </p:pic>
      <p:sp>
        <p:nvSpPr>
          <p:cNvPr id="49" name="Text 40"/>
          <p:cNvSpPr/>
          <p:nvPr/>
        </p:nvSpPr>
        <p:spPr>
          <a:xfrm>
            <a:off x="10177272" y="4087368"/>
            <a:ext cx="1088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C342E"/>
                </a:solidFill>
                <a:latin typeface="A2Z" pitchFamily="34" charset="0"/>
                <a:ea typeface="A2Z" pitchFamily="34" charset="-122"/>
                <a:cs typeface="A2Z" pitchFamily="34" charset="-120"/>
              </a:rPr>
              <a:t>로컬 예약 갱신</a:t>
            </a:r>
            <a:endParaRPr lang="en-US" sz="950" dirty="0"/>
          </a:p>
        </p:txBody>
      </p:sp>
      <p:sp>
        <p:nvSpPr>
          <p:cNvPr id="50" name="Text 41"/>
          <p:cNvSpPr/>
          <p:nvPr/>
        </p:nvSpPr>
        <p:spPr>
          <a:xfrm>
            <a:off x="10177272" y="4352544"/>
            <a:ext cx="10881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168"/>
                </a:solidFill>
                <a:latin typeface="A2Z" pitchFamily="34" charset="0"/>
                <a:ea typeface="A2Z" pitchFamily="34" charset="-122"/>
                <a:cs typeface="A2Z" pitchFamily="34" charset="-120"/>
              </a:rPr>
              <a:t>정각 울림 담당</a:t>
            </a:r>
            <a:endParaRPr lang="en-US" sz="750" dirty="0"/>
          </a:p>
        </p:txBody>
      </p:sp>
      <p:sp>
        <p:nvSpPr>
          <p:cNvPr id="51" name="Shape 42"/>
          <p:cNvSpPr/>
          <p:nvPr/>
        </p:nvSpPr>
        <p:spPr>
          <a:xfrm>
            <a:off x="2770632" y="3191256"/>
            <a:ext cx="393192" cy="146304"/>
          </a:xfrm>
          <a:prstGeom prst="chevron">
            <a:avLst/>
          </a:prstGeom>
          <a:solidFill>
            <a:srgbClr val="B9EFC5"/>
          </a:solidFill>
          <a:ln w="12700">
            <a:solidFill>
              <a:srgbClr val="B9EFC5">
                <a:alpha val="0"/>
              </a:srgbClr>
            </a:solidFill>
            <a:prstDash val="solid"/>
          </a:ln>
        </p:spPr>
      </p:sp>
      <p:sp>
        <p:nvSpPr>
          <p:cNvPr id="52" name="Text 43"/>
          <p:cNvSpPr/>
          <p:nvPr/>
        </p:nvSpPr>
        <p:spPr>
          <a:xfrm>
            <a:off x="2697480" y="2944368"/>
            <a:ext cx="5394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386948"/>
                </a:solidFill>
                <a:latin typeface="A2Z" pitchFamily="34" charset="0"/>
                <a:ea typeface="A2Z" pitchFamily="34" charset="-122"/>
                <a:cs typeface="A2Z" pitchFamily="34" charset="-120"/>
              </a:rPr>
              <a:t>알람 저장</a:t>
            </a:r>
            <a:endParaRPr lang="en-US" sz="720" dirty="0"/>
          </a:p>
        </p:txBody>
      </p:sp>
      <p:sp>
        <p:nvSpPr>
          <p:cNvPr id="53" name="Shape 44"/>
          <p:cNvSpPr/>
          <p:nvPr/>
        </p:nvSpPr>
        <p:spPr>
          <a:xfrm>
            <a:off x="8961120" y="3191256"/>
            <a:ext cx="384048" cy="146304"/>
          </a:xfrm>
          <a:prstGeom prst="chevron">
            <a:avLst/>
          </a:prstGeom>
          <a:solidFill>
            <a:srgbClr val="B9EFC5"/>
          </a:solidFill>
          <a:ln w="12700">
            <a:solidFill>
              <a:srgbClr val="B9EFC5">
                <a:alpha val="0"/>
              </a:srgbClr>
            </a:solidFill>
            <a:prstDash val="solid"/>
          </a:ln>
        </p:spPr>
      </p:sp>
      <p:sp>
        <p:nvSpPr>
          <p:cNvPr id="54" name="Text 45"/>
          <p:cNvSpPr/>
          <p:nvPr/>
        </p:nvSpPr>
        <p:spPr>
          <a:xfrm>
            <a:off x="8887968" y="2944368"/>
            <a:ext cx="5303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386948"/>
                </a:solidFill>
                <a:latin typeface="A2Z" pitchFamily="34" charset="0"/>
                <a:ea typeface="A2Z" pitchFamily="34" charset="-122"/>
                <a:cs typeface="A2Z" pitchFamily="34" charset="-120"/>
              </a:rPr>
              <a:t>동기화 신호</a:t>
            </a:r>
            <a:endParaRPr lang="en-US" sz="720" dirty="0"/>
          </a:p>
        </p:txBody>
      </p:sp>
      <p:sp>
        <p:nvSpPr>
          <p:cNvPr id="55" name="Shape 46"/>
          <p:cNvSpPr/>
          <p:nvPr/>
        </p:nvSpPr>
        <p:spPr>
          <a:xfrm>
            <a:off x="603504" y="5596128"/>
            <a:ext cx="10991088" cy="512064"/>
          </a:xfrm>
          <a:prstGeom prst="roundRect">
            <a:avLst>
              <a:gd name="adj" fmla="val 10714"/>
            </a:avLst>
          </a:prstGeom>
          <a:solidFill>
            <a:srgbClr val="335C4E"/>
          </a:solidFill>
          <a:ln w="12700">
            <a:solidFill>
              <a:srgbClr val="335C4E"/>
            </a:solidFill>
            <a:prstDash val="solid"/>
          </a:ln>
        </p:spPr>
      </p:sp>
      <p:sp>
        <p:nvSpPr>
          <p:cNvPr id="56" name="Text 47"/>
          <p:cNvSpPr/>
          <p:nvPr/>
        </p:nvSpPr>
        <p:spPr>
          <a:xfrm>
            <a:off x="850392" y="5742432"/>
            <a:ext cx="10469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2Z" pitchFamily="34" charset="0"/>
                <a:ea typeface="A2Z" pitchFamily="34" charset="-122"/>
                <a:cs typeface="A2Z" pitchFamily="34" charset="-120"/>
              </a:rPr>
              <a:t>FCM은 동기화 신호를 전달하고, 실제 알람 울림은 Android 로컬 예약이 담당합니다.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A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720840" y="0"/>
            <a:ext cx="547085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7827264" cy="6858000"/>
          </a:xfrm>
          <a:prstGeom prst="rect">
            <a:avLst/>
          </a:prstGeom>
          <a:solidFill>
            <a:srgbClr val="F7FAF4"/>
          </a:solidFill>
          <a:ln w="12700">
            <a:solidFill>
              <a:srgbClr val="F7FAF4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603504" y="384048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386948"/>
                </a:solidFill>
                <a:latin typeface="A2Z" pitchFamily="34" charset="0"/>
                <a:ea typeface="A2Z" pitchFamily="34" charset="-122"/>
                <a:cs typeface="A2Z" pitchFamily="34" charset="-120"/>
              </a:rPr>
              <a:t>LET'S ALARM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9235440" y="384048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47168"/>
                </a:solidFill>
                <a:latin typeface="A2Z" pitchFamily="34" charset="0"/>
                <a:ea typeface="A2Z" pitchFamily="34" charset="-122"/>
                <a:cs typeface="A2Z" pitchFamily="34" charset="-120"/>
              </a:rPr>
              <a:t>평가 (2) 전체 구조도 설명</a:t>
            </a:r>
            <a:endParaRPr lang="en-US" sz="800" dirty="0"/>
          </a:p>
        </p:txBody>
      </p:sp>
      <p:sp>
        <p:nvSpPr>
          <p:cNvPr id="6" name="Shape 3"/>
          <p:cNvSpPr/>
          <p:nvPr/>
        </p:nvSpPr>
        <p:spPr>
          <a:xfrm>
            <a:off x="603504" y="704088"/>
            <a:ext cx="10981944" cy="0"/>
          </a:xfrm>
          <a:prstGeom prst="line">
            <a:avLst/>
          </a:prstGeom>
          <a:noFill/>
          <a:ln w="12700">
            <a:solidFill>
              <a:srgbClr val="DAE6DD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03504" y="6419088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15" kern="0" dirty="0">
                <a:solidFill>
                  <a:srgbClr val="647168"/>
                </a:solidFill>
                <a:latin typeface="A2Z" pitchFamily="34" charset="0"/>
                <a:ea typeface="A2Z" pitchFamily="34" charset="-122"/>
                <a:cs typeface="A2Z" pitchFamily="34" charset="-120"/>
              </a:rPr>
              <a:t>UI/UX PROGRAMMING   /   TEAM 06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11155680" y="6419088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86948"/>
                </a:solidFill>
                <a:latin typeface="A2Z" pitchFamily="34" charset="0"/>
                <a:ea typeface="A2Z" pitchFamily="34" charset="-122"/>
                <a:cs typeface="A2Z" pitchFamily="34" charset="-120"/>
              </a:rPr>
              <a:t>06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594360" y="969264"/>
            <a:ext cx="8869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C342E"/>
                </a:solidFill>
                <a:latin typeface="KIMM_Bold" pitchFamily="34" charset="0"/>
                <a:ea typeface="KIMM_Bold" pitchFamily="34" charset="-122"/>
                <a:cs typeface="KIMM_Bold" pitchFamily="34" charset="-120"/>
              </a:rPr>
              <a:t>주요 클래스 흐름. 알람 생성과 저장</a:t>
            </a:r>
            <a:endParaRPr lang="en-US" sz="2700" dirty="0"/>
          </a:p>
        </p:txBody>
      </p:sp>
      <p:sp>
        <p:nvSpPr>
          <p:cNvPr id="10" name="Text 7"/>
          <p:cNvSpPr/>
          <p:nvPr/>
        </p:nvSpPr>
        <p:spPr>
          <a:xfrm>
            <a:off x="612648" y="1545336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86948"/>
                </a:solidFill>
                <a:latin typeface="A2Z" pitchFamily="34" charset="0"/>
                <a:ea typeface="A2Z" pitchFamily="34" charset="-122"/>
                <a:cs typeface="A2Z" pitchFamily="34" charset="-120"/>
              </a:rPr>
              <a:t>입력, 상태 변경, 저장, 기기 예약을 순서대로 연결하는 앱 내부 처리 흐름입니다.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621792" y="2450592"/>
            <a:ext cx="1664208" cy="694944"/>
          </a:xfrm>
          <a:prstGeom prst="roundRect">
            <a:avLst>
              <a:gd name="adj" fmla="val 9211"/>
            </a:avLst>
          </a:prstGeom>
          <a:solidFill>
            <a:srgbClr val="FFFFFF"/>
          </a:solidFill>
          <a:ln w="12700">
            <a:solidFill>
              <a:srgbClr val="DAE6DD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740664" y="2660904"/>
            <a:ext cx="246888" cy="246888"/>
          </a:xfrm>
          <a:prstGeom prst="ellipse">
            <a:avLst>
              <a:gd name="adj" fmla="val 29630"/>
            </a:avLst>
          </a:prstGeom>
          <a:solidFill>
            <a:srgbClr val="386948"/>
          </a:solidFill>
          <a:ln w="12700">
            <a:solidFill>
              <a:srgbClr val="38694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40664" y="2721254"/>
            <a:ext cx="24688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2Z" pitchFamily="34" charset="0"/>
                <a:ea typeface="A2Z" pitchFamily="34" charset="-122"/>
                <a:cs typeface="A2Z" pitchFamily="34" charset="-120"/>
              </a:rPr>
              <a:t>1</a:t>
            </a:r>
            <a:endParaRPr lang="en-US" sz="700" dirty="0"/>
          </a:p>
        </p:txBody>
      </p:sp>
      <p:sp>
        <p:nvSpPr>
          <p:cNvPr id="14" name="Text 11"/>
          <p:cNvSpPr/>
          <p:nvPr/>
        </p:nvSpPr>
        <p:spPr>
          <a:xfrm>
            <a:off x="1097280" y="2651760"/>
            <a:ext cx="10881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2C342E"/>
                </a:solidFill>
                <a:latin typeface="A2Z" pitchFamily="34" charset="0"/>
                <a:ea typeface="A2Z" pitchFamily="34" charset="-122"/>
                <a:cs typeface="A2Z" pitchFamily="34" charset="-120"/>
              </a:rPr>
              <a:t>AlarmEditorSheet</a:t>
            </a:r>
            <a:endParaRPr lang="en-US" sz="820" dirty="0"/>
          </a:p>
        </p:txBody>
      </p:sp>
      <p:sp>
        <p:nvSpPr>
          <p:cNvPr id="15" name="Shape 12"/>
          <p:cNvSpPr/>
          <p:nvPr/>
        </p:nvSpPr>
        <p:spPr>
          <a:xfrm>
            <a:off x="2551176" y="2450592"/>
            <a:ext cx="1847088" cy="694944"/>
          </a:xfrm>
          <a:prstGeom prst="roundRect">
            <a:avLst>
              <a:gd name="adj" fmla="val 9211"/>
            </a:avLst>
          </a:prstGeom>
          <a:solidFill>
            <a:srgbClr val="FFFFFF"/>
          </a:solidFill>
          <a:ln w="12700">
            <a:solidFill>
              <a:srgbClr val="DAE6DD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2670048" y="2660904"/>
            <a:ext cx="246888" cy="246888"/>
          </a:xfrm>
          <a:prstGeom prst="ellipse">
            <a:avLst>
              <a:gd name="adj" fmla="val 29630"/>
            </a:avLst>
          </a:prstGeom>
          <a:solidFill>
            <a:srgbClr val="386948"/>
          </a:solidFill>
          <a:ln w="12700">
            <a:solidFill>
              <a:srgbClr val="386948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2670048" y="2721254"/>
            <a:ext cx="24688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2Z" pitchFamily="34" charset="0"/>
                <a:ea typeface="A2Z" pitchFamily="34" charset="-122"/>
                <a:cs typeface="A2Z" pitchFamily="34" charset="-120"/>
              </a:rPr>
              <a:t>2</a:t>
            </a:r>
            <a:endParaRPr lang="en-US" sz="700" dirty="0"/>
          </a:p>
        </p:txBody>
      </p:sp>
      <p:sp>
        <p:nvSpPr>
          <p:cNvPr id="18" name="Text 15"/>
          <p:cNvSpPr/>
          <p:nvPr/>
        </p:nvSpPr>
        <p:spPr>
          <a:xfrm>
            <a:off x="3026664" y="2651760"/>
            <a:ext cx="12710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2C342E"/>
                </a:solidFill>
                <a:latin typeface="A2Z" pitchFamily="34" charset="0"/>
                <a:ea typeface="A2Z" pitchFamily="34" charset="-122"/>
                <a:cs typeface="A2Z" pitchFamily="34" charset="-120"/>
              </a:rPr>
              <a:t>AlarmListController</a:t>
            </a:r>
            <a:endParaRPr lang="en-US" sz="820" dirty="0"/>
          </a:p>
        </p:txBody>
      </p:sp>
      <p:sp>
        <p:nvSpPr>
          <p:cNvPr id="19" name="Shape 16"/>
          <p:cNvSpPr/>
          <p:nvPr/>
        </p:nvSpPr>
        <p:spPr>
          <a:xfrm>
            <a:off x="4663440" y="2450592"/>
            <a:ext cx="1700784" cy="694944"/>
          </a:xfrm>
          <a:prstGeom prst="roundRect">
            <a:avLst>
              <a:gd name="adj" fmla="val 9211"/>
            </a:avLst>
          </a:prstGeom>
          <a:solidFill>
            <a:srgbClr val="FFFFFF"/>
          </a:solidFill>
          <a:ln w="12700">
            <a:solidFill>
              <a:srgbClr val="DAE6DD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4782312" y="2660904"/>
            <a:ext cx="246888" cy="246888"/>
          </a:xfrm>
          <a:prstGeom prst="ellipse">
            <a:avLst>
              <a:gd name="adj" fmla="val 29630"/>
            </a:avLst>
          </a:prstGeom>
          <a:solidFill>
            <a:srgbClr val="386948"/>
          </a:solidFill>
          <a:ln w="12700">
            <a:solidFill>
              <a:srgbClr val="386948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782312" y="2721254"/>
            <a:ext cx="24688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2Z" pitchFamily="34" charset="0"/>
                <a:ea typeface="A2Z" pitchFamily="34" charset="-122"/>
                <a:cs typeface="A2Z" pitchFamily="34" charset="-120"/>
              </a:rPr>
              <a:t>3</a:t>
            </a:r>
            <a:endParaRPr lang="en-US" sz="700" dirty="0"/>
          </a:p>
        </p:txBody>
      </p:sp>
      <p:sp>
        <p:nvSpPr>
          <p:cNvPr id="22" name="Text 19"/>
          <p:cNvSpPr/>
          <p:nvPr/>
        </p:nvSpPr>
        <p:spPr>
          <a:xfrm>
            <a:off x="5138928" y="2651760"/>
            <a:ext cx="11247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2C342E"/>
                </a:solidFill>
                <a:latin typeface="A2Z" pitchFamily="34" charset="0"/>
                <a:ea typeface="A2Z" pitchFamily="34" charset="-122"/>
                <a:cs typeface="A2Z" pitchFamily="34" charset="-120"/>
              </a:rPr>
              <a:t>AlarmRepository</a:t>
            </a:r>
            <a:endParaRPr lang="en-US" sz="820" dirty="0"/>
          </a:p>
        </p:txBody>
      </p:sp>
      <p:sp>
        <p:nvSpPr>
          <p:cNvPr id="23" name="Shape 20"/>
          <p:cNvSpPr/>
          <p:nvPr/>
        </p:nvSpPr>
        <p:spPr>
          <a:xfrm>
            <a:off x="6629400" y="2450592"/>
            <a:ext cx="2029968" cy="694944"/>
          </a:xfrm>
          <a:prstGeom prst="roundRect">
            <a:avLst>
              <a:gd name="adj" fmla="val 9211"/>
            </a:avLst>
          </a:prstGeom>
          <a:solidFill>
            <a:srgbClr val="FFFFFF"/>
          </a:solidFill>
          <a:ln w="12700">
            <a:solidFill>
              <a:srgbClr val="DAE6DD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6748272" y="2660904"/>
            <a:ext cx="246888" cy="246888"/>
          </a:xfrm>
          <a:prstGeom prst="ellipse">
            <a:avLst>
              <a:gd name="adj" fmla="val 29630"/>
            </a:avLst>
          </a:prstGeom>
          <a:solidFill>
            <a:srgbClr val="386948"/>
          </a:solidFill>
          <a:ln w="12700">
            <a:solidFill>
              <a:srgbClr val="386948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748272" y="2721254"/>
            <a:ext cx="24688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2Z" pitchFamily="34" charset="0"/>
                <a:ea typeface="A2Z" pitchFamily="34" charset="-122"/>
                <a:cs typeface="A2Z" pitchFamily="34" charset="-120"/>
              </a:rPr>
              <a:t>4</a:t>
            </a:r>
            <a:endParaRPr lang="en-US" sz="700" dirty="0"/>
          </a:p>
        </p:txBody>
      </p:sp>
      <p:sp>
        <p:nvSpPr>
          <p:cNvPr id="26" name="Text 23"/>
          <p:cNvSpPr/>
          <p:nvPr/>
        </p:nvSpPr>
        <p:spPr>
          <a:xfrm>
            <a:off x="7104888" y="2651760"/>
            <a:ext cx="1453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2C342E"/>
                </a:solidFill>
                <a:latin typeface="A2Z" pitchFamily="34" charset="0"/>
                <a:ea typeface="A2Z" pitchFamily="34" charset="-122"/>
                <a:cs typeface="A2Z" pitchFamily="34" charset="-120"/>
              </a:rPr>
              <a:t>AlarmNotification</a:t>
            </a:r>
            <a:endParaRPr lang="en-US" sz="820" dirty="0"/>
          </a:p>
          <a:p>
            <a:pPr indent="0" marL="0">
              <a:buNone/>
            </a:pPr>
            <a:r>
              <a:rPr lang="en-US" sz="820" b="1" dirty="0">
                <a:solidFill>
                  <a:srgbClr val="2C342E"/>
                </a:solidFill>
                <a:latin typeface="A2Z" pitchFamily="34" charset="0"/>
                <a:ea typeface="A2Z" pitchFamily="34" charset="-122"/>
                <a:cs typeface="A2Z" pitchFamily="34" charset="-120"/>
              </a:rPr>
              <a:t>Service</a:t>
            </a:r>
            <a:endParaRPr lang="en-US" sz="820" dirty="0"/>
          </a:p>
        </p:txBody>
      </p:sp>
      <p:sp>
        <p:nvSpPr>
          <p:cNvPr id="27" name="Shape 24"/>
          <p:cNvSpPr/>
          <p:nvPr/>
        </p:nvSpPr>
        <p:spPr>
          <a:xfrm>
            <a:off x="9180576" y="2450592"/>
            <a:ext cx="1847088" cy="694944"/>
          </a:xfrm>
          <a:prstGeom prst="roundRect">
            <a:avLst>
              <a:gd name="adj" fmla="val 9211"/>
            </a:avLst>
          </a:prstGeom>
          <a:solidFill>
            <a:srgbClr val="FFFFFF"/>
          </a:solidFill>
          <a:ln w="12700">
            <a:solidFill>
              <a:srgbClr val="DAE6DD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9299448" y="2660904"/>
            <a:ext cx="246888" cy="246888"/>
          </a:xfrm>
          <a:prstGeom prst="ellipse">
            <a:avLst>
              <a:gd name="adj" fmla="val 29630"/>
            </a:avLst>
          </a:prstGeom>
          <a:solidFill>
            <a:srgbClr val="386948"/>
          </a:solidFill>
          <a:ln w="12700">
            <a:solidFill>
              <a:srgbClr val="386948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9299448" y="2721254"/>
            <a:ext cx="24688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2Z" pitchFamily="34" charset="0"/>
                <a:ea typeface="A2Z" pitchFamily="34" charset="-122"/>
                <a:cs typeface="A2Z" pitchFamily="34" charset="-120"/>
              </a:rPr>
              <a:t>5</a:t>
            </a:r>
            <a:endParaRPr lang="en-US" sz="700" dirty="0"/>
          </a:p>
        </p:txBody>
      </p:sp>
      <p:sp>
        <p:nvSpPr>
          <p:cNvPr id="30" name="Text 27"/>
          <p:cNvSpPr/>
          <p:nvPr/>
        </p:nvSpPr>
        <p:spPr>
          <a:xfrm>
            <a:off x="9656064" y="2651760"/>
            <a:ext cx="12710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2C342E"/>
                </a:solidFill>
                <a:latin typeface="A2Z" pitchFamily="34" charset="0"/>
                <a:ea typeface="A2Z" pitchFamily="34" charset="-122"/>
                <a:cs typeface="A2Z" pitchFamily="34" charset="-120"/>
              </a:rPr>
              <a:t>Android 로컬 예약</a:t>
            </a:r>
            <a:endParaRPr lang="en-US" sz="820" dirty="0"/>
          </a:p>
        </p:txBody>
      </p:sp>
      <p:sp>
        <p:nvSpPr>
          <p:cNvPr id="31" name="Shape 28"/>
          <p:cNvSpPr/>
          <p:nvPr/>
        </p:nvSpPr>
        <p:spPr>
          <a:xfrm>
            <a:off x="2313432" y="2734056"/>
            <a:ext cx="164592" cy="128016"/>
          </a:xfrm>
          <a:prstGeom prst="chevron">
            <a:avLst/>
          </a:prstGeom>
          <a:solidFill>
            <a:srgbClr val="B9EFC5"/>
          </a:solidFill>
          <a:ln w="12700">
            <a:solidFill>
              <a:srgbClr val="B9EFC5">
                <a:alpha val="0"/>
              </a:srgbClr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2203704" y="2496312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386948"/>
                </a:solidFill>
                <a:latin typeface="A2Z" pitchFamily="34" charset="0"/>
                <a:ea typeface="A2Z" pitchFamily="34" charset="-122"/>
                <a:cs typeface="A2Z" pitchFamily="34" charset="-120"/>
              </a:rPr>
              <a:t>저장</a:t>
            </a:r>
            <a:endParaRPr lang="en-US" sz="700" dirty="0"/>
          </a:p>
        </p:txBody>
      </p:sp>
      <p:sp>
        <p:nvSpPr>
          <p:cNvPr id="33" name="Shape 30"/>
          <p:cNvSpPr/>
          <p:nvPr/>
        </p:nvSpPr>
        <p:spPr>
          <a:xfrm>
            <a:off x="4471416" y="2734056"/>
            <a:ext cx="155448" cy="128016"/>
          </a:xfrm>
          <a:prstGeom prst="chevron">
            <a:avLst/>
          </a:prstGeom>
          <a:solidFill>
            <a:srgbClr val="B9EFC5"/>
          </a:solidFill>
          <a:ln w="12700">
            <a:solidFill>
              <a:srgbClr val="B9EFC5">
                <a:alpha val="0"/>
              </a:srgbClr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4361688" y="2496312"/>
            <a:ext cx="3749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386948"/>
                </a:solidFill>
                <a:latin typeface="A2Z" pitchFamily="34" charset="0"/>
                <a:ea typeface="A2Z" pitchFamily="34" charset="-122"/>
                <a:cs typeface="A2Z" pitchFamily="34" charset="-120"/>
              </a:rPr>
              <a:t>요청</a:t>
            </a:r>
            <a:endParaRPr lang="en-US" sz="700" dirty="0"/>
          </a:p>
        </p:txBody>
      </p:sp>
      <p:sp>
        <p:nvSpPr>
          <p:cNvPr id="35" name="Shape 32"/>
          <p:cNvSpPr/>
          <p:nvPr/>
        </p:nvSpPr>
        <p:spPr>
          <a:xfrm>
            <a:off x="6400800" y="2734056"/>
            <a:ext cx="164592" cy="128016"/>
          </a:xfrm>
          <a:prstGeom prst="chevron">
            <a:avLst/>
          </a:prstGeom>
          <a:solidFill>
            <a:srgbClr val="B9EFC5"/>
          </a:solidFill>
          <a:ln w="12700">
            <a:solidFill>
              <a:srgbClr val="B9EFC5">
                <a:alpha val="0"/>
              </a:srgbClr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6291072" y="2496312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386948"/>
                </a:solidFill>
                <a:latin typeface="A2Z" pitchFamily="34" charset="0"/>
                <a:ea typeface="A2Z" pitchFamily="34" charset="-122"/>
                <a:cs typeface="A2Z" pitchFamily="34" charset="-120"/>
              </a:rPr>
              <a:t>갱신</a:t>
            </a:r>
            <a:endParaRPr lang="en-US" sz="700" dirty="0"/>
          </a:p>
        </p:txBody>
      </p:sp>
      <p:sp>
        <p:nvSpPr>
          <p:cNvPr id="37" name="Shape 34"/>
          <p:cNvSpPr/>
          <p:nvPr/>
        </p:nvSpPr>
        <p:spPr>
          <a:xfrm>
            <a:off x="8897112" y="2734056"/>
            <a:ext cx="182880" cy="128016"/>
          </a:xfrm>
          <a:prstGeom prst="chevron">
            <a:avLst/>
          </a:prstGeom>
          <a:solidFill>
            <a:srgbClr val="B9EFC5"/>
          </a:solidFill>
          <a:ln w="12700">
            <a:solidFill>
              <a:srgbClr val="B9EFC5">
                <a:alpha val="0"/>
              </a:srgbClr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8787384" y="2496312"/>
            <a:ext cx="4023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386948"/>
                </a:solidFill>
                <a:latin typeface="A2Z" pitchFamily="34" charset="0"/>
                <a:ea typeface="A2Z" pitchFamily="34" charset="-122"/>
                <a:cs typeface="A2Z" pitchFamily="34" charset="-120"/>
              </a:rPr>
              <a:t>예약</a:t>
            </a:r>
            <a:endParaRPr lang="en-US" sz="700" dirty="0"/>
          </a:p>
        </p:txBody>
      </p:sp>
      <p:sp>
        <p:nvSpPr>
          <p:cNvPr id="39" name="Text 36"/>
          <p:cNvSpPr/>
          <p:nvPr/>
        </p:nvSpPr>
        <p:spPr>
          <a:xfrm>
            <a:off x="630936" y="3730752"/>
            <a:ext cx="2331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4" kern="0" dirty="0">
                <a:solidFill>
                  <a:srgbClr val="386948"/>
                </a:solidFill>
                <a:latin typeface="A2Z" pitchFamily="34" charset="0"/>
                <a:ea typeface="A2Z" pitchFamily="34" charset="-122"/>
                <a:cs typeface="A2Z" pitchFamily="34" charset="-120"/>
              </a:rPr>
              <a:t>REPOSITORY BRANCH</a:t>
            </a:r>
            <a:endParaRPr lang="en-US" sz="850" dirty="0"/>
          </a:p>
        </p:txBody>
      </p:sp>
      <p:sp>
        <p:nvSpPr>
          <p:cNvPr id="40" name="Shape 37"/>
          <p:cNvSpPr/>
          <p:nvPr/>
        </p:nvSpPr>
        <p:spPr>
          <a:xfrm>
            <a:off x="621792" y="4087368"/>
            <a:ext cx="5340096" cy="1344168"/>
          </a:xfrm>
          <a:prstGeom prst="roundRect">
            <a:avLst>
              <a:gd name="adj" fmla="val 6122"/>
            </a:avLst>
          </a:prstGeom>
          <a:solidFill>
            <a:srgbClr val="FFFFFF"/>
          </a:solidFill>
          <a:ln w="12700">
            <a:solidFill>
              <a:srgbClr val="DAE6DD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832104" y="4270248"/>
            <a:ext cx="49286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342E"/>
                </a:solidFill>
                <a:latin typeface="KIMM_Bold" pitchFamily="34" charset="0"/>
                <a:ea typeface="KIMM_Bold" pitchFamily="34" charset="-122"/>
                <a:cs typeface="KIMM_Bold" pitchFamily="34" charset="-120"/>
              </a:rPr>
              <a:t>로그아웃 / 로컬 모드</a:t>
            </a:r>
            <a:endParaRPr lang="en-US" sz="1200" dirty="0"/>
          </a:p>
        </p:txBody>
      </p:sp>
      <p:sp>
        <p:nvSpPr>
          <p:cNvPr id="42" name="Text 39"/>
          <p:cNvSpPr/>
          <p:nvPr/>
        </p:nvSpPr>
        <p:spPr>
          <a:xfrm>
            <a:off x="841248" y="4681728"/>
            <a:ext cx="49011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168"/>
                </a:solidFill>
                <a:latin typeface="A2Z" pitchFamily="34" charset="0"/>
                <a:ea typeface="A2Z" pitchFamily="34" charset="-122"/>
                <a:cs typeface="A2Z" pitchFamily="34" charset="-120"/>
              </a:rPr>
              <a:t>LocalDemoAlarmRepository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47168"/>
                </a:solidFill>
                <a:latin typeface="A2Z" pitchFamily="34" charset="0"/>
                <a:ea typeface="A2Z" pitchFamily="34" charset="-122"/>
                <a:cs typeface="A2Z" pitchFamily="34" charset="-120"/>
              </a:rPr>
              <a:t>-&gt; SharedPreferences</a:t>
            </a:r>
            <a:endParaRPr lang="en-US" sz="1200" dirty="0"/>
          </a:p>
        </p:txBody>
      </p:sp>
      <p:sp>
        <p:nvSpPr>
          <p:cNvPr id="43" name="Shape 40"/>
          <p:cNvSpPr/>
          <p:nvPr/>
        </p:nvSpPr>
        <p:spPr>
          <a:xfrm>
            <a:off x="6245352" y="4087368"/>
            <a:ext cx="5330952" cy="1344168"/>
          </a:xfrm>
          <a:prstGeom prst="roundRect">
            <a:avLst>
              <a:gd name="adj" fmla="val 6122"/>
            </a:avLst>
          </a:prstGeom>
          <a:solidFill>
            <a:srgbClr val="E7F7EB"/>
          </a:solidFill>
          <a:ln w="12700">
            <a:solidFill>
              <a:srgbClr val="B9EFC5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6455664" y="4270248"/>
            <a:ext cx="49194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342E"/>
                </a:solidFill>
                <a:latin typeface="KIMM_Bold" pitchFamily="34" charset="0"/>
                <a:ea typeface="KIMM_Bold" pitchFamily="34" charset="-122"/>
                <a:cs typeface="KIMM_Bold" pitchFamily="34" charset="-120"/>
              </a:rPr>
              <a:t>로그인 + 활성 그룹 모드</a:t>
            </a:r>
            <a:endParaRPr lang="en-US" sz="1200" dirty="0"/>
          </a:p>
        </p:txBody>
      </p:sp>
      <p:sp>
        <p:nvSpPr>
          <p:cNvPr id="45" name="Text 42"/>
          <p:cNvSpPr/>
          <p:nvPr/>
        </p:nvSpPr>
        <p:spPr>
          <a:xfrm>
            <a:off x="6464808" y="4681728"/>
            <a:ext cx="4892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168"/>
                </a:solidFill>
                <a:latin typeface="A2Z" pitchFamily="34" charset="0"/>
                <a:ea typeface="A2Z" pitchFamily="34" charset="-122"/>
                <a:cs typeface="A2Z" pitchFamily="34" charset="-120"/>
              </a:rPr>
              <a:t>FirebaseAlarmRepository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47168"/>
                </a:solidFill>
                <a:latin typeface="A2Z" pitchFamily="34" charset="0"/>
                <a:ea typeface="A2Z" pitchFamily="34" charset="-122"/>
                <a:cs typeface="A2Z" pitchFamily="34" charset="-120"/>
              </a:rPr>
              <a:t>-&gt; Cloud Firestore</a:t>
            </a:r>
            <a:endParaRPr lang="en-US" sz="1200" dirty="0"/>
          </a:p>
        </p:txBody>
      </p:sp>
      <p:sp>
        <p:nvSpPr>
          <p:cNvPr id="46" name="Text 43"/>
          <p:cNvSpPr/>
          <p:nvPr/>
        </p:nvSpPr>
        <p:spPr>
          <a:xfrm>
            <a:off x="640080" y="5815584"/>
            <a:ext cx="10927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30" b="1" dirty="0">
                <a:solidFill>
                  <a:srgbClr val="386948"/>
                </a:solidFill>
                <a:latin typeface="A2Z" pitchFamily="34" charset="0"/>
                <a:ea typeface="A2Z" pitchFamily="34" charset="-122"/>
                <a:cs typeface="A2Z" pitchFamily="34" charset="-120"/>
              </a:rPr>
              <a:t>저장 위치가 달라도 Android 로컬 알람 예약 갱신은 공통으로 수행됩니다.</a:t>
            </a:r>
            <a:endParaRPr lang="en-US" sz="103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A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720840" y="0"/>
            <a:ext cx="547085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7827264" cy="6858000"/>
          </a:xfrm>
          <a:prstGeom prst="rect">
            <a:avLst/>
          </a:prstGeom>
          <a:solidFill>
            <a:srgbClr val="F7FAF4"/>
          </a:solidFill>
          <a:ln w="12700">
            <a:solidFill>
              <a:srgbClr val="F7FAF4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603504" y="384048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386948"/>
                </a:solidFill>
                <a:latin typeface="A2Z" pitchFamily="34" charset="0"/>
                <a:ea typeface="A2Z" pitchFamily="34" charset="-122"/>
                <a:cs typeface="A2Z" pitchFamily="34" charset="-120"/>
              </a:rPr>
              <a:t>LET'S ALARM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9235440" y="384048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47168"/>
                </a:solidFill>
                <a:latin typeface="A2Z" pitchFamily="34" charset="0"/>
                <a:ea typeface="A2Z" pitchFamily="34" charset="-122"/>
                <a:cs typeface="A2Z" pitchFamily="34" charset="-120"/>
              </a:rPr>
              <a:t>평가 (2) 전체 구조도 설명</a:t>
            </a:r>
            <a:endParaRPr lang="en-US" sz="800" dirty="0"/>
          </a:p>
        </p:txBody>
      </p:sp>
      <p:sp>
        <p:nvSpPr>
          <p:cNvPr id="6" name="Shape 3"/>
          <p:cNvSpPr/>
          <p:nvPr/>
        </p:nvSpPr>
        <p:spPr>
          <a:xfrm>
            <a:off x="603504" y="704088"/>
            <a:ext cx="10981944" cy="0"/>
          </a:xfrm>
          <a:prstGeom prst="line">
            <a:avLst/>
          </a:prstGeom>
          <a:noFill/>
          <a:ln w="12700">
            <a:solidFill>
              <a:srgbClr val="DAE6DD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03504" y="6419088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15" kern="0" dirty="0">
                <a:solidFill>
                  <a:srgbClr val="647168"/>
                </a:solidFill>
                <a:latin typeface="A2Z" pitchFamily="34" charset="0"/>
                <a:ea typeface="A2Z" pitchFamily="34" charset="-122"/>
                <a:cs typeface="A2Z" pitchFamily="34" charset="-120"/>
              </a:rPr>
              <a:t>UI/UX PROGRAMMING   /   TEAM 06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11155680" y="6419088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86948"/>
                </a:solidFill>
                <a:latin typeface="A2Z" pitchFamily="34" charset="0"/>
                <a:ea typeface="A2Z" pitchFamily="34" charset="-122"/>
                <a:cs typeface="A2Z" pitchFamily="34" charset="-120"/>
              </a:rPr>
              <a:t>07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594360" y="969264"/>
            <a:ext cx="8869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C342E"/>
                </a:solidFill>
                <a:latin typeface="KIMM_Bold" pitchFamily="34" charset="0"/>
                <a:ea typeface="KIMM_Bold" pitchFamily="34" charset="-122"/>
                <a:cs typeface="KIMM_Bold" pitchFamily="34" charset="-120"/>
              </a:rPr>
              <a:t>기능 흐름 및 구현 진행</a:t>
            </a:r>
            <a:endParaRPr lang="en-US" sz="2700" dirty="0"/>
          </a:p>
        </p:txBody>
      </p:sp>
      <p:sp>
        <p:nvSpPr>
          <p:cNvPr id="10" name="Text 7"/>
          <p:cNvSpPr/>
          <p:nvPr/>
        </p:nvSpPr>
        <p:spPr>
          <a:xfrm>
            <a:off x="612648" y="1545336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86948"/>
                </a:solidFill>
                <a:latin typeface="A2Z" pitchFamily="34" charset="0"/>
                <a:ea typeface="A2Z" pitchFamily="34" charset="-122"/>
                <a:cs typeface="A2Z" pitchFamily="34" charset="-120"/>
              </a:rPr>
              <a:t>동기화 흐름과 실제 울림 제어 흐름을 분리하여 설명합니다.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621792" y="2121408"/>
            <a:ext cx="10972800" cy="1143000"/>
          </a:xfrm>
          <a:prstGeom prst="roundRect">
            <a:avLst>
              <a:gd name="adj" fmla="val 6400"/>
            </a:avLst>
          </a:prstGeom>
          <a:solidFill>
            <a:srgbClr val="E7F7EB"/>
          </a:solidFill>
          <a:ln w="12700">
            <a:solidFill>
              <a:srgbClr val="E7F7E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2286000"/>
            <a:ext cx="20848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70" kern="0" dirty="0">
                <a:solidFill>
                  <a:srgbClr val="386948"/>
                </a:solidFill>
                <a:latin typeface="A2Z" pitchFamily="34" charset="0"/>
                <a:ea typeface="A2Z" pitchFamily="34" charset="-122"/>
                <a:cs typeface="A2Z" pitchFamily="34" charset="-120"/>
              </a:rPr>
              <a:t>변경 동기화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832104" y="2688336"/>
            <a:ext cx="228600" cy="228600"/>
          </a:xfrm>
          <a:prstGeom prst="ellipse">
            <a:avLst>
              <a:gd name="adj" fmla="val 32000"/>
            </a:avLst>
          </a:prstGeom>
          <a:solidFill>
            <a:srgbClr val="386948"/>
          </a:solidFill>
          <a:ln w="12700">
            <a:solidFill>
              <a:srgbClr val="38694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32104" y="2740457"/>
            <a:ext cx="228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70" b="1" dirty="0">
                <a:solidFill>
                  <a:srgbClr val="FFFFFF"/>
                </a:solidFill>
                <a:latin typeface="A2Z" pitchFamily="34" charset="0"/>
                <a:ea typeface="A2Z" pitchFamily="34" charset="-122"/>
                <a:cs typeface="A2Z" pitchFamily="34" charset="-120"/>
              </a:rPr>
              <a:t>1</a:t>
            </a:r>
            <a:endParaRPr lang="en-US" sz="670" dirty="0"/>
          </a:p>
        </p:txBody>
      </p:sp>
      <p:sp>
        <p:nvSpPr>
          <p:cNvPr id="15" name="Text 12"/>
          <p:cNvSpPr/>
          <p:nvPr/>
        </p:nvSpPr>
        <p:spPr>
          <a:xfrm>
            <a:off x="1152144" y="2660904"/>
            <a:ext cx="16002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C342E"/>
                </a:solidFill>
                <a:latin typeface="A2Z" pitchFamily="34" charset="0"/>
                <a:ea typeface="A2Z" pitchFamily="34" charset="-122"/>
                <a:cs typeface="A2Z" pitchFamily="34" charset="-120"/>
              </a:rPr>
              <a:t>기기 A</a:t>
            </a:r>
            <a:endParaRPr lang="en-US" sz="800" dirty="0"/>
          </a:p>
          <a:p>
            <a:pPr indent="0" marL="0">
              <a:buNone/>
            </a:pPr>
            <a:r>
              <a:rPr lang="en-US" sz="800" b="1" dirty="0">
                <a:solidFill>
                  <a:srgbClr val="2C342E"/>
                </a:solidFill>
                <a:latin typeface="A2Z" pitchFamily="34" charset="0"/>
                <a:ea typeface="A2Z" pitchFamily="34" charset="-122"/>
                <a:cs typeface="A2Z" pitchFamily="34" charset="-120"/>
              </a:rPr>
              <a:t>알람 수정</a:t>
            </a:r>
            <a:endParaRPr lang="en-US" sz="800" dirty="0"/>
          </a:p>
        </p:txBody>
      </p:sp>
      <p:sp>
        <p:nvSpPr>
          <p:cNvPr id="16" name="Shape 13"/>
          <p:cNvSpPr/>
          <p:nvPr/>
        </p:nvSpPr>
        <p:spPr>
          <a:xfrm>
            <a:off x="2715768" y="2752344"/>
            <a:ext cx="109728" cy="128016"/>
          </a:xfrm>
          <a:prstGeom prst="chevron">
            <a:avLst/>
          </a:prstGeom>
          <a:solidFill>
            <a:srgbClr val="B9EFC5"/>
          </a:solidFill>
          <a:ln w="12700">
            <a:solidFill>
              <a:srgbClr val="B9EFC5">
                <a:alpha val="0"/>
              </a:srgbClr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2889504" y="2688336"/>
            <a:ext cx="228600" cy="228600"/>
          </a:xfrm>
          <a:prstGeom prst="ellipse">
            <a:avLst>
              <a:gd name="adj" fmla="val 32000"/>
            </a:avLst>
          </a:prstGeom>
          <a:solidFill>
            <a:srgbClr val="386948"/>
          </a:solidFill>
          <a:ln w="12700">
            <a:solidFill>
              <a:srgbClr val="38694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2889504" y="2740457"/>
            <a:ext cx="228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70" b="1" dirty="0">
                <a:solidFill>
                  <a:srgbClr val="FFFFFF"/>
                </a:solidFill>
                <a:latin typeface="A2Z" pitchFamily="34" charset="0"/>
                <a:ea typeface="A2Z" pitchFamily="34" charset="-122"/>
                <a:cs typeface="A2Z" pitchFamily="34" charset="-120"/>
              </a:rPr>
              <a:t>2</a:t>
            </a:r>
            <a:endParaRPr lang="en-US" sz="670" dirty="0"/>
          </a:p>
        </p:txBody>
      </p:sp>
      <p:sp>
        <p:nvSpPr>
          <p:cNvPr id="19" name="Text 16"/>
          <p:cNvSpPr/>
          <p:nvPr/>
        </p:nvSpPr>
        <p:spPr>
          <a:xfrm>
            <a:off x="3209544" y="2660904"/>
            <a:ext cx="16002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C342E"/>
                </a:solidFill>
                <a:latin typeface="A2Z" pitchFamily="34" charset="0"/>
                <a:ea typeface="A2Z" pitchFamily="34" charset="-122"/>
                <a:cs typeface="A2Z" pitchFamily="34" charset="-120"/>
              </a:rPr>
              <a:t>Firestore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4773168" y="2752344"/>
            <a:ext cx="109728" cy="128016"/>
          </a:xfrm>
          <a:prstGeom prst="chevron">
            <a:avLst/>
          </a:prstGeom>
          <a:solidFill>
            <a:srgbClr val="B9EFC5"/>
          </a:solidFill>
          <a:ln w="12700">
            <a:solidFill>
              <a:srgbClr val="B9EFC5">
                <a:alpha val="0"/>
              </a:srgbClr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4946904" y="2688336"/>
            <a:ext cx="228600" cy="228600"/>
          </a:xfrm>
          <a:prstGeom prst="ellipse">
            <a:avLst>
              <a:gd name="adj" fmla="val 32000"/>
            </a:avLst>
          </a:prstGeom>
          <a:solidFill>
            <a:srgbClr val="386948"/>
          </a:solidFill>
          <a:ln w="12700">
            <a:solidFill>
              <a:srgbClr val="386948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946904" y="2740457"/>
            <a:ext cx="228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70" b="1" dirty="0">
                <a:solidFill>
                  <a:srgbClr val="FFFFFF"/>
                </a:solidFill>
                <a:latin typeface="A2Z" pitchFamily="34" charset="0"/>
                <a:ea typeface="A2Z" pitchFamily="34" charset="-122"/>
                <a:cs typeface="A2Z" pitchFamily="34" charset="-120"/>
              </a:rPr>
              <a:t>3</a:t>
            </a:r>
            <a:endParaRPr lang="en-US" sz="670" dirty="0"/>
          </a:p>
        </p:txBody>
      </p:sp>
      <p:sp>
        <p:nvSpPr>
          <p:cNvPr id="23" name="Text 20"/>
          <p:cNvSpPr/>
          <p:nvPr/>
        </p:nvSpPr>
        <p:spPr>
          <a:xfrm>
            <a:off x="5266944" y="2660904"/>
            <a:ext cx="16002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C342E"/>
                </a:solidFill>
                <a:latin typeface="A2Z" pitchFamily="34" charset="0"/>
                <a:ea typeface="A2Z" pitchFamily="34" charset="-122"/>
                <a:cs typeface="A2Z" pitchFamily="34" charset="-120"/>
              </a:rPr>
              <a:t>Functions</a:t>
            </a:r>
            <a:endParaRPr lang="en-US" sz="800" dirty="0"/>
          </a:p>
        </p:txBody>
      </p:sp>
      <p:sp>
        <p:nvSpPr>
          <p:cNvPr id="24" name="Shape 21"/>
          <p:cNvSpPr/>
          <p:nvPr/>
        </p:nvSpPr>
        <p:spPr>
          <a:xfrm>
            <a:off x="6830568" y="2752344"/>
            <a:ext cx="109728" cy="128016"/>
          </a:xfrm>
          <a:prstGeom prst="chevron">
            <a:avLst/>
          </a:prstGeom>
          <a:solidFill>
            <a:srgbClr val="B9EFC5"/>
          </a:solidFill>
          <a:ln w="12700">
            <a:solidFill>
              <a:srgbClr val="B9EFC5">
                <a:alpha val="0"/>
              </a:srgbClr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7004304" y="2688336"/>
            <a:ext cx="228600" cy="228600"/>
          </a:xfrm>
          <a:prstGeom prst="ellipse">
            <a:avLst>
              <a:gd name="adj" fmla="val 32000"/>
            </a:avLst>
          </a:prstGeom>
          <a:solidFill>
            <a:srgbClr val="386948"/>
          </a:solidFill>
          <a:ln w="12700">
            <a:solidFill>
              <a:srgbClr val="386948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004304" y="2740457"/>
            <a:ext cx="228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70" b="1" dirty="0">
                <a:solidFill>
                  <a:srgbClr val="FFFFFF"/>
                </a:solidFill>
                <a:latin typeface="A2Z" pitchFamily="34" charset="0"/>
                <a:ea typeface="A2Z" pitchFamily="34" charset="-122"/>
                <a:cs typeface="A2Z" pitchFamily="34" charset="-120"/>
              </a:rPr>
              <a:t>4</a:t>
            </a:r>
            <a:endParaRPr lang="en-US" sz="670" dirty="0"/>
          </a:p>
        </p:txBody>
      </p:sp>
      <p:sp>
        <p:nvSpPr>
          <p:cNvPr id="27" name="Text 24"/>
          <p:cNvSpPr/>
          <p:nvPr/>
        </p:nvSpPr>
        <p:spPr>
          <a:xfrm>
            <a:off x="7324344" y="2660904"/>
            <a:ext cx="16002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C342E"/>
                </a:solidFill>
                <a:latin typeface="A2Z" pitchFamily="34" charset="0"/>
                <a:ea typeface="A2Z" pitchFamily="34" charset="-122"/>
                <a:cs typeface="A2Z" pitchFamily="34" charset="-120"/>
              </a:rPr>
              <a:t>FCM</a:t>
            </a:r>
            <a:endParaRPr lang="en-US" sz="800" dirty="0"/>
          </a:p>
        </p:txBody>
      </p:sp>
      <p:sp>
        <p:nvSpPr>
          <p:cNvPr id="28" name="Shape 25"/>
          <p:cNvSpPr/>
          <p:nvPr/>
        </p:nvSpPr>
        <p:spPr>
          <a:xfrm>
            <a:off x="8887968" y="2752344"/>
            <a:ext cx="109728" cy="128016"/>
          </a:xfrm>
          <a:prstGeom prst="chevron">
            <a:avLst/>
          </a:prstGeom>
          <a:solidFill>
            <a:srgbClr val="B9EFC5"/>
          </a:solidFill>
          <a:ln w="12700">
            <a:solidFill>
              <a:srgbClr val="B9EFC5">
                <a:alpha val="0"/>
              </a:srgbClr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9061704" y="2688336"/>
            <a:ext cx="228600" cy="228600"/>
          </a:xfrm>
          <a:prstGeom prst="ellipse">
            <a:avLst>
              <a:gd name="adj" fmla="val 32000"/>
            </a:avLst>
          </a:prstGeom>
          <a:solidFill>
            <a:srgbClr val="386948"/>
          </a:solidFill>
          <a:ln w="12700">
            <a:solidFill>
              <a:srgbClr val="386948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9061704" y="2740457"/>
            <a:ext cx="228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70" b="1" dirty="0">
                <a:solidFill>
                  <a:srgbClr val="FFFFFF"/>
                </a:solidFill>
                <a:latin typeface="A2Z" pitchFamily="34" charset="0"/>
                <a:ea typeface="A2Z" pitchFamily="34" charset="-122"/>
                <a:cs typeface="A2Z" pitchFamily="34" charset="-120"/>
              </a:rPr>
              <a:t>5</a:t>
            </a:r>
            <a:endParaRPr lang="en-US" sz="670" dirty="0"/>
          </a:p>
        </p:txBody>
      </p:sp>
      <p:sp>
        <p:nvSpPr>
          <p:cNvPr id="31" name="Text 28"/>
          <p:cNvSpPr/>
          <p:nvPr/>
        </p:nvSpPr>
        <p:spPr>
          <a:xfrm>
            <a:off x="9381744" y="2660904"/>
            <a:ext cx="16002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C342E"/>
                </a:solidFill>
                <a:latin typeface="A2Z" pitchFamily="34" charset="0"/>
                <a:ea typeface="A2Z" pitchFamily="34" charset="-122"/>
                <a:cs typeface="A2Z" pitchFamily="34" charset="-120"/>
              </a:rPr>
              <a:t>기기 B</a:t>
            </a:r>
            <a:endParaRPr lang="en-US" sz="800" dirty="0"/>
          </a:p>
          <a:p>
            <a:pPr indent="0" marL="0">
              <a:buNone/>
            </a:pPr>
            <a:r>
              <a:rPr lang="en-US" sz="800" b="1" dirty="0">
                <a:solidFill>
                  <a:srgbClr val="2C342E"/>
                </a:solidFill>
                <a:latin typeface="A2Z" pitchFamily="34" charset="0"/>
                <a:ea typeface="A2Z" pitchFamily="34" charset="-122"/>
                <a:cs typeface="A2Z" pitchFamily="34" charset="-120"/>
              </a:rPr>
              <a:t>예약 갱신</a:t>
            </a:r>
            <a:endParaRPr lang="en-US" sz="800" dirty="0"/>
          </a:p>
        </p:txBody>
      </p:sp>
      <p:sp>
        <p:nvSpPr>
          <p:cNvPr id="32" name="Shape 29"/>
          <p:cNvSpPr/>
          <p:nvPr/>
        </p:nvSpPr>
        <p:spPr>
          <a:xfrm>
            <a:off x="621792" y="3547872"/>
            <a:ext cx="109728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822960" y="3712464"/>
            <a:ext cx="20848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70" kern="0" dirty="0">
                <a:solidFill>
                  <a:srgbClr val="386948"/>
                </a:solidFill>
                <a:latin typeface="A2Z" pitchFamily="34" charset="0"/>
                <a:ea typeface="A2Z" pitchFamily="34" charset="-122"/>
                <a:cs typeface="A2Z" pitchFamily="34" charset="-120"/>
              </a:rPr>
              <a:t>울림 제어</a:t>
            </a:r>
            <a:endParaRPr lang="en-US" sz="900" dirty="0"/>
          </a:p>
        </p:txBody>
      </p:sp>
      <p:sp>
        <p:nvSpPr>
          <p:cNvPr id="34" name="Shape 31"/>
          <p:cNvSpPr/>
          <p:nvPr/>
        </p:nvSpPr>
        <p:spPr>
          <a:xfrm>
            <a:off x="832104" y="4114800"/>
            <a:ext cx="228600" cy="228600"/>
          </a:xfrm>
          <a:prstGeom prst="ellipse">
            <a:avLst>
              <a:gd name="adj" fmla="val 32000"/>
            </a:avLst>
          </a:prstGeom>
          <a:solidFill>
            <a:srgbClr val="386948"/>
          </a:solidFill>
          <a:ln w="12700">
            <a:solidFill>
              <a:srgbClr val="386948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832104" y="4166921"/>
            <a:ext cx="228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70" b="1" dirty="0">
                <a:solidFill>
                  <a:srgbClr val="FFFFFF"/>
                </a:solidFill>
                <a:latin typeface="A2Z" pitchFamily="34" charset="0"/>
                <a:ea typeface="A2Z" pitchFamily="34" charset="-122"/>
                <a:cs typeface="A2Z" pitchFamily="34" charset="-120"/>
              </a:rPr>
              <a:t>1</a:t>
            </a:r>
            <a:endParaRPr lang="en-US" sz="670" dirty="0"/>
          </a:p>
        </p:txBody>
      </p:sp>
      <p:sp>
        <p:nvSpPr>
          <p:cNvPr id="36" name="Text 33"/>
          <p:cNvSpPr/>
          <p:nvPr/>
        </p:nvSpPr>
        <p:spPr>
          <a:xfrm>
            <a:off x="1152144" y="4087368"/>
            <a:ext cx="16002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C342E"/>
                </a:solidFill>
                <a:latin typeface="A2Z" pitchFamily="34" charset="0"/>
                <a:ea typeface="A2Z" pitchFamily="34" charset="-122"/>
                <a:cs typeface="A2Z" pitchFamily="34" charset="-120"/>
              </a:rPr>
              <a:t>예약 시각</a:t>
            </a:r>
            <a:endParaRPr lang="en-US" sz="800" dirty="0"/>
          </a:p>
          <a:p>
            <a:pPr indent="0" marL="0">
              <a:buNone/>
            </a:pPr>
            <a:r>
              <a:rPr lang="en-US" sz="800" b="1" dirty="0">
                <a:solidFill>
                  <a:srgbClr val="2C342E"/>
                </a:solidFill>
                <a:latin typeface="A2Z" pitchFamily="34" charset="0"/>
                <a:ea typeface="A2Z" pitchFamily="34" charset="-122"/>
                <a:cs typeface="A2Z" pitchFamily="34" charset="-120"/>
              </a:rPr>
              <a:t>도달</a:t>
            </a:r>
            <a:endParaRPr lang="en-US" sz="800" dirty="0"/>
          </a:p>
        </p:txBody>
      </p:sp>
      <p:sp>
        <p:nvSpPr>
          <p:cNvPr id="37" name="Shape 34"/>
          <p:cNvSpPr/>
          <p:nvPr/>
        </p:nvSpPr>
        <p:spPr>
          <a:xfrm>
            <a:off x="2715768" y="4178808"/>
            <a:ext cx="109728" cy="128016"/>
          </a:xfrm>
          <a:prstGeom prst="chevron">
            <a:avLst/>
          </a:prstGeom>
          <a:solidFill>
            <a:srgbClr val="B9EFC5"/>
          </a:solidFill>
          <a:ln w="12700">
            <a:solidFill>
              <a:srgbClr val="B9EFC5">
                <a:alpha val="0"/>
              </a:srgbClr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2889504" y="4114800"/>
            <a:ext cx="228600" cy="228600"/>
          </a:xfrm>
          <a:prstGeom prst="ellipse">
            <a:avLst>
              <a:gd name="adj" fmla="val 32000"/>
            </a:avLst>
          </a:prstGeom>
          <a:solidFill>
            <a:srgbClr val="386948"/>
          </a:solidFill>
          <a:ln w="12700">
            <a:solidFill>
              <a:srgbClr val="386948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2889504" y="4166921"/>
            <a:ext cx="228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70" b="1" dirty="0">
                <a:solidFill>
                  <a:srgbClr val="FFFFFF"/>
                </a:solidFill>
                <a:latin typeface="A2Z" pitchFamily="34" charset="0"/>
                <a:ea typeface="A2Z" pitchFamily="34" charset="-122"/>
                <a:cs typeface="A2Z" pitchFamily="34" charset="-120"/>
              </a:rPr>
              <a:t>2</a:t>
            </a:r>
            <a:endParaRPr lang="en-US" sz="670" dirty="0"/>
          </a:p>
        </p:txBody>
      </p:sp>
      <p:sp>
        <p:nvSpPr>
          <p:cNvPr id="40" name="Text 37"/>
          <p:cNvSpPr/>
          <p:nvPr/>
        </p:nvSpPr>
        <p:spPr>
          <a:xfrm>
            <a:off x="3209544" y="4087368"/>
            <a:ext cx="16002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C342E"/>
                </a:solidFill>
                <a:latin typeface="A2Z" pitchFamily="34" charset="0"/>
                <a:ea typeface="A2Z" pitchFamily="34" charset="-122"/>
                <a:cs typeface="A2Z" pitchFamily="34" charset="-120"/>
              </a:rPr>
              <a:t>RingScreen</a:t>
            </a:r>
            <a:endParaRPr lang="en-US" sz="800" dirty="0"/>
          </a:p>
          <a:p>
            <a:pPr indent="0" marL="0">
              <a:buNone/>
            </a:pPr>
            <a:r>
              <a:rPr lang="en-US" sz="800" b="1" dirty="0">
                <a:solidFill>
                  <a:srgbClr val="2C342E"/>
                </a:solidFill>
                <a:latin typeface="A2Z" pitchFamily="34" charset="0"/>
                <a:ea typeface="A2Z" pitchFamily="34" charset="-122"/>
                <a:cs typeface="A2Z" pitchFamily="34" charset="-120"/>
              </a:rPr>
              <a:t>소리·진동</a:t>
            </a:r>
            <a:endParaRPr lang="en-US" sz="800" dirty="0"/>
          </a:p>
        </p:txBody>
      </p:sp>
      <p:sp>
        <p:nvSpPr>
          <p:cNvPr id="41" name="Shape 38"/>
          <p:cNvSpPr/>
          <p:nvPr/>
        </p:nvSpPr>
        <p:spPr>
          <a:xfrm>
            <a:off x="4773168" y="4178808"/>
            <a:ext cx="109728" cy="128016"/>
          </a:xfrm>
          <a:prstGeom prst="chevron">
            <a:avLst/>
          </a:prstGeom>
          <a:solidFill>
            <a:srgbClr val="B9EFC5"/>
          </a:solidFill>
          <a:ln w="12700">
            <a:solidFill>
              <a:srgbClr val="B9EFC5">
                <a:alpha val="0"/>
              </a:srgbClr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4946904" y="4114800"/>
            <a:ext cx="228600" cy="228600"/>
          </a:xfrm>
          <a:prstGeom prst="ellipse">
            <a:avLst>
              <a:gd name="adj" fmla="val 32000"/>
            </a:avLst>
          </a:prstGeom>
          <a:solidFill>
            <a:srgbClr val="386948"/>
          </a:solidFill>
          <a:ln w="12700">
            <a:solidFill>
              <a:srgbClr val="386948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4946904" y="4166921"/>
            <a:ext cx="228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70" b="1" dirty="0">
                <a:solidFill>
                  <a:srgbClr val="FFFFFF"/>
                </a:solidFill>
                <a:latin typeface="A2Z" pitchFamily="34" charset="0"/>
                <a:ea typeface="A2Z" pitchFamily="34" charset="-122"/>
                <a:cs typeface="A2Z" pitchFamily="34" charset="-120"/>
              </a:rPr>
              <a:t>3</a:t>
            </a:r>
            <a:endParaRPr lang="en-US" sz="670" dirty="0"/>
          </a:p>
        </p:txBody>
      </p:sp>
      <p:sp>
        <p:nvSpPr>
          <p:cNvPr id="44" name="Text 41"/>
          <p:cNvSpPr/>
          <p:nvPr/>
        </p:nvSpPr>
        <p:spPr>
          <a:xfrm>
            <a:off x="5266944" y="4087368"/>
            <a:ext cx="16002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C342E"/>
                </a:solidFill>
                <a:latin typeface="A2Z" pitchFamily="34" charset="0"/>
                <a:ea typeface="A2Z" pitchFamily="34" charset="-122"/>
                <a:cs typeface="A2Z" pitchFamily="34" charset="-120"/>
              </a:rPr>
              <a:t>Dismiss</a:t>
            </a:r>
            <a:endParaRPr lang="en-US" sz="800" dirty="0"/>
          </a:p>
        </p:txBody>
      </p:sp>
      <p:sp>
        <p:nvSpPr>
          <p:cNvPr id="45" name="Shape 42"/>
          <p:cNvSpPr/>
          <p:nvPr/>
        </p:nvSpPr>
        <p:spPr>
          <a:xfrm>
            <a:off x="6830568" y="4178808"/>
            <a:ext cx="109728" cy="128016"/>
          </a:xfrm>
          <a:prstGeom prst="chevron">
            <a:avLst/>
          </a:prstGeom>
          <a:solidFill>
            <a:srgbClr val="B9EFC5"/>
          </a:solidFill>
          <a:ln w="12700">
            <a:solidFill>
              <a:srgbClr val="B9EFC5">
                <a:alpha val="0"/>
              </a:srgbClr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7004304" y="4114800"/>
            <a:ext cx="228600" cy="228600"/>
          </a:xfrm>
          <a:prstGeom prst="ellipse">
            <a:avLst>
              <a:gd name="adj" fmla="val 32000"/>
            </a:avLst>
          </a:prstGeom>
          <a:solidFill>
            <a:srgbClr val="386948"/>
          </a:solidFill>
          <a:ln w="12700">
            <a:solidFill>
              <a:srgbClr val="386948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7004304" y="4166921"/>
            <a:ext cx="228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70" b="1" dirty="0">
                <a:solidFill>
                  <a:srgbClr val="FFFFFF"/>
                </a:solidFill>
                <a:latin typeface="A2Z" pitchFamily="34" charset="0"/>
                <a:ea typeface="A2Z" pitchFamily="34" charset="-122"/>
                <a:cs typeface="A2Z" pitchFamily="34" charset="-120"/>
              </a:rPr>
              <a:t>4</a:t>
            </a:r>
            <a:endParaRPr lang="en-US" sz="670" dirty="0"/>
          </a:p>
        </p:txBody>
      </p:sp>
      <p:sp>
        <p:nvSpPr>
          <p:cNvPr id="48" name="Text 45"/>
          <p:cNvSpPr/>
          <p:nvPr/>
        </p:nvSpPr>
        <p:spPr>
          <a:xfrm>
            <a:off x="7324344" y="4087368"/>
            <a:ext cx="16002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C342E"/>
                </a:solidFill>
                <a:latin typeface="A2Z" pitchFamily="34" charset="0"/>
                <a:ea typeface="A2Z" pitchFamily="34" charset="-122"/>
                <a:cs typeface="A2Z" pitchFamily="34" charset="-120"/>
              </a:rPr>
              <a:t>Snooze</a:t>
            </a:r>
            <a:endParaRPr lang="en-US" sz="800" dirty="0"/>
          </a:p>
        </p:txBody>
      </p:sp>
      <p:sp>
        <p:nvSpPr>
          <p:cNvPr id="49" name="Shape 46"/>
          <p:cNvSpPr/>
          <p:nvPr/>
        </p:nvSpPr>
        <p:spPr>
          <a:xfrm>
            <a:off x="8887968" y="4178808"/>
            <a:ext cx="109728" cy="128016"/>
          </a:xfrm>
          <a:prstGeom prst="chevron">
            <a:avLst/>
          </a:prstGeom>
          <a:solidFill>
            <a:srgbClr val="B9EFC5"/>
          </a:solidFill>
          <a:ln w="12700">
            <a:solidFill>
              <a:srgbClr val="B9EFC5">
                <a:alpha val="0"/>
              </a:srgbClr>
            </a:solidFill>
            <a:prstDash val="solid"/>
          </a:ln>
        </p:spPr>
      </p:sp>
      <p:sp>
        <p:nvSpPr>
          <p:cNvPr id="50" name="Shape 47"/>
          <p:cNvSpPr/>
          <p:nvPr/>
        </p:nvSpPr>
        <p:spPr>
          <a:xfrm>
            <a:off x="9061704" y="4114800"/>
            <a:ext cx="228600" cy="228600"/>
          </a:xfrm>
          <a:prstGeom prst="ellipse">
            <a:avLst>
              <a:gd name="adj" fmla="val 32000"/>
            </a:avLst>
          </a:prstGeom>
          <a:solidFill>
            <a:srgbClr val="386948"/>
          </a:solidFill>
          <a:ln w="12700">
            <a:solidFill>
              <a:srgbClr val="386948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9061704" y="4166921"/>
            <a:ext cx="228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70" b="1" dirty="0">
                <a:solidFill>
                  <a:srgbClr val="FFFFFF"/>
                </a:solidFill>
                <a:latin typeface="A2Z" pitchFamily="34" charset="0"/>
                <a:ea typeface="A2Z" pitchFamily="34" charset="-122"/>
                <a:cs typeface="A2Z" pitchFamily="34" charset="-120"/>
              </a:rPr>
              <a:t>5</a:t>
            </a:r>
            <a:endParaRPr lang="en-US" sz="670" dirty="0"/>
          </a:p>
        </p:txBody>
      </p:sp>
      <p:sp>
        <p:nvSpPr>
          <p:cNvPr id="52" name="Text 49"/>
          <p:cNvSpPr/>
          <p:nvPr/>
        </p:nvSpPr>
        <p:spPr>
          <a:xfrm>
            <a:off x="9381744" y="4087368"/>
            <a:ext cx="16002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C342E"/>
                </a:solidFill>
                <a:latin typeface="A2Z" pitchFamily="34" charset="0"/>
                <a:ea typeface="A2Z" pitchFamily="34" charset="-122"/>
                <a:cs typeface="A2Z" pitchFamily="34" charset="-120"/>
              </a:rPr>
              <a:t>상태</a:t>
            </a:r>
            <a:endParaRPr lang="en-US" sz="800" dirty="0"/>
          </a:p>
          <a:p>
            <a:pPr indent="0" marL="0">
              <a:buNone/>
            </a:pPr>
            <a:r>
              <a:rPr lang="en-US" sz="800" b="1" dirty="0">
                <a:solidFill>
                  <a:srgbClr val="2C342E"/>
                </a:solidFill>
                <a:latin typeface="A2Z" pitchFamily="34" charset="0"/>
                <a:ea typeface="A2Z" pitchFamily="34" charset="-122"/>
                <a:cs typeface="A2Z" pitchFamily="34" charset="-120"/>
              </a:rPr>
              <a:t>전달</a:t>
            </a:r>
            <a:endParaRPr lang="en-US" sz="800" dirty="0"/>
          </a:p>
        </p:txBody>
      </p:sp>
      <p:sp>
        <p:nvSpPr>
          <p:cNvPr id="53" name="Shape 50"/>
          <p:cNvSpPr/>
          <p:nvPr/>
        </p:nvSpPr>
        <p:spPr>
          <a:xfrm>
            <a:off x="640080" y="5230368"/>
            <a:ext cx="1024128" cy="292608"/>
          </a:xfrm>
          <a:prstGeom prst="roundRect">
            <a:avLst>
              <a:gd name="adj" fmla="val 25000"/>
            </a:avLst>
          </a:prstGeom>
          <a:solidFill>
            <a:srgbClr val="E7F7EB"/>
          </a:solidFill>
          <a:ln w="12700">
            <a:solidFill>
              <a:srgbClr val="E7F7EB"/>
            </a:solidFill>
            <a:prstDash val="solid"/>
          </a:ln>
        </p:spPr>
      </p:sp>
      <p:sp>
        <p:nvSpPr>
          <p:cNvPr id="54" name="Text 51"/>
          <p:cNvSpPr/>
          <p:nvPr/>
        </p:nvSpPr>
        <p:spPr>
          <a:xfrm>
            <a:off x="749808" y="5289804"/>
            <a:ext cx="8046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86948"/>
                </a:solidFill>
                <a:latin typeface="A2Z" pitchFamily="34" charset="0"/>
                <a:ea typeface="A2Z" pitchFamily="34" charset="-122"/>
                <a:cs typeface="A2Z" pitchFamily="34" charset="-120"/>
              </a:rPr>
              <a:t>구현 반영</a:t>
            </a:r>
            <a:endParaRPr lang="en-US" sz="850" dirty="0"/>
          </a:p>
        </p:txBody>
      </p:sp>
      <p:sp>
        <p:nvSpPr>
          <p:cNvPr id="55" name="Text 52"/>
          <p:cNvSpPr/>
          <p:nvPr/>
        </p:nvSpPr>
        <p:spPr>
          <a:xfrm>
            <a:off x="1801368" y="5276088"/>
            <a:ext cx="3154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2C342E"/>
                </a:solidFill>
                <a:latin typeface="A2Z" pitchFamily="34" charset="0"/>
                <a:ea typeface="A2Z" pitchFamily="34" charset="-122"/>
                <a:cs typeface="A2Z" pitchFamily="34" charset="-120"/>
              </a:rPr>
              <a:t>Android UI / 로컬 예약 / 로그인·그룹 코드</a:t>
            </a:r>
            <a:endParaRPr lang="en-US" sz="830" dirty="0"/>
          </a:p>
        </p:txBody>
      </p:sp>
      <p:sp>
        <p:nvSpPr>
          <p:cNvPr id="56" name="Shape 53"/>
          <p:cNvSpPr/>
          <p:nvPr/>
        </p:nvSpPr>
        <p:spPr>
          <a:xfrm>
            <a:off x="5184648" y="5230368"/>
            <a:ext cx="1024128" cy="292608"/>
          </a:xfrm>
          <a:prstGeom prst="roundRect">
            <a:avLst>
              <a:gd name="adj" fmla="val 25000"/>
            </a:avLst>
          </a:prstGeom>
          <a:solidFill>
            <a:srgbClr val="E7F7EB"/>
          </a:solidFill>
          <a:ln w="12700">
            <a:solidFill>
              <a:srgbClr val="E7F7EB"/>
            </a:solidFill>
            <a:prstDash val="solid"/>
          </a:ln>
        </p:spPr>
      </p:sp>
      <p:sp>
        <p:nvSpPr>
          <p:cNvPr id="57" name="Text 54"/>
          <p:cNvSpPr/>
          <p:nvPr/>
        </p:nvSpPr>
        <p:spPr>
          <a:xfrm>
            <a:off x="5294376" y="5289804"/>
            <a:ext cx="8046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86948"/>
                </a:solidFill>
                <a:latin typeface="A2Z" pitchFamily="34" charset="0"/>
                <a:ea typeface="A2Z" pitchFamily="34" charset="-122"/>
                <a:cs typeface="A2Z" pitchFamily="34" charset="-120"/>
              </a:rPr>
              <a:t>확인 필요</a:t>
            </a:r>
            <a:endParaRPr lang="en-US" sz="850" dirty="0"/>
          </a:p>
        </p:txBody>
      </p:sp>
      <p:sp>
        <p:nvSpPr>
          <p:cNvPr id="58" name="Text 55"/>
          <p:cNvSpPr/>
          <p:nvPr/>
        </p:nvSpPr>
        <p:spPr>
          <a:xfrm>
            <a:off x="6345936" y="5276088"/>
            <a:ext cx="2148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2C342E"/>
                </a:solidFill>
                <a:latin typeface="A2Z" pitchFamily="34" charset="0"/>
                <a:ea typeface="A2Z" pitchFamily="34" charset="-122"/>
                <a:cs typeface="A2Z" pitchFamily="34" charset="-120"/>
              </a:rPr>
              <a:t>두 기기 간 제어 동기화 안정성</a:t>
            </a:r>
            <a:endParaRPr lang="en-US" sz="830" dirty="0"/>
          </a:p>
        </p:txBody>
      </p:sp>
      <p:sp>
        <p:nvSpPr>
          <p:cNvPr id="59" name="Shape 56"/>
          <p:cNvSpPr/>
          <p:nvPr/>
        </p:nvSpPr>
        <p:spPr>
          <a:xfrm>
            <a:off x="8714232" y="5230368"/>
            <a:ext cx="1042416" cy="292608"/>
          </a:xfrm>
          <a:prstGeom prst="roundRect">
            <a:avLst>
              <a:gd name="adj" fmla="val 25000"/>
            </a:avLst>
          </a:prstGeom>
          <a:solidFill>
            <a:srgbClr val="E7F7EB"/>
          </a:solidFill>
          <a:ln w="12700">
            <a:solidFill>
              <a:srgbClr val="E7F7EB"/>
            </a:solidFill>
            <a:prstDash val="solid"/>
          </a:ln>
        </p:spPr>
      </p:sp>
      <p:sp>
        <p:nvSpPr>
          <p:cNvPr id="60" name="Text 57"/>
          <p:cNvSpPr/>
          <p:nvPr/>
        </p:nvSpPr>
        <p:spPr>
          <a:xfrm>
            <a:off x="8823960" y="5289804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86948"/>
                </a:solidFill>
                <a:latin typeface="A2Z" pitchFamily="34" charset="0"/>
                <a:ea typeface="A2Z" pitchFamily="34" charset="-122"/>
                <a:cs typeface="A2Z" pitchFamily="34" charset="-120"/>
              </a:rPr>
              <a:t>향후 확장</a:t>
            </a:r>
            <a:endParaRPr lang="en-US" sz="850" dirty="0"/>
          </a:p>
        </p:txBody>
      </p:sp>
      <p:sp>
        <p:nvSpPr>
          <p:cNvPr id="61" name="Text 58"/>
          <p:cNvSpPr/>
          <p:nvPr/>
        </p:nvSpPr>
        <p:spPr>
          <a:xfrm>
            <a:off x="9884664" y="5276088"/>
            <a:ext cx="14813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10" b="1" dirty="0">
                <a:solidFill>
                  <a:srgbClr val="2C342E"/>
                </a:solidFill>
                <a:latin typeface="A2Z" pitchFamily="34" charset="0"/>
                <a:ea typeface="A2Z" pitchFamily="34" charset="-122"/>
                <a:cs typeface="A2Z" pitchFamily="34" charset="-120"/>
              </a:rPr>
              <a:t>Web / Linux / Windows</a:t>
            </a:r>
            <a:endParaRPr lang="en-US" sz="810" dirty="0"/>
          </a:p>
        </p:txBody>
      </p:sp>
      <p:sp>
        <p:nvSpPr>
          <p:cNvPr id="62" name="Text 59"/>
          <p:cNvSpPr/>
          <p:nvPr/>
        </p:nvSpPr>
        <p:spPr>
          <a:xfrm>
            <a:off x="640080" y="5897880"/>
            <a:ext cx="108813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168"/>
                </a:solidFill>
                <a:latin typeface="A2Z" pitchFamily="34" charset="0"/>
                <a:ea typeface="A2Z" pitchFamily="34" charset="-122"/>
                <a:cs typeface="A2Z" pitchFamily="34" charset="-120"/>
              </a:rPr>
              <a:t>이미 기기에 예약된 알람은 네트워크가 없어도 울릴 수 있으나, 다른 기기의 새 변경 반영에는 네트워크가 필요합니다.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A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720840" y="0"/>
            <a:ext cx="547085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7827264" cy="6858000"/>
          </a:xfrm>
          <a:prstGeom prst="rect">
            <a:avLst/>
          </a:prstGeom>
          <a:solidFill>
            <a:srgbClr val="F7FAF4"/>
          </a:solidFill>
          <a:ln w="12700">
            <a:solidFill>
              <a:srgbClr val="F7FAF4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603504" y="384048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386948"/>
                </a:solidFill>
                <a:latin typeface="A2Z" pitchFamily="34" charset="0"/>
                <a:ea typeface="A2Z" pitchFamily="34" charset="-122"/>
                <a:cs typeface="A2Z" pitchFamily="34" charset="-120"/>
              </a:rPr>
              <a:t>LET'S ALARM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9235440" y="384048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47168"/>
                </a:solidFill>
                <a:latin typeface="A2Z" pitchFamily="34" charset="0"/>
                <a:ea typeface="A2Z" pitchFamily="34" charset="-122"/>
                <a:cs typeface="A2Z" pitchFamily="34" charset="-120"/>
              </a:rPr>
              <a:t>평가 (2) 전체 구조도 설명</a:t>
            </a:r>
            <a:endParaRPr lang="en-US" sz="800" dirty="0"/>
          </a:p>
        </p:txBody>
      </p:sp>
      <p:sp>
        <p:nvSpPr>
          <p:cNvPr id="6" name="Shape 3"/>
          <p:cNvSpPr/>
          <p:nvPr/>
        </p:nvSpPr>
        <p:spPr>
          <a:xfrm>
            <a:off x="603504" y="704088"/>
            <a:ext cx="10981944" cy="0"/>
          </a:xfrm>
          <a:prstGeom prst="line">
            <a:avLst/>
          </a:prstGeom>
          <a:noFill/>
          <a:ln w="12700">
            <a:solidFill>
              <a:srgbClr val="DAE6DD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03504" y="6419088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15" kern="0" dirty="0">
                <a:solidFill>
                  <a:srgbClr val="647168"/>
                </a:solidFill>
                <a:latin typeface="A2Z" pitchFamily="34" charset="0"/>
                <a:ea typeface="A2Z" pitchFamily="34" charset="-122"/>
                <a:cs typeface="A2Z" pitchFamily="34" charset="-120"/>
              </a:rPr>
              <a:t>UI/UX PROGRAMMING   /   TEAM 06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11155680" y="6419088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86948"/>
                </a:solidFill>
                <a:latin typeface="A2Z" pitchFamily="34" charset="0"/>
                <a:ea typeface="A2Z" pitchFamily="34" charset="-122"/>
                <a:cs typeface="A2Z" pitchFamily="34" charset="-120"/>
              </a:rPr>
              <a:t>08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594360" y="969264"/>
            <a:ext cx="8869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C342E"/>
                </a:solidFill>
                <a:latin typeface="KIMM_Bold" pitchFamily="34" charset="0"/>
                <a:ea typeface="KIMM_Bold" pitchFamily="34" charset="-122"/>
                <a:cs typeface="KIMM_Bold" pitchFamily="34" charset="-120"/>
              </a:rPr>
              <a:t>데이터 구조와 보안</a:t>
            </a:r>
            <a:endParaRPr lang="en-US" sz="2700" dirty="0"/>
          </a:p>
        </p:txBody>
      </p:sp>
      <p:sp>
        <p:nvSpPr>
          <p:cNvPr id="10" name="Text 7"/>
          <p:cNvSpPr/>
          <p:nvPr/>
        </p:nvSpPr>
        <p:spPr>
          <a:xfrm>
            <a:off x="612648" y="1545336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86948"/>
                </a:solidFill>
                <a:latin typeface="A2Z" pitchFamily="34" charset="0"/>
                <a:ea typeface="A2Z" pitchFamily="34" charset="-122"/>
                <a:cs typeface="A2Z" pitchFamily="34" charset="-120"/>
              </a:rPr>
              <a:t>그룹 기반 접근 제어와 등록 기기 전달 범위를 핵심 구조로 설명합니다.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640080" y="2121408"/>
            <a:ext cx="234086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2" kern="0" dirty="0">
                <a:solidFill>
                  <a:srgbClr val="386948"/>
                </a:solidFill>
                <a:latin typeface="A2Z" pitchFamily="34" charset="0"/>
                <a:ea typeface="A2Z" pitchFamily="34" charset="-122"/>
                <a:cs typeface="A2Z" pitchFamily="34" charset="-120"/>
              </a:rPr>
              <a:t>FIRESTORE COLLECTIONS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621792" y="2523744"/>
            <a:ext cx="4754880" cy="438912"/>
          </a:xfrm>
          <a:prstGeom prst="roundRect">
            <a:avLst>
              <a:gd name="adj" fmla="val 10417"/>
            </a:avLst>
          </a:prstGeom>
          <a:solidFill>
            <a:srgbClr val="FFFFFF"/>
          </a:solidFill>
          <a:ln w="12700">
            <a:solidFill>
              <a:srgbClr val="DAE6D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77240" y="2660904"/>
            <a:ext cx="44439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C342E"/>
                </a:solidFill>
                <a:latin typeface="A2Z" pitchFamily="34" charset="0"/>
                <a:ea typeface="A2Z" pitchFamily="34" charset="-122"/>
                <a:cs typeface="A2Z" pitchFamily="34" charset="-120"/>
              </a:rPr>
              <a:t>users/{uid}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621792" y="3090672"/>
            <a:ext cx="4754880" cy="438912"/>
          </a:xfrm>
          <a:prstGeom prst="roundRect">
            <a:avLst>
              <a:gd name="adj" fmla="val 10417"/>
            </a:avLst>
          </a:prstGeom>
          <a:solidFill>
            <a:srgbClr val="E7F7EB"/>
          </a:solidFill>
          <a:ln w="12700">
            <a:solidFill>
              <a:srgbClr val="B9EFC5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77240" y="3227832"/>
            <a:ext cx="44439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86948"/>
                </a:solidFill>
                <a:latin typeface="A2Z" pitchFamily="34" charset="0"/>
                <a:ea typeface="A2Z" pitchFamily="34" charset="-122"/>
                <a:cs typeface="A2Z" pitchFamily="34" charset="-120"/>
              </a:rPr>
              <a:t>groups/{groupId}/members/{uid}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621792" y="3657600"/>
            <a:ext cx="4754880" cy="438912"/>
          </a:xfrm>
          <a:prstGeom prst="roundRect">
            <a:avLst>
              <a:gd name="adj" fmla="val 10417"/>
            </a:avLst>
          </a:prstGeom>
          <a:solidFill>
            <a:srgbClr val="E7F7EB"/>
          </a:solidFill>
          <a:ln w="12700">
            <a:solidFill>
              <a:srgbClr val="B9EFC5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77240" y="3794760"/>
            <a:ext cx="44439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86948"/>
                </a:solidFill>
                <a:latin typeface="A2Z" pitchFamily="34" charset="0"/>
                <a:ea typeface="A2Z" pitchFamily="34" charset="-122"/>
                <a:cs typeface="A2Z" pitchFamily="34" charset="-120"/>
              </a:rPr>
              <a:t>groups/{groupId}/alarms/{alarmId}</a:t>
            </a:r>
            <a:endParaRPr lang="en-US" sz="850" dirty="0"/>
          </a:p>
        </p:txBody>
      </p:sp>
      <p:sp>
        <p:nvSpPr>
          <p:cNvPr id="18" name="Shape 15"/>
          <p:cNvSpPr/>
          <p:nvPr/>
        </p:nvSpPr>
        <p:spPr>
          <a:xfrm>
            <a:off x="621792" y="4224528"/>
            <a:ext cx="4754880" cy="438912"/>
          </a:xfrm>
          <a:prstGeom prst="roundRect">
            <a:avLst>
              <a:gd name="adj" fmla="val 10417"/>
            </a:avLst>
          </a:prstGeom>
          <a:solidFill>
            <a:srgbClr val="FFFFFF"/>
          </a:solidFill>
          <a:ln w="12700">
            <a:solidFill>
              <a:srgbClr val="DAE6DD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77240" y="4361688"/>
            <a:ext cx="44439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C342E"/>
                </a:solidFill>
                <a:latin typeface="A2Z" pitchFamily="34" charset="0"/>
                <a:ea typeface="A2Z" pitchFamily="34" charset="-122"/>
                <a:cs typeface="A2Z" pitchFamily="34" charset="-120"/>
              </a:rPr>
              <a:t>groups/{groupId}/devices/{deviceId}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621792" y="4791456"/>
            <a:ext cx="4754880" cy="438912"/>
          </a:xfrm>
          <a:prstGeom prst="roundRect">
            <a:avLst>
              <a:gd name="adj" fmla="val 10417"/>
            </a:avLst>
          </a:prstGeom>
          <a:solidFill>
            <a:srgbClr val="FFFFFF"/>
          </a:solidFill>
          <a:ln w="12700">
            <a:solidFill>
              <a:srgbClr val="DAE6DD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77240" y="4928616"/>
            <a:ext cx="44439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C342E"/>
                </a:solidFill>
                <a:latin typeface="A2Z" pitchFamily="34" charset="0"/>
                <a:ea typeface="A2Z" pitchFamily="34" charset="-122"/>
                <a:cs typeface="A2Z" pitchFamily="34" charset="-120"/>
              </a:rPr>
              <a:t>groups/{groupId}/commands/{commandId}</a:t>
            </a:r>
            <a:endParaRPr lang="en-US" sz="850" dirty="0"/>
          </a:p>
        </p:txBody>
      </p:sp>
      <p:sp>
        <p:nvSpPr>
          <p:cNvPr id="22" name="Shape 19"/>
          <p:cNvSpPr/>
          <p:nvPr/>
        </p:nvSpPr>
        <p:spPr>
          <a:xfrm>
            <a:off x="621792" y="5358384"/>
            <a:ext cx="4754880" cy="438912"/>
          </a:xfrm>
          <a:prstGeom prst="roundRect">
            <a:avLst>
              <a:gd name="adj" fmla="val 10417"/>
            </a:avLst>
          </a:prstGeom>
          <a:solidFill>
            <a:srgbClr val="FFFFFF"/>
          </a:solidFill>
          <a:ln w="12700">
            <a:solidFill>
              <a:srgbClr val="DAE6DD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777240" y="5495544"/>
            <a:ext cx="44439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C342E"/>
                </a:solidFill>
                <a:latin typeface="A2Z" pitchFamily="34" charset="0"/>
                <a:ea typeface="A2Z" pitchFamily="34" charset="-122"/>
                <a:cs typeface="A2Z" pitchFamily="34" charset="-120"/>
              </a:rPr>
              <a:t>groupSecrets/{groupId}</a:t>
            </a:r>
            <a:endParaRPr lang="en-US" sz="850" dirty="0"/>
          </a:p>
        </p:txBody>
      </p:sp>
      <p:sp>
        <p:nvSpPr>
          <p:cNvPr id="24" name="Text 21"/>
          <p:cNvSpPr/>
          <p:nvPr/>
        </p:nvSpPr>
        <p:spPr>
          <a:xfrm>
            <a:off x="5843016" y="2121408"/>
            <a:ext cx="212140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2" kern="0" dirty="0">
                <a:solidFill>
                  <a:srgbClr val="386948"/>
                </a:solidFill>
                <a:latin typeface="A2Z" pitchFamily="34" charset="0"/>
                <a:ea typeface="A2Z" pitchFamily="34" charset="-122"/>
                <a:cs typeface="A2Z" pitchFamily="34" charset="-120"/>
              </a:rPr>
              <a:t>SECURITY POINTS</a:t>
            </a:r>
            <a:endParaRPr lang="en-US" sz="850" dirty="0"/>
          </a:p>
        </p:txBody>
      </p:sp>
      <p:sp>
        <p:nvSpPr>
          <p:cNvPr id="25" name="Shape 22"/>
          <p:cNvSpPr/>
          <p:nvPr/>
        </p:nvSpPr>
        <p:spPr>
          <a:xfrm>
            <a:off x="5824728" y="2523744"/>
            <a:ext cx="5751576" cy="8229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AE6DD"/>
            </a:solidFill>
            <a:prstDash val="solid"/>
          </a:ln>
        </p:spPr>
      </p:sp>
      <p:pic>
        <p:nvPicPr>
          <p:cNvPr id="2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025896" y="2715768"/>
            <a:ext cx="329184" cy="329184"/>
          </a:xfrm>
          <a:prstGeom prst="rect">
            <a:avLst/>
          </a:prstGeom>
        </p:spPr>
      </p:pic>
      <p:sp>
        <p:nvSpPr>
          <p:cNvPr id="27" name="Text 23"/>
          <p:cNvSpPr/>
          <p:nvPr/>
        </p:nvSpPr>
        <p:spPr>
          <a:xfrm>
            <a:off x="6483096" y="2706624"/>
            <a:ext cx="4892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342E"/>
                </a:solidFill>
                <a:latin typeface="KIMM_Bold" pitchFamily="34" charset="0"/>
                <a:ea typeface="KIMM_Bold" pitchFamily="34" charset="-122"/>
                <a:cs typeface="KIMM_Bold" pitchFamily="34" charset="-120"/>
              </a:rPr>
              <a:t>Authentication</a:t>
            </a:r>
            <a:endParaRPr lang="en-US" sz="1100" dirty="0"/>
          </a:p>
        </p:txBody>
      </p:sp>
      <p:sp>
        <p:nvSpPr>
          <p:cNvPr id="28" name="Text 24"/>
          <p:cNvSpPr/>
          <p:nvPr/>
        </p:nvSpPr>
        <p:spPr>
          <a:xfrm>
            <a:off x="6044184" y="3118104"/>
            <a:ext cx="5312664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47168"/>
                </a:solidFill>
                <a:latin typeface="A2Z" pitchFamily="34" charset="0"/>
                <a:ea typeface="A2Z" pitchFamily="34" charset="-122"/>
                <a:cs typeface="A2Z" pitchFamily="34" charset="-120"/>
              </a:rPr>
              <a:t>로그인 사용자 식별</a:t>
            </a:r>
            <a:endParaRPr lang="en-US" sz="850" dirty="0"/>
          </a:p>
        </p:txBody>
      </p:sp>
      <p:sp>
        <p:nvSpPr>
          <p:cNvPr id="29" name="Shape 25"/>
          <p:cNvSpPr/>
          <p:nvPr/>
        </p:nvSpPr>
        <p:spPr>
          <a:xfrm>
            <a:off x="5824728" y="3538728"/>
            <a:ext cx="5751576" cy="822960"/>
          </a:xfrm>
          <a:prstGeom prst="roundRect">
            <a:avLst>
              <a:gd name="adj" fmla="val 10000"/>
            </a:avLst>
          </a:prstGeom>
          <a:solidFill>
            <a:srgbClr val="E7F7EB"/>
          </a:solidFill>
          <a:ln w="12700">
            <a:solidFill>
              <a:srgbClr val="B9EFC5"/>
            </a:solidFill>
            <a:prstDash val="solid"/>
          </a:ln>
        </p:spPr>
      </p:sp>
      <p:pic>
        <p:nvPicPr>
          <p:cNvPr id="30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025896" y="3730752"/>
            <a:ext cx="329184" cy="329184"/>
          </a:xfrm>
          <a:prstGeom prst="rect">
            <a:avLst/>
          </a:prstGeom>
        </p:spPr>
      </p:pic>
      <p:sp>
        <p:nvSpPr>
          <p:cNvPr id="31" name="Text 26"/>
          <p:cNvSpPr/>
          <p:nvPr/>
        </p:nvSpPr>
        <p:spPr>
          <a:xfrm>
            <a:off x="6483096" y="3721608"/>
            <a:ext cx="4892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342E"/>
                </a:solidFill>
                <a:latin typeface="KIMM_Bold" pitchFamily="34" charset="0"/>
                <a:ea typeface="KIMM_Bold" pitchFamily="34" charset="-122"/>
                <a:cs typeface="KIMM_Bold" pitchFamily="34" charset="-120"/>
              </a:rPr>
              <a:t>Firestore Rules</a:t>
            </a:r>
            <a:endParaRPr lang="en-US" sz="1100" dirty="0"/>
          </a:p>
        </p:txBody>
      </p:sp>
      <p:sp>
        <p:nvSpPr>
          <p:cNvPr id="32" name="Text 27"/>
          <p:cNvSpPr/>
          <p:nvPr/>
        </p:nvSpPr>
        <p:spPr>
          <a:xfrm>
            <a:off x="6044184" y="4133088"/>
            <a:ext cx="5312664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47168"/>
                </a:solidFill>
                <a:latin typeface="A2Z" pitchFamily="34" charset="0"/>
                <a:ea typeface="A2Z" pitchFamily="34" charset="-122"/>
                <a:cs typeface="A2Z" pitchFamily="34" charset="-120"/>
              </a:rPr>
              <a:t>그룹 멤버만 공유 알람 접근</a:t>
            </a:r>
            <a:endParaRPr lang="en-US" sz="850" dirty="0"/>
          </a:p>
        </p:txBody>
      </p:sp>
      <p:sp>
        <p:nvSpPr>
          <p:cNvPr id="33" name="Shape 28"/>
          <p:cNvSpPr/>
          <p:nvPr/>
        </p:nvSpPr>
        <p:spPr>
          <a:xfrm>
            <a:off x="5824728" y="4553712"/>
            <a:ext cx="5751576" cy="8229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AE6DD"/>
            </a:solidFill>
            <a:prstDash val="solid"/>
          </a:ln>
        </p:spPr>
      </p:sp>
      <p:pic>
        <p:nvPicPr>
          <p:cNvPr id="34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025896" y="4745736"/>
            <a:ext cx="329184" cy="329184"/>
          </a:xfrm>
          <a:prstGeom prst="rect">
            <a:avLst/>
          </a:prstGeom>
        </p:spPr>
      </p:pic>
      <p:sp>
        <p:nvSpPr>
          <p:cNvPr id="35" name="Text 29"/>
          <p:cNvSpPr/>
          <p:nvPr/>
        </p:nvSpPr>
        <p:spPr>
          <a:xfrm>
            <a:off x="6483096" y="4736592"/>
            <a:ext cx="4892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342E"/>
                </a:solidFill>
                <a:latin typeface="KIMM_Bold" pitchFamily="34" charset="0"/>
                <a:ea typeface="KIMM_Bold" pitchFamily="34" charset="-122"/>
                <a:cs typeface="KIMM_Bold" pitchFamily="34" charset="-120"/>
              </a:rPr>
              <a:t>Functions / FCM</a:t>
            </a:r>
            <a:endParaRPr lang="en-US" sz="1100" dirty="0"/>
          </a:p>
        </p:txBody>
      </p:sp>
      <p:sp>
        <p:nvSpPr>
          <p:cNvPr id="36" name="Text 30"/>
          <p:cNvSpPr/>
          <p:nvPr/>
        </p:nvSpPr>
        <p:spPr>
          <a:xfrm>
            <a:off x="6044184" y="5148072"/>
            <a:ext cx="5312664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47168"/>
                </a:solidFill>
                <a:latin typeface="A2Z" pitchFamily="34" charset="0"/>
                <a:ea typeface="A2Z" pitchFamily="34" charset="-122"/>
                <a:cs typeface="A2Z" pitchFamily="34" charset="-120"/>
              </a:rPr>
              <a:t>변경 내용을 등록된 Android 기기로 전달</a:t>
            </a:r>
            <a:endParaRPr lang="en-US" sz="850" dirty="0"/>
          </a:p>
        </p:txBody>
      </p:sp>
      <p:sp>
        <p:nvSpPr>
          <p:cNvPr id="37" name="Text 31"/>
          <p:cNvSpPr/>
          <p:nvPr/>
        </p:nvSpPr>
        <p:spPr>
          <a:xfrm>
            <a:off x="5870448" y="5733288"/>
            <a:ext cx="56327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10" b="1" dirty="0">
                <a:solidFill>
                  <a:srgbClr val="386948"/>
                </a:solidFill>
                <a:latin typeface="A2Z" pitchFamily="34" charset="0"/>
                <a:ea typeface="A2Z" pitchFamily="34" charset="-122"/>
                <a:cs typeface="A2Z" pitchFamily="34" charset="-120"/>
              </a:rPr>
              <a:t>초대 코드는 해시 저장   /   FCM 토큰은 등록 기기 문서에서 관리</a:t>
            </a:r>
            <a:endParaRPr lang="en-US" sz="91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KIMM_Bold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2Z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UI/UX 프로그래밍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Let's alarm - presentation</dc:title>
  <dc:subject>Android 우선 실시간 동기화 알람 앱 발표자료</dc:subject>
  <dc:creator>6조</dc:creator>
  <cp:lastModifiedBy>6조</cp:lastModifiedBy>
  <cp:revision>1</cp:revision>
  <dcterms:created xsi:type="dcterms:W3CDTF">2026-05-26T16:23:29Z</dcterms:created>
  <dcterms:modified xsi:type="dcterms:W3CDTF">2026-05-26T16:23:29Z</dcterms:modified>
</cp:coreProperties>
</file>