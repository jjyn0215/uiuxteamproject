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No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bold.fntdata"/><Relationship Id="rId14" Type="http://schemas.openxmlformats.org/officeDocument/2006/relationships/font" Target="fonts/NotoSans-regular.fntdata"/><Relationship Id="rId17" Type="http://schemas.openxmlformats.org/officeDocument/2006/relationships/font" Target="fonts/NotoSans-boldItalic.fntdata"/><Relationship Id="rId16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b1cfcdab7_0_17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g3eb1cfcdab7_0_17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eb1cfcdab7_0_176:notes"/>
          <p:cNvSpPr txBox="1"/>
          <p:nvPr>
            <p:ph idx="3" type="hdr"/>
          </p:nvPr>
        </p:nvSpPr>
        <p:spPr>
          <a:xfrm>
            <a:off x="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eb1cfcdab7_0_176:notes"/>
          <p:cNvSpPr txBox="1"/>
          <p:nvPr>
            <p:ph idx="10" type="dt"/>
          </p:nvPr>
        </p:nvSpPr>
        <p:spPr>
          <a:xfrm>
            <a:off x="427896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eb1cfcdab7_0_176:notes"/>
          <p:cNvSpPr txBox="1"/>
          <p:nvPr>
            <p:ph idx="11" type="ftr"/>
          </p:nvPr>
        </p:nvSpPr>
        <p:spPr>
          <a:xfrm>
            <a:off x="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eb1cfcdab7_0_17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b1cfcdab7_0_26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g3eb1cfcdab7_0_26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g3eb1cfcdab7_0_26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4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0"/>
            <a:ext cx="5470561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603360" y="384120"/>
            <a:ext cx="13713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603360" y="703800"/>
            <a:ext cx="10981800" cy="30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574935" y="4000435"/>
            <a:ext cx="3748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47168"/>
                </a:solidFill>
              </a:rPr>
              <a:t>UI/UX PROGRAMMING   /   TEAM 06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155680" y="6419160"/>
            <a:ext cx="411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38560" y="2532945"/>
            <a:ext cx="55776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1" i="0" sz="56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5920" y="3546750"/>
            <a:ext cx="54402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멀티 디바이스 실시간 동기화 알람 앱</a:t>
            </a:r>
            <a:endParaRPr b="1" i="0" sz="1800">
              <a:solidFill>
                <a:srgbClr val="2C34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565025" y="4347550"/>
            <a:ext cx="5524650" cy="1714500"/>
            <a:chOff x="619125" y="4572000"/>
            <a:chExt cx="5524650" cy="1714500"/>
          </a:xfrm>
        </p:grpSpPr>
        <p:sp>
          <p:nvSpPr>
            <p:cNvPr id="26" name="Google Shape;26;p3"/>
            <p:cNvSpPr/>
            <p:nvPr/>
          </p:nvSpPr>
          <p:spPr>
            <a:xfrm>
              <a:off x="619125" y="4572000"/>
              <a:ext cx="5524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619125" y="4572000"/>
              <a:ext cx="26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김준형 </a:t>
              </a:r>
              <a:r>
                <a:rPr b="0" lang="en-US" sz="11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계획 · 디자인 · 기능 구현 · 테스트</a:t>
              </a:r>
              <a:endParaRPr b="1" sz="13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정준호 </a:t>
              </a:r>
              <a:r>
                <a:rPr b="0" lang="en-US" sz="11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코드 작성 · 기능 구현 · 테스트</a:t>
              </a:r>
              <a:endParaRPr b="1" sz="13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3381375" y="4572000"/>
              <a:ext cx="2762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양상현 </a:t>
              </a:r>
              <a:r>
                <a:rPr b="0" lang="en-US" sz="11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자료조사 · 발표자료 · 테스트</a:t>
              </a:r>
              <a:endParaRPr b="1" sz="13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김민준 </a:t>
              </a:r>
              <a:r>
                <a:rPr b="0" lang="en-US" sz="11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UI/UX 기획 · 요구사항 정의 · 테스트</a:t>
              </a:r>
              <a:endParaRPr b="1" sz="13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8568000" y="1033200"/>
            <a:ext cx="2422800" cy="5120400"/>
          </a:xfrm>
          <a:prstGeom prst="roundRect">
            <a:avLst>
              <a:gd fmla="val 6792" name="adj"/>
            </a:avLst>
          </a:prstGeom>
          <a:solidFill>
            <a:srgbClr val="FFFFFF"/>
          </a:solidFill>
          <a:ln cap="flat" cmpd="sng" w="12700">
            <a:solidFill>
              <a:srgbClr val="D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550800" y="1188720"/>
            <a:ext cx="456900" cy="72600"/>
          </a:xfrm>
          <a:prstGeom prst="roundRect">
            <a:avLst>
              <a:gd fmla="val 37500" name="adj"/>
            </a:avLst>
          </a:prstGeom>
          <a:solidFill>
            <a:srgbClr val="D2DDD5"/>
          </a:solidFill>
          <a:ln cap="flat" cmpd="sng" w="12700">
            <a:solidFill>
              <a:srgbClr val="D2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875" lIns="90000" spcFirstLastPara="1" rIns="90000" wrap="square" tIns="11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832960" y="1563480"/>
            <a:ext cx="18924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07:30</a:t>
            </a:r>
            <a:endParaRPr b="0" sz="1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832960" y="1911240"/>
            <a:ext cx="1892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평일 아침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769240" y="2340720"/>
            <a:ext cx="2020200" cy="612300"/>
          </a:xfrm>
          <a:prstGeom prst="roundRect">
            <a:avLst>
              <a:gd fmla="val 11940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897040" y="2477880"/>
            <a:ext cx="17643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06:40  기상 알람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378440" y="2532960"/>
            <a:ext cx="264900" cy="109500"/>
          </a:xfrm>
          <a:prstGeom prst="roundRect">
            <a:avLst>
              <a:gd fmla="val 41667" name="adj"/>
            </a:avLst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800" lIns="90000" spcFirstLastPara="1" rIns="90000" wrap="square" tIns="3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769240" y="3072240"/>
            <a:ext cx="2020200" cy="612300"/>
          </a:xfrm>
          <a:prstGeom prst="roundRect">
            <a:avLst>
              <a:gd fmla="val 11940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897040" y="3209400"/>
            <a:ext cx="17643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07:30  회의 준비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378440" y="3264480"/>
            <a:ext cx="264900" cy="109500"/>
          </a:xfrm>
          <a:prstGeom prst="roundRect">
            <a:avLst>
              <a:gd fmla="val 41667" name="adj"/>
            </a:avLst>
          </a:prstGeom>
          <a:solidFill>
            <a:srgbClr val="B9EFC5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800" lIns="90000" spcFirstLastPara="1" rIns="90000" wrap="square" tIns="3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0396800" y="5394960"/>
            <a:ext cx="338100" cy="3381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0396800" y="5468040"/>
            <a:ext cx="3381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769239" y="5788076"/>
            <a:ext cx="1645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16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168"/>
              </a:solidFill>
            </a:endParaRPr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4">
            <a:alphaModFix/>
          </a:blip>
          <a:srcRect b="5820" l="0" r="0" t="0"/>
          <a:stretch/>
        </p:blipFill>
        <p:spPr>
          <a:xfrm>
            <a:off x="8590800" y="1312950"/>
            <a:ext cx="2377201" cy="465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4"/>
          <p:cNvCxnSpPr/>
          <p:nvPr/>
        </p:nvCxnSpPr>
        <p:spPr>
          <a:xfrm>
            <a:off x="600075" y="704850"/>
            <a:ext cx="10982400" cy="0"/>
          </a:xfrm>
          <a:prstGeom prst="straightConnector1">
            <a:avLst/>
          </a:prstGeom>
          <a:solidFill>
            <a:srgbClr val="FFFFFF"/>
          </a:solidFill>
          <a:ln cap="flat" cmpd="sng" w="12375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 txBox="1"/>
          <p:nvPr/>
        </p:nvSpPr>
        <p:spPr>
          <a:xfrm>
            <a:off x="600075" y="10477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1" sz="3200">
              <a:solidFill>
                <a:srgbClr val="2C34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4"/>
          <p:cNvGrpSpPr/>
          <p:nvPr/>
        </p:nvGrpSpPr>
        <p:grpSpPr>
          <a:xfrm>
            <a:off x="600075" y="2095500"/>
            <a:ext cx="5524500" cy="762000"/>
            <a:chOff x="0" y="0"/>
            <a:chExt cx="5524500" cy="762000"/>
          </a:xfrm>
        </p:grpSpPr>
        <p:sp>
          <p:nvSpPr>
            <p:cNvPr id="54" name="Google Shape;54;p4"/>
            <p:cNvSpPr/>
            <p:nvPr/>
          </p:nvSpPr>
          <p:spPr>
            <a:xfrm>
              <a:off x="0" y="0"/>
              <a:ext cx="55245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 txBox="1"/>
            <p:nvPr/>
          </p:nvSpPr>
          <p:spPr>
            <a:xfrm>
              <a:off x="190500" y="0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4"/>
            <p:cNvSpPr txBox="1"/>
            <p:nvPr/>
          </p:nvSpPr>
          <p:spPr>
            <a:xfrm>
              <a:off x="762000" y="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프로젝트 개요</a:t>
              </a:r>
              <a:endParaRPr b="1" sz="16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개발 배경 및 주요 목표</a:t>
              </a:r>
              <a:endParaRPr b="0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4"/>
          <p:cNvGrpSpPr/>
          <p:nvPr/>
        </p:nvGrpSpPr>
        <p:grpSpPr>
          <a:xfrm>
            <a:off x="600075" y="3000375"/>
            <a:ext cx="5524500" cy="762000"/>
            <a:chOff x="0" y="0"/>
            <a:chExt cx="5524500" cy="762000"/>
          </a:xfrm>
        </p:grpSpPr>
        <p:sp>
          <p:nvSpPr>
            <p:cNvPr id="58" name="Google Shape;58;p4"/>
            <p:cNvSpPr/>
            <p:nvPr/>
          </p:nvSpPr>
          <p:spPr>
            <a:xfrm>
              <a:off x="0" y="0"/>
              <a:ext cx="55245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 txBox="1"/>
            <p:nvPr/>
          </p:nvSpPr>
          <p:spPr>
            <a:xfrm>
              <a:off x="190500" y="0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762000" y="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주요 UI 및 기능</a:t>
              </a:r>
              <a:endParaRPr b="1" sz="16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알람 관리, 울림 및 계정 동기화</a:t>
              </a:r>
              <a:endParaRPr b="0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4"/>
          <p:cNvGrpSpPr/>
          <p:nvPr/>
        </p:nvGrpSpPr>
        <p:grpSpPr>
          <a:xfrm>
            <a:off x="600075" y="3905250"/>
            <a:ext cx="5524500" cy="762000"/>
            <a:chOff x="0" y="0"/>
            <a:chExt cx="5524500" cy="762000"/>
          </a:xfrm>
        </p:grpSpPr>
        <p:sp>
          <p:nvSpPr>
            <p:cNvPr id="62" name="Google Shape;62;p4"/>
            <p:cNvSpPr/>
            <p:nvPr/>
          </p:nvSpPr>
          <p:spPr>
            <a:xfrm>
              <a:off x="0" y="0"/>
              <a:ext cx="55245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 txBox="1"/>
            <p:nvPr/>
          </p:nvSpPr>
          <p:spPr>
            <a:xfrm>
              <a:off x="190500" y="0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"/>
            <p:cNvSpPr txBox="1"/>
            <p:nvPr/>
          </p:nvSpPr>
          <p:spPr>
            <a:xfrm>
              <a:off x="762000" y="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시스템 구조</a:t>
              </a:r>
              <a:endParaRPr b="1" sz="16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Firebase 기반 실시간 동기화 아키텍처</a:t>
              </a:r>
              <a:endParaRPr b="0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4"/>
          <p:cNvGrpSpPr/>
          <p:nvPr/>
        </p:nvGrpSpPr>
        <p:grpSpPr>
          <a:xfrm>
            <a:off x="600075" y="4810125"/>
            <a:ext cx="5524500" cy="762000"/>
            <a:chOff x="0" y="0"/>
            <a:chExt cx="5524500" cy="762000"/>
          </a:xfrm>
        </p:grpSpPr>
        <p:sp>
          <p:nvSpPr>
            <p:cNvPr id="66" name="Google Shape;66;p4"/>
            <p:cNvSpPr/>
            <p:nvPr/>
          </p:nvSpPr>
          <p:spPr>
            <a:xfrm>
              <a:off x="0" y="0"/>
              <a:ext cx="55245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 txBox="1"/>
            <p:nvPr/>
          </p:nvSpPr>
          <p:spPr>
            <a:xfrm>
              <a:off x="190500" y="0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 txBox="1"/>
            <p:nvPr/>
          </p:nvSpPr>
          <p:spPr>
            <a:xfrm>
              <a:off x="762000" y="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개발 성과 및 향후 계획</a:t>
              </a:r>
              <a:endParaRPr b="1" sz="16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테스트 결과 및 플랫폼 확장 로드맵</a:t>
              </a:r>
              <a:endParaRPr b="0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4"/>
          <p:cNvSpPr txBox="1"/>
          <p:nvPr/>
        </p:nvSpPr>
        <p:spPr>
          <a:xfrm>
            <a:off x="11153775" y="6419850"/>
            <a:ext cx="409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9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0"/>
            <a:ext cx="5470561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0"/>
            <a:ext cx="5470561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0" y="0"/>
            <a:ext cx="7826700" cy="6857700"/>
          </a:xfrm>
          <a:prstGeom prst="rect">
            <a:avLst/>
          </a:prstGeom>
          <a:solidFill>
            <a:srgbClr val="F7FAF4"/>
          </a:solidFill>
          <a:ln cap="flat" cmpd="sng" w="12700">
            <a:solidFill>
              <a:srgbClr val="F7FA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03360" y="384120"/>
            <a:ext cx="13713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603360" y="703800"/>
            <a:ext cx="10981800" cy="30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11155680" y="6419160"/>
            <a:ext cx="411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94360" y="969120"/>
            <a:ext cx="88692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C342E"/>
                </a:solidFill>
              </a:rPr>
              <a:t>개발 배경</a:t>
            </a:r>
            <a:r>
              <a:rPr b="1" lang="en-US" sz="27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b="1" lang="en-US" sz="2700">
                <a:solidFill>
                  <a:srgbClr val="2C342E"/>
                </a:solidFill>
              </a:rPr>
              <a:t>목표</a:t>
            </a:r>
            <a:endParaRPr b="0" sz="2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82" name="Google Shape;82;p5"/>
          <p:cNvGrpSpPr/>
          <p:nvPr/>
        </p:nvGrpSpPr>
        <p:grpSpPr>
          <a:xfrm>
            <a:off x="619125" y="1905000"/>
            <a:ext cx="10191750" cy="3048000"/>
            <a:chOff x="619125" y="1905000"/>
            <a:chExt cx="10191750" cy="3048000"/>
          </a:xfrm>
        </p:grpSpPr>
        <p:sp>
          <p:nvSpPr>
            <p:cNvPr id="83" name="Google Shape;83;p5"/>
            <p:cNvSpPr/>
            <p:nvPr/>
          </p:nvSpPr>
          <p:spPr>
            <a:xfrm>
              <a:off x="619125" y="1905000"/>
              <a:ext cx="4953000" cy="3048000"/>
            </a:xfrm>
            <a:prstGeom prst="roundRect">
              <a:avLst>
                <a:gd fmla="val 4687" name="adj"/>
              </a:avLst>
            </a:prstGeom>
            <a:solidFill>
              <a:srgbClr val="FFFFFF"/>
            </a:solidFill>
            <a:ln cap="flat" cmpd="sng" w="14300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57250" y="2143125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EE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904875" y="2225802"/>
              <a:ext cx="324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3869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040">
                <a:solidFill>
                  <a:srgbClr val="3869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857250" y="2667000"/>
              <a:ext cx="4476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기존 알람 앱의 한계</a:t>
              </a:r>
              <a:endParaRPr b="1" sz="16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A554D"/>
                  </a:solidFill>
                  <a:latin typeface="Arial"/>
                  <a:ea typeface="Arial"/>
                  <a:cs typeface="Arial"/>
                  <a:sym typeface="Arial"/>
                </a:rPr>
                <a:t>대부분의 기존 앱은 단일 기기 환경에서만 동작하여 기기간 상태 공유가 불가능합니다.</a:t>
              </a:r>
              <a:endParaRPr b="0" sz="1300">
                <a:solidFill>
                  <a:srgbClr val="4A55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647168"/>
                </a:buClr>
                <a:buSzPts val="1150"/>
                <a:buFont typeface="Arial"/>
                <a:buChar char="●"/>
              </a:pPr>
              <a:r>
                <a:rPr b="0" lang="en-US" sz="115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스마트폰 설정 알람의 타 기기 공유 불가</a:t>
              </a:r>
              <a:endParaRPr b="0" sz="115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47168"/>
                </a:buClr>
                <a:buSzPts val="1150"/>
                <a:buFont typeface="Arial"/>
                <a:buChar char="●"/>
              </a:pPr>
              <a:r>
                <a:rPr b="0" lang="en-US" sz="115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알람 해제 및 스누즈 제어 상태 미동기화</a:t>
              </a:r>
              <a:endParaRPr b="0" sz="115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857875" y="1905000"/>
              <a:ext cx="4953000" cy="3048000"/>
            </a:xfrm>
            <a:prstGeom prst="roundRect">
              <a:avLst>
                <a:gd fmla="val 4687" name="adj"/>
              </a:avLst>
            </a:prstGeom>
            <a:solidFill>
              <a:srgbClr val="F0FAF3"/>
            </a:solidFill>
            <a:ln cap="flat" cmpd="sng" w="14300">
              <a:solidFill>
                <a:srgbClr val="B9EF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096000" y="2143125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 txBox="1"/>
            <p:nvPr/>
          </p:nvSpPr>
          <p:spPr>
            <a:xfrm>
              <a:off x="6143625" y="2225802"/>
              <a:ext cx="324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3869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040">
                <a:solidFill>
                  <a:srgbClr val="3869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0" name="Google Shape;90;p5"/>
            <p:cNvSpPr txBox="1"/>
            <p:nvPr/>
          </p:nvSpPr>
          <p:spPr>
            <a:xfrm>
              <a:off x="6096000" y="2667000"/>
              <a:ext cx="4476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프로젝트 목표</a:t>
              </a:r>
              <a:endParaRPr b="1" sz="16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A554D"/>
                  </a:solidFill>
                  <a:latin typeface="Arial"/>
                  <a:ea typeface="Arial"/>
                  <a:cs typeface="Arial"/>
                  <a:sym typeface="Arial"/>
                </a:rPr>
                <a:t>Flutter와 Firebase를 활용하여 실시간 멀티 디바이스 동기화 솔루션을 구축합니다.</a:t>
              </a:r>
              <a:endParaRPr b="0" sz="1300">
                <a:solidFill>
                  <a:srgbClr val="4A55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647168"/>
                </a:buClr>
                <a:buSzPts val="1150"/>
                <a:buFont typeface="Arial"/>
                <a:buChar char="●"/>
              </a:pPr>
              <a:r>
                <a:rPr b="0" lang="en-US" sz="115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Flutter 기반 크로스 플랫폼 개발</a:t>
              </a:r>
              <a:endParaRPr b="0" sz="115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47168"/>
                </a:buClr>
                <a:buSzPts val="1150"/>
                <a:buFont typeface="Arial"/>
                <a:buChar char="●"/>
              </a:pPr>
              <a:r>
                <a:rPr b="0" lang="en-US" sz="115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Firebase Realtime Database 동기화</a:t>
              </a:r>
              <a:endParaRPr b="0" sz="115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47168"/>
                </a:buClr>
                <a:buSzPts val="1150"/>
                <a:buFont typeface="Arial"/>
                <a:buChar char="●"/>
              </a:pPr>
              <a:r>
                <a:rPr b="0" lang="en-US" sz="115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rPr>
                <a:t>통합 알람 제어 인터페이스 구현</a:t>
              </a:r>
              <a:endParaRPr b="0" sz="115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6"/>
          <p:cNvGrpSpPr/>
          <p:nvPr/>
        </p:nvGrpSpPr>
        <p:grpSpPr>
          <a:xfrm>
            <a:off x="594360" y="703897"/>
            <a:ext cx="10990972" cy="820103"/>
            <a:chOff x="594360" y="703898"/>
            <a:chExt cx="10990972" cy="820103"/>
          </a:xfrm>
        </p:grpSpPr>
        <p:cxnSp>
          <p:nvCxnSpPr>
            <p:cNvPr id="97" name="Google Shape;97;p6"/>
            <p:cNvCxnSpPr/>
            <p:nvPr/>
          </p:nvCxnSpPr>
          <p:spPr>
            <a:xfrm>
              <a:off x="602932" y="703898"/>
              <a:ext cx="10982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DAE6D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" name="Google Shape;98;p6"/>
            <p:cNvSpPr/>
            <p:nvPr/>
          </p:nvSpPr>
          <p:spPr>
            <a:xfrm>
              <a:off x="594360" y="952500"/>
              <a:ext cx="886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rPr>
                <a:t>주요 UI 기능 I. 알람 관리</a:t>
              </a:r>
              <a:endParaRPr b="1" sz="3200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6"/>
          <p:cNvGrpSpPr/>
          <p:nvPr/>
        </p:nvGrpSpPr>
        <p:grpSpPr>
          <a:xfrm>
            <a:off x="621982" y="1809750"/>
            <a:ext cx="6731318" cy="4000500"/>
            <a:chOff x="621983" y="1809750"/>
            <a:chExt cx="6731318" cy="4000500"/>
          </a:xfrm>
        </p:grpSpPr>
        <p:grpSp>
          <p:nvGrpSpPr>
            <p:cNvPr id="100" name="Google Shape;100;p6"/>
            <p:cNvGrpSpPr/>
            <p:nvPr/>
          </p:nvGrpSpPr>
          <p:grpSpPr>
            <a:xfrm>
              <a:off x="621982" y="1809750"/>
              <a:ext cx="3238500" cy="4000500"/>
              <a:chOff x="621983" y="1809750"/>
              <a:chExt cx="3238500" cy="4000500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621982" y="1809750"/>
                <a:ext cx="3238500" cy="4000500"/>
              </a:xfrm>
              <a:prstGeom prst="roundRect">
                <a:avLst>
                  <a:gd fmla="val 4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E6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764858" y="1952625"/>
                <a:ext cx="2952900" cy="3238500"/>
              </a:xfrm>
              <a:prstGeom prst="roundRect">
                <a:avLst>
                  <a:gd fmla="val 3225" name="adj"/>
                </a:avLst>
              </a:prstGeom>
              <a:solidFill>
                <a:srgbClr val="EEF5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3" name="Google Shape;103;p6"/>
              <p:cNvCxnSpPr/>
              <p:nvPr/>
            </p:nvCxnSpPr>
            <p:spPr>
              <a:xfrm>
                <a:off x="764858" y="1952625"/>
                <a:ext cx="2952900" cy="3238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6"/>
              <p:cNvCxnSpPr/>
              <p:nvPr/>
            </p:nvCxnSpPr>
            <p:spPr>
              <a:xfrm flipH="1">
                <a:off x="764707" y="1952625"/>
                <a:ext cx="2952900" cy="3238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5" name="Google Shape;105;p6"/>
              <p:cNvSpPr txBox="1"/>
              <p:nvPr/>
            </p:nvSpPr>
            <p:spPr>
              <a:xfrm>
                <a:off x="764858" y="3286125"/>
                <a:ext cx="2952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86948"/>
                    </a:solidFill>
                    <a:latin typeface="Arial"/>
                    <a:ea typeface="Arial"/>
                    <a:cs typeface="Arial"/>
                    <a:sym typeface="Arial"/>
                  </a:rPr>
                  <a:t>실제 앱 화면 캡처 삽입</a:t>
                </a:r>
                <a:endParaRPr b="1" sz="11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"/>
              <p:cNvSpPr txBox="1"/>
              <p:nvPr/>
            </p:nvSpPr>
            <p:spPr>
              <a:xfrm>
                <a:off x="764858" y="5286375"/>
                <a:ext cx="2952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AlarmHomeScreen</a:t>
                </a:r>
                <a:endParaRPr b="1" sz="12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홈 화면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Google Shape;107;p6"/>
            <p:cNvGrpSpPr/>
            <p:nvPr/>
          </p:nvGrpSpPr>
          <p:grpSpPr>
            <a:xfrm>
              <a:off x="4114800" y="1809750"/>
              <a:ext cx="3238500" cy="4000500"/>
              <a:chOff x="4114800" y="1809750"/>
              <a:chExt cx="3238500" cy="4000500"/>
            </a:xfrm>
          </p:grpSpPr>
          <p:sp>
            <p:nvSpPr>
              <p:cNvPr id="108" name="Google Shape;108;p6"/>
              <p:cNvSpPr/>
              <p:nvPr/>
            </p:nvSpPr>
            <p:spPr>
              <a:xfrm>
                <a:off x="4114800" y="1809750"/>
                <a:ext cx="3238500" cy="4000500"/>
              </a:xfrm>
              <a:prstGeom prst="roundRect">
                <a:avLst>
                  <a:gd fmla="val 4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E6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257675" y="1952625"/>
                <a:ext cx="2952900" cy="3238500"/>
              </a:xfrm>
              <a:prstGeom prst="roundRect">
                <a:avLst>
                  <a:gd fmla="val 3225" name="adj"/>
                </a:avLst>
              </a:prstGeom>
              <a:solidFill>
                <a:srgbClr val="EEF5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" name="Google Shape;110;p6"/>
              <p:cNvCxnSpPr/>
              <p:nvPr/>
            </p:nvCxnSpPr>
            <p:spPr>
              <a:xfrm>
                <a:off x="4257675" y="1952625"/>
                <a:ext cx="2952900" cy="3238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6"/>
              <p:cNvCxnSpPr/>
              <p:nvPr/>
            </p:nvCxnSpPr>
            <p:spPr>
              <a:xfrm flipH="1">
                <a:off x="4257525" y="1952625"/>
                <a:ext cx="2952900" cy="3238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2" name="Google Shape;112;p6"/>
              <p:cNvSpPr txBox="1"/>
              <p:nvPr/>
            </p:nvSpPr>
            <p:spPr>
              <a:xfrm>
                <a:off x="4257675" y="3286125"/>
                <a:ext cx="2952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86948"/>
                    </a:solidFill>
                    <a:latin typeface="Arial"/>
                    <a:ea typeface="Arial"/>
                    <a:cs typeface="Arial"/>
                    <a:sym typeface="Arial"/>
                  </a:rPr>
                  <a:t>실제 앱 화면 캡처 삽입</a:t>
                </a:r>
                <a:endParaRPr b="1" sz="11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6"/>
              <p:cNvSpPr txBox="1"/>
              <p:nvPr/>
            </p:nvSpPr>
            <p:spPr>
              <a:xfrm>
                <a:off x="4257675" y="5286375"/>
                <a:ext cx="2952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AlarmEditorSheet</a:t>
                </a:r>
                <a:endParaRPr b="1" sz="12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편집 화면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oogle Shape;114;p6"/>
          <p:cNvGrpSpPr/>
          <p:nvPr/>
        </p:nvGrpSpPr>
        <p:grpSpPr>
          <a:xfrm>
            <a:off x="7708583" y="1809750"/>
            <a:ext cx="3867300" cy="3857700"/>
            <a:chOff x="7708583" y="1809750"/>
            <a:chExt cx="3867300" cy="3857700"/>
          </a:xfrm>
        </p:grpSpPr>
        <p:sp>
          <p:nvSpPr>
            <p:cNvPr id="115" name="Google Shape;115;p6"/>
            <p:cNvSpPr txBox="1"/>
            <p:nvPr/>
          </p:nvSpPr>
          <p:spPr>
            <a:xfrm>
              <a:off x="7735253" y="1809750"/>
              <a:ext cx="1554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6948"/>
                  </a:solidFill>
                  <a:latin typeface="Arial"/>
                  <a:ea typeface="Arial"/>
                  <a:cs typeface="Arial"/>
                  <a:sym typeface="Arial"/>
                </a:rPr>
                <a:t>USER ACTION</a:t>
              </a:r>
              <a:endParaRPr b="1" sz="10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" name="Google Shape;116;p6"/>
            <p:cNvGrpSpPr/>
            <p:nvPr/>
          </p:nvGrpSpPr>
          <p:grpSpPr>
            <a:xfrm>
              <a:off x="7708583" y="2143125"/>
              <a:ext cx="3867300" cy="809700"/>
              <a:chOff x="0" y="0"/>
              <a:chExt cx="3867300" cy="809700"/>
            </a:xfrm>
          </p:grpSpPr>
          <p:sp>
            <p:nvSpPr>
              <p:cNvPr id="117" name="Google Shape;117;p6"/>
              <p:cNvSpPr/>
              <p:nvPr/>
            </p:nvSpPr>
            <p:spPr>
              <a:xfrm>
                <a:off x="0" y="0"/>
                <a:ext cx="3867300" cy="809700"/>
              </a:xfrm>
              <a:prstGeom prst="roundRect">
                <a:avLst>
                  <a:gd fmla="val 11764" name="adj"/>
                </a:avLst>
              </a:prstGeom>
              <a:solidFill>
                <a:srgbClr val="E7F7EB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8" name="Google Shape;118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2875" y="252413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6"/>
              <p:cNvSpPr txBox="1"/>
              <p:nvPr/>
            </p:nvSpPr>
            <p:spPr>
              <a:xfrm>
                <a:off x="571500" y="0"/>
                <a:ext cx="3143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알람 목록 확인</a:t>
                </a:r>
                <a:endParaRPr b="1" sz="11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시간 / 상태 / 그룹 표시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6"/>
            <p:cNvGrpSpPr/>
            <p:nvPr/>
          </p:nvGrpSpPr>
          <p:grpSpPr>
            <a:xfrm>
              <a:off x="7708583" y="3048000"/>
              <a:ext cx="3867300" cy="809700"/>
              <a:chOff x="0" y="0"/>
              <a:chExt cx="3867300" cy="809700"/>
            </a:xfrm>
          </p:grpSpPr>
          <p:sp>
            <p:nvSpPr>
              <p:cNvPr id="121" name="Google Shape;121;p6"/>
              <p:cNvSpPr/>
              <p:nvPr/>
            </p:nvSpPr>
            <p:spPr>
              <a:xfrm>
                <a:off x="0" y="0"/>
                <a:ext cx="3867300" cy="8097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E6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2" name="Google Shape;122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42875" y="252413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p6"/>
              <p:cNvSpPr txBox="1"/>
              <p:nvPr/>
            </p:nvSpPr>
            <p:spPr>
              <a:xfrm>
                <a:off x="571500" y="0"/>
                <a:ext cx="3143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활성화 토글</a:t>
                </a:r>
                <a:endParaRPr b="1" sz="11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예약 켜기 또는 끄기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6"/>
            <p:cNvGrpSpPr/>
            <p:nvPr/>
          </p:nvGrpSpPr>
          <p:grpSpPr>
            <a:xfrm>
              <a:off x="7708583" y="3952875"/>
              <a:ext cx="3867300" cy="809700"/>
              <a:chOff x="0" y="0"/>
              <a:chExt cx="3867300" cy="809700"/>
            </a:xfrm>
          </p:grpSpPr>
          <p:sp>
            <p:nvSpPr>
              <p:cNvPr id="125" name="Google Shape;125;p6"/>
              <p:cNvSpPr/>
              <p:nvPr/>
            </p:nvSpPr>
            <p:spPr>
              <a:xfrm>
                <a:off x="0" y="0"/>
                <a:ext cx="3867300" cy="8097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E6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6" name="Google Shape;126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42875" y="252413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" name="Google Shape;127;p6"/>
              <p:cNvSpPr txBox="1"/>
              <p:nvPr/>
            </p:nvSpPr>
            <p:spPr>
              <a:xfrm>
                <a:off x="571500" y="0"/>
                <a:ext cx="3143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요일 반복 설정</a:t>
                </a:r>
                <a:endParaRPr b="1" sz="11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월 - 일 반복 선택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6"/>
            <p:cNvGrpSpPr/>
            <p:nvPr/>
          </p:nvGrpSpPr>
          <p:grpSpPr>
            <a:xfrm>
              <a:off x="7708583" y="4857750"/>
              <a:ext cx="3867300" cy="809700"/>
              <a:chOff x="0" y="0"/>
              <a:chExt cx="3867300" cy="809700"/>
            </a:xfrm>
          </p:grpSpPr>
          <p:sp>
            <p:nvSpPr>
              <p:cNvPr id="129" name="Google Shape;129;p6"/>
              <p:cNvSpPr/>
              <p:nvPr/>
            </p:nvSpPr>
            <p:spPr>
              <a:xfrm>
                <a:off x="0" y="0"/>
                <a:ext cx="3867300" cy="809700"/>
              </a:xfrm>
              <a:prstGeom prst="roundRect">
                <a:avLst>
                  <a:gd fmla="val 11764" name="adj"/>
                </a:avLst>
              </a:prstGeom>
              <a:solidFill>
                <a:srgbClr val="E7F7EB"/>
              </a:solidFill>
              <a:ln cap="flat" cmpd="sng" w="9525">
                <a:solidFill>
                  <a:srgbClr val="B9EFC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0" name="Google Shape;130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42875" y="252413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" name="Google Shape;131;p6"/>
              <p:cNvSpPr txBox="1"/>
              <p:nvPr/>
            </p:nvSpPr>
            <p:spPr>
              <a:xfrm>
                <a:off x="571500" y="0"/>
                <a:ext cx="3143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342E"/>
                    </a:solidFill>
                    <a:latin typeface="Arial"/>
                    <a:ea typeface="Arial"/>
                    <a:cs typeface="Arial"/>
                    <a:sym typeface="Arial"/>
                  </a:rPr>
                  <a:t>소리 · 진동 · 다시 알림</a:t>
                </a:r>
                <a:endParaRPr b="1" sz="1100">
                  <a:solidFill>
                    <a:srgbClr val="2C342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647168"/>
                    </a:solidFill>
                    <a:latin typeface="Arial"/>
                    <a:ea typeface="Arial"/>
                    <a:cs typeface="Arial"/>
                    <a:sym typeface="Arial"/>
                  </a:rPr>
                  <a:t>스누즈 간격 / 횟수</a:t>
                </a:r>
                <a:endParaRPr b="0" sz="1000">
                  <a:solidFill>
                    <a:srgbClr val="64716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p6"/>
          <p:cNvSpPr/>
          <p:nvPr/>
        </p:nvSpPr>
        <p:spPr>
          <a:xfrm>
            <a:off x="11155680" y="6418897"/>
            <a:ext cx="411600" cy="16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10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603360" y="384120"/>
            <a:ext cx="1371300" cy="18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1" sz="9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603360" y="703800"/>
            <a:ext cx="10981800" cy="30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7"/>
          <p:cNvSpPr/>
          <p:nvPr/>
        </p:nvSpPr>
        <p:spPr>
          <a:xfrm>
            <a:off x="594360" y="969121"/>
            <a:ext cx="8869200" cy="47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F1B"/>
                </a:solidFill>
                <a:latin typeface="Arial"/>
                <a:ea typeface="Arial"/>
                <a:cs typeface="Arial"/>
                <a:sym typeface="Arial"/>
              </a:rPr>
              <a:t>주요 UI 기능 II. 울림과 계정 동기화</a:t>
            </a:r>
            <a:endParaRPr b="1" sz="2800">
              <a:solidFill>
                <a:srgbClr val="1A1F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19125" y="1905000"/>
            <a:ext cx="3048000" cy="4000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43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71525" y="2057400"/>
            <a:ext cx="2743200" cy="3048000"/>
          </a:xfrm>
          <a:prstGeom prst="roundRect">
            <a:avLst>
              <a:gd fmla="val 3472" name="adj"/>
            </a:avLst>
          </a:prstGeom>
          <a:solidFill>
            <a:srgbClr val="EEF5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7"/>
          <p:cNvCxnSpPr/>
          <p:nvPr/>
        </p:nvCxnSpPr>
        <p:spPr>
          <a:xfrm>
            <a:off x="771525" y="2057400"/>
            <a:ext cx="274320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7"/>
          <p:cNvCxnSpPr/>
          <p:nvPr/>
        </p:nvCxnSpPr>
        <p:spPr>
          <a:xfrm flipH="1">
            <a:off x="771525" y="2057400"/>
            <a:ext cx="274320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7"/>
          <p:cNvSpPr/>
          <p:nvPr/>
        </p:nvSpPr>
        <p:spPr>
          <a:xfrm>
            <a:off x="771525" y="3576638"/>
            <a:ext cx="2743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실제 앱 화면 캡처 삽입</a:t>
            </a:r>
            <a:endParaRPr b="1" i="0" sz="11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71525" y="5191125"/>
            <a:ext cx="2743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F1B"/>
                </a:solidFill>
                <a:latin typeface="Arial"/>
                <a:ea typeface="Arial"/>
                <a:cs typeface="Arial"/>
                <a:sym typeface="Arial"/>
              </a:rPr>
              <a:t>AlarmRingScreen</a:t>
            </a:r>
            <a:endParaRPr b="1" sz="1200">
              <a:solidFill>
                <a:srgbClr val="1A1F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울림 화면</a:t>
            </a:r>
            <a:endParaRPr b="0" sz="10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905250" y="1905000"/>
            <a:ext cx="3048000" cy="4000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43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057650" y="2057400"/>
            <a:ext cx="2743200" cy="3048000"/>
          </a:xfrm>
          <a:prstGeom prst="roundRect">
            <a:avLst>
              <a:gd fmla="val 3472" name="adj"/>
            </a:avLst>
          </a:prstGeom>
          <a:solidFill>
            <a:srgbClr val="EEF5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7"/>
          <p:cNvCxnSpPr/>
          <p:nvPr/>
        </p:nvCxnSpPr>
        <p:spPr>
          <a:xfrm>
            <a:off x="4057650" y="2057400"/>
            <a:ext cx="274320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7"/>
          <p:cNvCxnSpPr/>
          <p:nvPr/>
        </p:nvCxnSpPr>
        <p:spPr>
          <a:xfrm flipH="1">
            <a:off x="4057650" y="2057400"/>
            <a:ext cx="274320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4057650" y="3576638"/>
            <a:ext cx="2743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실제 앱 화면 캡처 삽입</a:t>
            </a:r>
            <a:endParaRPr b="1" i="0" sz="11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057650" y="5191125"/>
            <a:ext cx="2743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F1B"/>
                </a:solidFill>
                <a:latin typeface="Arial"/>
                <a:ea typeface="Arial"/>
                <a:cs typeface="Arial"/>
                <a:sym typeface="Arial"/>
              </a:rPr>
              <a:t>Auth / Group Screen</a:t>
            </a:r>
            <a:endParaRPr b="1" sz="1200">
              <a:solidFill>
                <a:srgbClr val="1A1F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계정 관리</a:t>
            </a:r>
            <a:endParaRPr b="0" sz="10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191375" y="1905000"/>
            <a:ext cx="4381500" cy="1762200"/>
          </a:xfrm>
          <a:prstGeom prst="roundRect">
            <a:avLst>
              <a:gd fmla="val 8648" name="adj"/>
            </a:avLst>
          </a:prstGeom>
          <a:solidFill>
            <a:srgbClr val="FFFFFF"/>
          </a:solidFill>
          <a:ln cap="flat" cmpd="sng" w="143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381875" y="209550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EEF5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143125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905750" y="2143125"/>
            <a:ext cx="3143400" cy="3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F1B"/>
                </a:solidFill>
                <a:latin typeface="Arial"/>
                <a:ea typeface="Arial"/>
                <a:cs typeface="Arial"/>
                <a:sym typeface="Arial"/>
              </a:rPr>
              <a:t>알람 울림</a:t>
            </a:r>
            <a:endParaRPr b="1" sz="1400">
              <a:solidFill>
                <a:srgbClr val="1A1F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81875" y="2619375"/>
            <a:ext cx="4000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잠금화면 전용 화면</a:t>
            </a:r>
            <a:endParaRPr b="1" i="0" sz="12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647168"/>
              </a:buClr>
              <a:buSzPts val="1200"/>
              <a:buFont typeface="Arial"/>
              <a:buChar char="●"/>
            </a:pPr>
            <a:r>
              <a:rPr b="0" i="0" lang="en-US" sz="12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Dismiss: 현재 울림 종료</a:t>
            </a:r>
            <a:endParaRPr b="0" i="0" sz="12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50"/>
              </a:spcBef>
              <a:spcAft>
                <a:spcPts val="0"/>
              </a:spcAft>
              <a:buClr>
                <a:srgbClr val="647168"/>
              </a:buClr>
              <a:buSzPts val="1200"/>
              <a:buFont typeface="Arial"/>
              <a:buChar char="●"/>
            </a:pPr>
            <a:r>
              <a:rPr b="0" i="0" lang="en-US" sz="12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Snooze: 설정 시간 뒤 재알림</a:t>
            </a:r>
            <a:endParaRPr b="0" i="0" sz="12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191375" y="3810000"/>
            <a:ext cx="4381500" cy="1476300"/>
          </a:xfrm>
          <a:prstGeom prst="roundRect">
            <a:avLst>
              <a:gd fmla="val 10322" name="adj"/>
            </a:avLst>
          </a:prstGeom>
          <a:solidFill>
            <a:srgbClr val="F0FAF3"/>
          </a:solidFill>
          <a:ln cap="flat" cmpd="sng" w="143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381875" y="395287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0" y="400050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7905750" y="4000500"/>
            <a:ext cx="3143400" cy="3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A1F1B"/>
                </a:solidFill>
                <a:latin typeface="Arial"/>
                <a:ea typeface="Arial"/>
                <a:cs typeface="Arial"/>
                <a:sym typeface="Arial"/>
              </a:rPr>
              <a:t>사용 방식</a:t>
            </a:r>
            <a:endParaRPr b="1" i="0" sz="1400">
              <a:solidFill>
                <a:srgbClr val="1A1F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381875" y="4333875"/>
            <a:ext cx="4000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• 로그아웃: 로컬 알람 사용</a:t>
            </a:r>
            <a:endParaRPr b="0" i="0" sz="12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• 로그인 + 그룹: 공유 동기화 사용</a:t>
            </a:r>
            <a:endParaRPr b="0" i="0" sz="1200">
              <a:solidFill>
                <a:srgbClr val="647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155680" y="6419164"/>
            <a:ext cx="411000" cy="16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900">
              <a:solidFill>
                <a:srgbClr val="3869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8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603360" y="384120"/>
            <a:ext cx="13712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B9EFC5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0" sz="9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235440" y="384120"/>
            <a:ext cx="2194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>
            <a:off x="603360" y="703800"/>
            <a:ext cx="10981800" cy="360"/>
          </a:xfrm>
          <a:prstGeom prst="straightConnector1">
            <a:avLst/>
          </a:prstGeom>
          <a:noFill/>
          <a:ln cap="flat" cmpd="sng" w="12700">
            <a:solidFill>
              <a:srgbClr val="5277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8"/>
          <p:cNvSpPr/>
          <p:nvPr/>
        </p:nvSpPr>
        <p:spPr>
          <a:xfrm>
            <a:off x="11155680" y="6419160"/>
            <a:ext cx="411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B9EFC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sz="9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94360" y="996840"/>
            <a:ext cx="66290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Firebase 기반 동기화 알람 구조</a:t>
            </a:r>
            <a:endParaRPr b="0" sz="27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12720" y="1554480"/>
            <a:ext cx="68576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D5E9DE"/>
                </a:solidFill>
                <a:latin typeface="Arial"/>
                <a:ea typeface="Arial"/>
                <a:cs typeface="Arial"/>
                <a:sym typeface="Arial"/>
              </a:rPr>
              <a:t>기기 간에는 변경 상태를 전달하고, 정각 울림은 각 Android 기기가 수행합니다.</a:t>
            </a:r>
            <a:endParaRPr b="0" sz="10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94360" y="2240280"/>
            <a:ext cx="2121120" cy="2834280"/>
          </a:xfrm>
          <a:prstGeom prst="roundRect">
            <a:avLst>
              <a:gd fmla="val 4310" name="adj"/>
            </a:avLst>
          </a:prstGeom>
          <a:solidFill>
            <a:srgbClr val="214537"/>
          </a:solidFill>
          <a:ln cap="flat" cmpd="sng" w="12700">
            <a:solidFill>
              <a:srgbClr val="527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13960" y="2459880"/>
            <a:ext cx="10238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B9EFC5"/>
                </a:solidFill>
                <a:latin typeface="Arial"/>
                <a:ea typeface="Arial"/>
                <a:cs typeface="Arial"/>
                <a:sym typeface="Arial"/>
              </a:rPr>
              <a:t>DEVICE A</a:t>
            </a:r>
            <a:endParaRPr b="0" sz="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04600" y="2871360"/>
            <a:ext cx="1709640" cy="749520"/>
          </a:xfrm>
          <a:prstGeom prst="roundRect">
            <a:avLst>
              <a:gd fmla="val 9756" name="adj"/>
            </a:avLst>
          </a:prstGeom>
          <a:solidFill>
            <a:srgbClr val="F7FAF4"/>
          </a:solidFill>
          <a:ln cap="flat" cmpd="sng" w="12700">
            <a:solidFill>
              <a:srgbClr val="F7F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120" y="304488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1325880" y="3026520"/>
            <a:ext cx="1069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Flutter Android 앱</a:t>
            </a:r>
            <a:endParaRPr b="0" sz="9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325880" y="3291840"/>
            <a:ext cx="1069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알람 생성 / 수정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04600" y="3931920"/>
            <a:ext cx="1709640" cy="749520"/>
          </a:xfrm>
          <a:prstGeom prst="roundRect">
            <a:avLst>
              <a:gd fmla="val 9756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120" y="410580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1325880" y="4087440"/>
            <a:ext cx="1069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로컬 알람 예약</a:t>
            </a:r>
            <a:endParaRPr b="0" sz="9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325880" y="4352400"/>
            <a:ext cx="1069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정각 울림 담당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273480" y="2057400"/>
            <a:ext cx="5623200" cy="3200040"/>
          </a:xfrm>
          <a:prstGeom prst="roundRect">
            <a:avLst>
              <a:gd fmla="val 2857" name="adj"/>
            </a:avLst>
          </a:prstGeom>
          <a:solidFill>
            <a:srgbClr val="F7FAF4"/>
          </a:solidFill>
          <a:ln cap="flat" cmpd="sng" w="12700">
            <a:solidFill>
              <a:srgbClr val="F7F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529440" y="2286000"/>
            <a:ext cx="19198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FIREBASE CLOUD</a:t>
            </a:r>
            <a:endParaRPr b="0" sz="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557160" y="2770560"/>
            <a:ext cx="1142640" cy="77688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3320" y="294444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4078080" y="2926080"/>
            <a:ext cx="502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sz="8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078080" y="3191400"/>
            <a:ext cx="502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사용자 식별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901040" y="2770560"/>
            <a:ext cx="1170000" cy="776880"/>
          </a:xfrm>
          <a:prstGeom prst="roundRect">
            <a:avLst>
              <a:gd fmla="val 9412" name="adj"/>
            </a:avLst>
          </a:prstGeom>
          <a:solidFill>
            <a:srgbClr val="FFF3CD"/>
          </a:solidFill>
          <a:ln cap="flat" cmpd="sng" w="12700">
            <a:solidFill>
              <a:srgbClr val="F0B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065920" y="2926080"/>
            <a:ext cx="8866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Cloud Firestore</a:t>
            </a:r>
            <a:endParaRPr b="0" sz="83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065920" y="3191400"/>
            <a:ext cx="8866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공유 원본 저장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282000" y="2770560"/>
            <a:ext cx="1170000" cy="776880"/>
          </a:xfrm>
          <a:prstGeom prst="roundRect">
            <a:avLst>
              <a:gd fmla="val 9412" name="adj"/>
            </a:avLst>
          </a:prstGeom>
          <a:solidFill>
            <a:srgbClr val="FFF3CD"/>
          </a:solidFill>
          <a:ln cap="flat" cmpd="sng" w="12700">
            <a:solidFill>
              <a:srgbClr val="F0B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46520" y="2926080"/>
            <a:ext cx="8866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Cloud Functions</a:t>
            </a:r>
            <a:endParaRPr b="0" sz="83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446520" y="3191400"/>
            <a:ext cx="8866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변경 감지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671960" y="2770560"/>
            <a:ext cx="941400" cy="776880"/>
          </a:xfrm>
          <a:prstGeom prst="roundRect">
            <a:avLst>
              <a:gd fmla="val 9412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8120" y="294444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8192880" y="2926080"/>
            <a:ext cx="3013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FCM</a:t>
            </a:r>
            <a:endParaRPr b="0" sz="9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192880" y="3191400"/>
            <a:ext cx="3013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변경 전달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74480" y="4005000"/>
            <a:ext cx="6580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1. 저장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391800" y="4005000"/>
            <a:ext cx="6580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2. 감지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745040" y="4005000"/>
            <a:ext cx="6580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3. 전달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3575160" y="4516920"/>
            <a:ext cx="4983480" cy="36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8"/>
          <p:cNvSpPr/>
          <p:nvPr/>
        </p:nvSpPr>
        <p:spPr>
          <a:xfrm>
            <a:off x="3675960" y="4700160"/>
            <a:ext cx="475452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로그인 / 그룹 공유 알람 동기화 경로</a:t>
            </a:r>
            <a:endParaRPr b="0" sz="82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445680" y="2240280"/>
            <a:ext cx="2148480" cy="2834280"/>
          </a:xfrm>
          <a:prstGeom prst="roundRect">
            <a:avLst>
              <a:gd fmla="val 4255" name="adj"/>
            </a:avLst>
          </a:prstGeom>
          <a:solidFill>
            <a:srgbClr val="214537"/>
          </a:solidFill>
          <a:ln cap="flat" cmpd="sng" w="12700">
            <a:solidFill>
              <a:srgbClr val="527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665280" y="2459880"/>
            <a:ext cx="10238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B9EFC5"/>
                </a:solidFill>
                <a:latin typeface="Arial"/>
                <a:ea typeface="Arial"/>
                <a:cs typeface="Arial"/>
                <a:sym typeface="Arial"/>
              </a:rPr>
              <a:t>DEVICE B</a:t>
            </a:r>
            <a:endParaRPr b="0" sz="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55920" y="2871360"/>
            <a:ext cx="1728000" cy="749520"/>
          </a:xfrm>
          <a:prstGeom prst="roundRect">
            <a:avLst>
              <a:gd fmla="val 9756" name="adj"/>
            </a:avLst>
          </a:prstGeom>
          <a:solidFill>
            <a:srgbClr val="F7FAF4"/>
          </a:solidFill>
          <a:ln cap="flat" cmpd="sng" w="12700">
            <a:solidFill>
              <a:srgbClr val="F7F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210" name="Google Shape;21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02440" y="304488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10177200" y="3026520"/>
            <a:ext cx="1087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Flutter Android 앱</a:t>
            </a:r>
            <a:endParaRPr b="0" sz="9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177200" y="3291840"/>
            <a:ext cx="1087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동기화 수신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655920" y="3931920"/>
            <a:ext cx="1728000" cy="749520"/>
          </a:xfrm>
          <a:prstGeom prst="roundRect">
            <a:avLst>
              <a:gd fmla="val 9756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2440" y="4105800"/>
            <a:ext cx="282960" cy="2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10177200" y="4087440"/>
            <a:ext cx="1087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로컬 예약 갱신</a:t>
            </a:r>
            <a:endParaRPr b="0" sz="9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177200" y="4352400"/>
            <a:ext cx="1087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정각 울림 담당</a:t>
            </a:r>
            <a:endParaRPr b="0" sz="7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770560" y="3191400"/>
            <a:ext cx="392760" cy="145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961120" y="3191400"/>
            <a:ext cx="383760" cy="145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888040" y="2944440"/>
            <a:ext cx="529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03360" y="5596200"/>
            <a:ext cx="10990800" cy="511560"/>
          </a:xfrm>
          <a:prstGeom prst="roundRect">
            <a:avLst>
              <a:gd fmla="val 10714" name="adj"/>
            </a:avLst>
          </a:prstGeom>
          <a:solidFill>
            <a:srgbClr val="335C4E"/>
          </a:solidFill>
          <a:ln cap="flat" cmpd="sng" w="12700">
            <a:solidFill>
              <a:srgbClr val="335C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50320" y="5742360"/>
            <a:ext cx="104695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FCM은 동기화 신호를 전달하고, 실제 알람 울림은 Android 로컬 예약이 담당합니다.</a:t>
            </a:r>
            <a:endParaRPr b="0" sz="115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0"/>
            <a:ext cx="54705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0" y="0"/>
            <a:ext cx="7826760" cy="6857640"/>
          </a:xfrm>
          <a:prstGeom prst="rect">
            <a:avLst/>
          </a:prstGeom>
          <a:solidFill>
            <a:srgbClr val="F7FAF4"/>
          </a:solidFill>
          <a:ln cap="flat" cmpd="sng" w="12700">
            <a:solidFill>
              <a:srgbClr val="F7FA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03360" y="384120"/>
            <a:ext cx="13712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603360" y="703800"/>
            <a:ext cx="10981800" cy="36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11155680" y="6419160"/>
            <a:ext cx="411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94360" y="969120"/>
            <a:ext cx="88693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주요 클래스 흐름. 알람 생성과 저장</a:t>
            </a:r>
            <a:endParaRPr b="0" sz="2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2720" y="1545480"/>
            <a:ext cx="98751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입력, 상태 변경, 저장, 기기 예약을 순서대로 연결하는 앱 내부 처리 흐름입니다.</a:t>
            </a:r>
            <a:endParaRPr b="0" sz="10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21720" y="2450520"/>
            <a:ext cx="1663920" cy="69444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40520" y="2660760"/>
            <a:ext cx="246600" cy="2466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40520" y="2721240"/>
            <a:ext cx="246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97280" y="2651760"/>
            <a:ext cx="10879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AlarmEditorSheet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551320" y="2450520"/>
            <a:ext cx="1846800" cy="69444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670120" y="2660760"/>
            <a:ext cx="246600" cy="2466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670120" y="2721240"/>
            <a:ext cx="246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026520" y="2651760"/>
            <a:ext cx="127080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AlarmListController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663440" y="2450520"/>
            <a:ext cx="1700280" cy="69444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82240" y="2660760"/>
            <a:ext cx="246600" cy="2466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82240" y="2721240"/>
            <a:ext cx="246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139000" y="2651760"/>
            <a:ext cx="11242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AlarmRepository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629400" y="2450520"/>
            <a:ext cx="2029680" cy="69444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748200" y="2660760"/>
            <a:ext cx="246600" cy="2466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748200" y="2721240"/>
            <a:ext cx="246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104960" y="2651760"/>
            <a:ext cx="1453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AlarmNotification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180720" y="2450520"/>
            <a:ext cx="1846800" cy="69444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9299520" y="2660760"/>
            <a:ext cx="246600" cy="24660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299520" y="2721240"/>
            <a:ext cx="246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655920" y="2651760"/>
            <a:ext cx="127080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Android 로컬 예약</a:t>
            </a:r>
            <a:endParaRPr b="0" sz="82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313360" y="2734200"/>
            <a:ext cx="16416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203560" y="2496240"/>
            <a:ext cx="3837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471560" y="2734200"/>
            <a:ext cx="15516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361760" y="2496240"/>
            <a:ext cx="3744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400800" y="2734200"/>
            <a:ext cx="16416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291000" y="2496240"/>
            <a:ext cx="3837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갱신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897040" y="2734200"/>
            <a:ext cx="18252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787240" y="2496240"/>
            <a:ext cx="40212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예약</a:t>
            </a:r>
            <a:endParaRPr b="0" sz="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31080" y="3730680"/>
            <a:ext cx="23313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REPOSITORY BRANCH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21720" y="4087440"/>
            <a:ext cx="5339880" cy="134388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31960" y="4270320"/>
            <a:ext cx="492840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로그아웃 / 로컬 모드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841320" y="4681800"/>
            <a:ext cx="4900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LocalDemoAlarmRepository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-&gt; SharedPreferences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245280" y="4087440"/>
            <a:ext cx="5330520" cy="1343880"/>
          </a:xfrm>
          <a:prstGeom prst="roundRect">
            <a:avLst>
              <a:gd fmla="val 6122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55520" y="4270320"/>
            <a:ext cx="4919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로그인 + 활성 그룹 모드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464880" y="4681800"/>
            <a:ext cx="4891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FirebaseAlarmRepository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-&gt; Cloud Firestore</a:t>
            </a:r>
            <a:endParaRPr b="0" sz="12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0080" y="5815440"/>
            <a:ext cx="10926720" cy="21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저장 위치가 달라도 Android 로컬 알람 예약 갱신은 공통으로 수행됩니다.</a:t>
            </a:r>
            <a:endParaRPr b="0" sz="103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4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0"/>
            <a:ext cx="54705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0" y="0"/>
            <a:ext cx="7826760" cy="6857640"/>
          </a:xfrm>
          <a:prstGeom prst="rect">
            <a:avLst/>
          </a:prstGeom>
          <a:solidFill>
            <a:srgbClr val="F7FAF4"/>
          </a:solidFill>
          <a:ln cap="flat" cmpd="sng" w="12700">
            <a:solidFill>
              <a:srgbClr val="F7FA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03360" y="384120"/>
            <a:ext cx="13712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9235440" y="384120"/>
            <a:ext cx="2194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9" name="Google Shape;279;p10"/>
          <p:cNvCxnSpPr/>
          <p:nvPr/>
        </p:nvCxnSpPr>
        <p:spPr>
          <a:xfrm>
            <a:off x="603360" y="703800"/>
            <a:ext cx="10981800" cy="36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0"/>
          <p:cNvSpPr/>
          <p:nvPr/>
        </p:nvSpPr>
        <p:spPr>
          <a:xfrm>
            <a:off x="603360" y="6419160"/>
            <a:ext cx="37486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UI/UX POGRAMMING   /   TEAM 06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155680" y="6419160"/>
            <a:ext cx="411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94360" y="969120"/>
            <a:ext cx="88693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기능 흐름 및 구현 진행</a:t>
            </a:r>
            <a:endParaRPr b="0" sz="2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12720" y="1545480"/>
            <a:ext cx="98751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동기화 흐름과 실제 울림 제어 흐름을 분리하여 설명합니다.</a:t>
            </a:r>
            <a:endParaRPr b="0" sz="10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21720" y="2121480"/>
            <a:ext cx="10972440" cy="1142640"/>
          </a:xfrm>
          <a:prstGeom prst="roundRect">
            <a:avLst>
              <a:gd fmla="val 6400" name="adj"/>
            </a:avLst>
          </a:prstGeom>
          <a:solidFill>
            <a:srgbClr val="E7F7EB"/>
          </a:solidFill>
          <a:ln cap="flat" cmpd="sng" w="12700">
            <a:solidFill>
              <a:srgbClr val="E7F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822960" y="2286000"/>
            <a:ext cx="2084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변경 동기화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31960" y="268848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31960" y="274032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152000" y="266076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기기 A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알람 수정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715840" y="275220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889360" y="268848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2889360" y="274032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209400" y="266076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773240" y="275220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946760" y="268848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946760" y="274032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266800" y="266076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830640" y="275220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004160" y="268848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7004160" y="274032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324200" y="266076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FCM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888040" y="275220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9061560" y="268848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9061560" y="274032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9381600" y="266076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기기 B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예약 갱신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21720" y="3547800"/>
            <a:ext cx="10972440" cy="114264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822960" y="3712320"/>
            <a:ext cx="208440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울림 제어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831960" y="411480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31960" y="416700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152000" y="408744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예약 시각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도달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715840" y="417888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889360" y="411480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889360" y="416700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209400" y="408744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RingScreen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소리·진동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773240" y="417888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946760" y="411480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946760" y="416700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266800" y="408744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Dismiss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830640" y="417888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7004160" y="411480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004160" y="416700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324200" y="408744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Snooze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8888040" y="4178880"/>
            <a:ext cx="109440" cy="127800"/>
          </a:xfrm>
          <a:prstGeom prst="chevron">
            <a:avLst>
              <a:gd fmla="val 50000" name="adj"/>
            </a:avLst>
          </a:prstGeom>
          <a:solidFill>
            <a:srgbClr val="B9EFC5"/>
          </a:solidFill>
          <a:ln cap="flat" cmpd="sng" w="12700">
            <a:solidFill>
              <a:srgbClr val="B9E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9061560" y="4114800"/>
            <a:ext cx="228240" cy="228240"/>
          </a:xfrm>
          <a:prstGeom prst="ellipse">
            <a:avLst/>
          </a:prstGeom>
          <a:solidFill>
            <a:srgbClr val="386948"/>
          </a:solidFill>
          <a:ln cap="flat" cmpd="sng" w="12700">
            <a:solidFill>
              <a:srgbClr val="386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9061560" y="4167000"/>
            <a:ext cx="22824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67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9381600" y="4087440"/>
            <a:ext cx="1599840" cy="2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상태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전달</a:t>
            </a:r>
            <a:endParaRPr b="0" sz="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40080" y="5230440"/>
            <a:ext cx="1023840" cy="292320"/>
          </a:xfrm>
          <a:prstGeom prst="roundRect">
            <a:avLst>
              <a:gd fmla="val 25000" name="adj"/>
            </a:avLst>
          </a:prstGeom>
          <a:solidFill>
            <a:srgbClr val="E7F7EB"/>
          </a:solidFill>
          <a:ln cap="flat" cmpd="sng" w="12700">
            <a:solidFill>
              <a:srgbClr val="E7F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49880" y="5289840"/>
            <a:ext cx="8042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구현 반영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1801440" y="5276160"/>
            <a:ext cx="315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Android UI / 로컬 예약 / 로그인·그룹 코드</a:t>
            </a:r>
            <a:endParaRPr b="0" sz="83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184720" y="5230440"/>
            <a:ext cx="1023840" cy="292320"/>
          </a:xfrm>
          <a:prstGeom prst="roundRect">
            <a:avLst>
              <a:gd fmla="val 25000" name="adj"/>
            </a:avLst>
          </a:prstGeom>
          <a:solidFill>
            <a:srgbClr val="E7F7EB"/>
          </a:solidFill>
          <a:ln cap="flat" cmpd="sng" w="12700">
            <a:solidFill>
              <a:srgbClr val="E7F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294520" y="5289840"/>
            <a:ext cx="8042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346080" y="5276160"/>
            <a:ext cx="21484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두 기기 간 제어 동기화 안정성</a:t>
            </a:r>
            <a:endParaRPr b="0" sz="83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8714160" y="5230440"/>
            <a:ext cx="1042200" cy="292320"/>
          </a:xfrm>
          <a:prstGeom prst="roundRect">
            <a:avLst>
              <a:gd fmla="val 25000" name="adj"/>
            </a:avLst>
          </a:prstGeom>
          <a:solidFill>
            <a:srgbClr val="E7F7EB"/>
          </a:solidFill>
          <a:ln cap="flat" cmpd="sng" w="12700">
            <a:solidFill>
              <a:srgbClr val="E7F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8823960" y="5289840"/>
            <a:ext cx="8226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향후 확장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9884520" y="5276160"/>
            <a:ext cx="14810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Web / Linux / Windows</a:t>
            </a:r>
            <a:endParaRPr b="0" sz="81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0080" y="5897880"/>
            <a:ext cx="10881000" cy="20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이미 기기에 예약된 알람은 네트워크가 없어도 울릴 수 있으나, 다른 기기의 새 변경 반영에는 네트워크가 필요합니다.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4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1" name="Google Shape;3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0"/>
            <a:ext cx="54705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/>
          <p:nvPr/>
        </p:nvSpPr>
        <p:spPr>
          <a:xfrm>
            <a:off x="0" y="0"/>
            <a:ext cx="7826760" cy="6857640"/>
          </a:xfrm>
          <a:prstGeom prst="rect">
            <a:avLst/>
          </a:prstGeom>
          <a:solidFill>
            <a:srgbClr val="F7FAF4"/>
          </a:solidFill>
          <a:ln cap="flat" cmpd="sng" w="12700">
            <a:solidFill>
              <a:srgbClr val="F7FA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03360" y="384120"/>
            <a:ext cx="13712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LET'S ALARM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9235440" y="384120"/>
            <a:ext cx="2194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5" name="Google Shape;345;p11"/>
          <p:cNvCxnSpPr/>
          <p:nvPr/>
        </p:nvCxnSpPr>
        <p:spPr>
          <a:xfrm>
            <a:off x="603360" y="703800"/>
            <a:ext cx="10981800" cy="360"/>
          </a:xfrm>
          <a:prstGeom prst="straightConnector1">
            <a:avLst/>
          </a:prstGeom>
          <a:noFill/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1"/>
          <p:cNvSpPr/>
          <p:nvPr/>
        </p:nvSpPr>
        <p:spPr>
          <a:xfrm>
            <a:off x="11155680" y="6419160"/>
            <a:ext cx="4111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sz="9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94360" y="969120"/>
            <a:ext cx="88693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데이터 구조와 보안</a:t>
            </a:r>
            <a:endParaRPr b="0" sz="27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12720" y="1545480"/>
            <a:ext cx="98751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그룹 기반 접근 제어와 등록 기기 전달 범위를 핵심 구조로 설명합니다.</a:t>
            </a:r>
            <a:endParaRPr b="0" sz="10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40080" y="2121480"/>
            <a:ext cx="234036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FIRESTORE COLLECTIONS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621720" y="252360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77240" y="266076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users/{uid}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21720" y="309060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777240" y="322776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groups/{groupId}/members/{uid}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21720" y="365760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777240" y="379476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groups/{groupId}/alarms/{alarmId}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21720" y="422460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777240" y="436176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groups/{groupId}/devices/{deviceId}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21720" y="479160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77240" y="492876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groups/{groupId}/commands/{commandId}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21720" y="5358240"/>
            <a:ext cx="4754520" cy="43848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77240" y="5495400"/>
            <a:ext cx="444348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groupSecrets/{groupId}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843160" y="2121480"/>
            <a:ext cx="212112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SECURITY POINTS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824800" y="2523600"/>
            <a:ext cx="5751360" cy="822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364" name="Google Shape;3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040" y="2715840"/>
            <a:ext cx="328680" cy="3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1"/>
          <p:cNvSpPr/>
          <p:nvPr/>
        </p:nvSpPr>
        <p:spPr>
          <a:xfrm>
            <a:off x="6483240" y="2706480"/>
            <a:ext cx="4891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sz="11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044040" y="3117960"/>
            <a:ext cx="5312160" cy="7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로그인 사용자 식별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824800" y="3538800"/>
            <a:ext cx="5751360" cy="822600"/>
          </a:xfrm>
          <a:prstGeom prst="roundRect">
            <a:avLst>
              <a:gd fmla="val 10000" name="adj"/>
            </a:avLst>
          </a:prstGeom>
          <a:solidFill>
            <a:srgbClr val="E7F7EB"/>
          </a:solidFill>
          <a:ln cap="flat" cmpd="sng" w="12700">
            <a:solidFill>
              <a:srgbClr val="B9E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368" name="Google Shape;3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040" y="3730680"/>
            <a:ext cx="328680" cy="3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6483240" y="3721680"/>
            <a:ext cx="4891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Firestore Rules</a:t>
            </a:r>
            <a:endParaRPr b="0" sz="11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044040" y="4133160"/>
            <a:ext cx="5312160" cy="7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그룹 멤버만 공유 알람 접근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824800" y="4553640"/>
            <a:ext cx="5751360" cy="822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AE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372" name="Google Shape;3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040" y="4745880"/>
            <a:ext cx="328680" cy="3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"/>
          <p:cNvSpPr/>
          <p:nvPr/>
        </p:nvSpPr>
        <p:spPr>
          <a:xfrm>
            <a:off x="6483240" y="4736520"/>
            <a:ext cx="4891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2C342E"/>
                </a:solidFill>
                <a:latin typeface="Arial"/>
                <a:ea typeface="Arial"/>
                <a:cs typeface="Arial"/>
                <a:sym typeface="Arial"/>
              </a:rPr>
              <a:t>Functions / FCM</a:t>
            </a:r>
            <a:endParaRPr b="0" sz="110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044040" y="5148000"/>
            <a:ext cx="5312160" cy="7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647168"/>
                </a:solidFill>
                <a:latin typeface="Arial"/>
                <a:ea typeface="Arial"/>
                <a:cs typeface="Arial"/>
                <a:sym typeface="Arial"/>
              </a:rPr>
              <a:t>변경 내용을 등록된 Android 기기로 전달</a:t>
            </a:r>
            <a:endParaRPr b="0" sz="85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870520" y="5733360"/>
            <a:ext cx="5632200" cy="21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0" u="none" strike="noStrike">
                <a:solidFill>
                  <a:srgbClr val="386948"/>
                </a:solidFill>
                <a:latin typeface="Arial"/>
                <a:ea typeface="Arial"/>
                <a:cs typeface="Arial"/>
                <a:sym typeface="Arial"/>
              </a:rPr>
              <a:t>초대 코드는 해시 저장   /   FCM 토큰은 등록 기기 문서에서 관리</a:t>
            </a:r>
            <a:endParaRPr b="0" sz="910" u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