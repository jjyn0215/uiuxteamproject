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5.png"/><Relationship Id="rId7" Type="http://schemas.openxmlformats.org/officeDocument/2006/relationships/image" Target="../media/image-6-4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image" Target="../media/image-9-3.png"/><Relationship Id="rId4" Type="http://schemas.openxmlformats.org/officeDocument/2006/relationships/image" Target="../media/image-9-3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720840" y="0"/>
            <a:ext cx="547085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7827264" cy="6858000"/>
          </a:xfrm>
          <a:prstGeom prst="rect">
            <a:avLst/>
          </a:prstGeom>
          <a:solidFill>
            <a:srgbClr val="F7FAF4"/>
          </a:solidFill>
          <a:ln w="12700">
            <a:solidFill>
              <a:srgbClr val="F7FAF4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03504" y="38404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386948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LET'S ALARM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9235440" y="384048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168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평가 (1) 프로그램 개요 및 설명</a:t>
            </a:r>
            <a:endParaRPr lang="en-US" sz="800" dirty="0"/>
          </a:p>
        </p:txBody>
      </p:sp>
      <p:sp>
        <p:nvSpPr>
          <p:cNvPr id="6" name="Shape 3"/>
          <p:cNvSpPr/>
          <p:nvPr/>
        </p:nvSpPr>
        <p:spPr>
          <a:xfrm>
            <a:off x="603504" y="704088"/>
            <a:ext cx="10981944" cy="0"/>
          </a:xfrm>
          <a:prstGeom prst="line">
            <a:avLst/>
          </a:prstGeom>
          <a:noFill/>
          <a:ln w="12700">
            <a:solidFill>
              <a:srgbClr val="DAE6D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03504" y="6419088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15" kern="0" dirty="0">
                <a:solidFill>
                  <a:srgbClr val="647168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UI/UX PROGRAMMING   /   TEAM 06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11155680" y="6419088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86948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01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21792" y="1243584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386948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Android first  /  Firebase sync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03504" y="1700784"/>
            <a:ext cx="63093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2C342E"/>
                </a:solidFill>
                <a:latin typeface="KIMM_Bold" pitchFamily="34" charset="0"/>
                <a:ea typeface="KIMM_Bold" pitchFamily="34" charset="-122"/>
                <a:cs typeface="KIMM_Bold" pitchFamily="34" charset="-120"/>
              </a:rPr>
              <a:t>Let's alarm</a:t>
            </a:r>
            <a:endParaRPr lang="en-US" sz="4200" dirty="0"/>
          </a:p>
        </p:txBody>
      </p:sp>
      <p:sp>
        <p:nvSpPr>
          <p:cNvPr id="11" name="Text 8"/>
          <p:cNvSpPr/>
          <p:nvPr/>
        </p:nvSpPr>
        <p:spPr>
          <a:xfrm>
            <a:off x="640080" y="2505456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86948"/>
                </a:solidFill>
                <a:latin typeface="KIMM_Bold" pitchFamily="34" charset="0"/>
                <a:ea typeface="KIMM_Bold" pitchFamily="34" charset="-122"/>
                <a:cs typeface="KIMM_Bold" pitchFamily="34" charset="-120"/>
              </a:rPr>
              <a:t>렛츠알람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640080" y="3218688"/>
            <a:ext cx="5943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C342E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여러 Android 기기에서 같은 알람 변경 상태를 공유하는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2C342E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Flutter 기반 실시간 동기화 알람 앱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640080" y="4361688"/>
            <a:ext cx="1335024" cy="292608"/>
          </a:xfrm>
          <a:prstGeom prst="roundRect">
            <a:avLst>
              <a:gd name="adj" fmla="val 25000"/>
            </a:avLst>
          </a:prstGeom>
          <a:solidFill>
            <a:srgbClr val="E7F7EB"/>
          </a:solidFill>
          <a:ln w="12700">
            <a:solidFill>
              <a:srgbClr val="E7F7E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49808" y="4421124"/>
            <a:ext cx="11155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86948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Flutter / Dart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2103120" y="4361688"/>
            <a:ext cx="1024128" cy="292608"/>
          </a:xfrm>
          <a:prstGeom prst="roundRect">
            <a:avLst>
              <a:gd name="adj" fmla="val 25000"/>
            </a:avLst>
          </a:prstGeom>
          <a:solidFill>
            <a:srgbClr val="E7F7EB"/>
          </a:solidFill>
          <a:ln w="12700">
            <a:solidFill>
              <a:srgbClr val="E7F7E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2212848" y="4421124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86948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Firebase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3273552" y="4361688"/>
            <a:ext cx="1481328" cy="292608"/>
          </a:xfrm>
          <a:prstGeom prst="roundRect">
            <a:avLst>
              <a:gd name="adj" fmla="val 25000"/>
            </a:avLst>
          </a:prstGeom>
          <a:solidFill>
            <a:srgbClr val="E7F7EB"/>
          </a:solidFill>
          <a:ln w="12700">
            <a:solidFill>
              <a:srgbClr val="E7F7E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383280" y="4421124"/>
            <a:ext cx="1261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86948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Android / Kotlin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640080" y="5084064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6948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UI/UX 프로그래밍  |  6조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8449056" y="932688"/>
            <a:ext cx="2514600" cy="5266944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DAE6DD"/>
            </a:solidFill>
            <a:prstDash val="solid"/>
          </a:ln>
        </p:spPr>
      </p:sp>
      <p:pic>
        <p:nvPicPr>
          <p:cNvPr id="21" name="Image 1" descr="/home/devuser/projects/teamproject1/presentation/assets/alarm_home_captur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50808" y="1188720"/>
            <a:ext cx="1911096" cy="3822192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769096" y="5358384"/>
            <a:ext cx="188366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386948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ALARM HOME</a:t>
            </a:r>
            <a:endParaRPr lang="en-US" sz="800" dirty="0"/>
          </a:p>
        </p:txBody>
      </p:sp>
      <p:sp>
        <p:nvSpPr>
          <p:cNvPr id="23" name="Text 19"/>
          <p:cNvSpPr/>
          <p:nvPr/>
        </p:nvSpPr>
        <p:spPr>
          <a:xfrm>
            <a:off x="8769096" y="5641848"/>
            <a:ext cx="1901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342E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실제 Android 홈 화면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720840" y="0"/>
            <a:ext cx="547085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7827264" cy="6858000"/>
          </a:xfrm>
          <a:prstGeom prst="rect">
            <a:avLst/>
          </a:prstGeom>
          <a:solidFill>
            <a:srgbClr val="F7FAF4"/>
          </a:solidFill>
          <a:ln w="12700">
            <a:solidFill>
              <a:srgbClr val="F7FAF4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03504" y="38404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386948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LET'S ALARM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9235440" y="384048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168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CONTENTS</a:t>
            </a:r>
            <a:endParaRPr lang="en-US" sz="800" dirty="0"/>
          </a:p>
        </p:txBody>
      </p:sp>
      <p:sp>
        <p:nvSpPr>
          <p:cNvPr id="6" name="Shape 3"/>
          <p:cNvSpPr/>
          <p:nvPr/>
        </p:nvSpPr>
        <p:spPr>
          <a:xfrm>
            <a:off x="603504" y="704088"/>
            <a:ext cx="10981944" cy="0"/>
          </a:xfrm>
          <a:prstGeom prst="line">
            <a:avLst/>
          </a:prstGeom>
          <a:noFill/>
          <a:ln w="12700">
            <a:solidFill>
              <a:srgbClr val="DAE6D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03504" y="6419088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15" kern="0" dirty="0">
                <a:solidFill>
                  <a:srgbClr val="647168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UI/UX PROGRAMMING   /   TEAM 06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11155680" y="6419088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86948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02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21792" y="941832"/>
            <a:ext cx="10652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C342E"/>
                </a:solidFill>
                <a:latin typeface="KIMM_Bold" pitchFamily="34" charset="0"/>
                <a:ea typeface="KIMM_Bold" pitchFamily="34" charset="-122"/>
                <a:cs typeface="KIMM_Bold" pitchFamily="34" charset="-120"/>
              </a:rPr>
              <a:t>목차</a:t>
            </a:r>
            <a:endParaRPr lang="en-US" sz="2700" dirty="0"/>
          </a:p>
        </p:txBody>
      </p:sp>
      <p:sp>
        <p:nvSpPr>
          <p:cNvPr id="10" name="Text 7"/>
          <p:cNvSpPr/>
          <p:nvPr/>
        </p:nvSpPr>
        <p:spPr>
          <a:xfrm>
            <a:off x="640080" y="1536192"/>
            <a:ext cx="105613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6948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발표 흐름을 구현 기능과 시스템 구조 중심으로 구성했습니다.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40080" y="2267712"/>
            <a:ext cx="859536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AE6DD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13816" y="2468880"/>
            <a:ext cx="301752" cy="301752"/>
          </a:xfrm>
          <a:prstGeom prst="ellipse">
            <a:avLst>
              <a:gd name="adj" fmla="val 24242"/>
            </a:avLst>
          </a:prstGeom>
          <a:solidFill>
            <a:srgbClr val="386948"/>
          </a:solidFill>
          <a:ln w="12700">
            <a:solidFill>
              <a:srgbClr val="38694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13816" y="2525573"/>
            <a:ext cx="30175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01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1261872" y="2414016"/>
            <a:ext cx="78089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342E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프로그램 개요 및 목표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1261872" y="2697480"/>
            <a:ext cx="7808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168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문제 정의와 Android 우선 구현 범위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9820656" y="2386584"/>
            <a:ext cx="11704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B9EFC5"/>
                </a:solidFill>
                <a:latin typeface="KIMM_Light" pitchFamily="34" charset="0"/>
                <a:ea typeface="KIMM_Light" pitchFamily="34" charset="-122"/>
                <a:cs typeface="KIMM_Light" pitchFamily="34" charset="-120"/>
              </a:rPr>
              <a:t>01</a:t>
            </a:r>
            <a:endParaRPr lang="en-US" sz="2600" dirty="0"/>
          </a:p>
        </p:txBody>
      </p:sp>
      <p:sp>
        <p:nvSpPr>
          <p:cNvPr id="17" name="Shape 14"/>
          <p:cNvSpPr/>
          <p:nvPr/>
        </p:nvSpPr>
        <p:spPr>
          <a:xfrm>
            <a:off x="640080" y="3127248"/>
            <a:ext cx="859536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AE6DD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13816" y="3328416"/>
            <a:ext cx="301752" cy="301752"/>
          </a:xfrm>
          <a:prstGeom prst="ellipse">
            <a:avLst>
              <a:gd name="adj" fmla="val 24242"/>
            </a:avLst>
          </a:prstGeom>
          <a:solidFill>
            <a:srgbClr val="386948"/>
          </a:solidFill>
          <a:ln w="12700">
            <a:solidFill>
              <a:srgbClr val="38694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13816" y="3385109"/>
            <a:ext cx="30175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02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1261872" y="3273552"/>
            <a:ext cx="78089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342E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주요 UI 기능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1261872" y="3557016"/>
            <a:ext cx="7808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168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알람 관리, 울림, 계정 동기화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9820656" y="3246120"/>
            <a:ext cx="11704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B9EFC5"/>
                </a:solidFill>
                <a:latin typeface="KIMM_Light" pitchFamily="34" charset="0"/>
                <a:ea typeface="KIMM_Light" pitchFamily="34" charset="-122"/>
                <a:cs typeface="KIMM_Light" pitchFamily="34" charset="-120"/>
              </a:rPr>
              <a:t>02</a:t>
            </a:r>
            <a:endParaRPr lang="en-US" sz="2600" dirty="0"/>
          </a:p>
        </p:txBody>
      </p:sp>
      <p:sp>
        <p:nvSpPr>
          <p:cNvPr id="23" name="Shape 20"/>
          <p:cNvSpPr/>
          <p:nvPr/>
        </p:nvSpPr>
        <p:spPr>
          <a:xfrm>
            <a:off x="640080" y="3986784"/>
            <a:ext cx="8595360" cy="713232"/>
          </a:xfrm>
          <a:prstGeom prst="roundRect">
            <a:avLst>
              <a:gd name="adj" fmla="val 10256"/>
            </a:avLst>
          </a:prstGeom>
          <a:solidFill>
            <a:srgbClr val="E7F7EB"/>
          </a:solidFill>
          <a:ln w="12700">
            <a:solidFill>
              <a:srgbClr val="B9EFC5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813816" y="4187952"/>
            <a:ext cx="301752" cy="301752"/>
          </a:xfrm>
          <a:prstGeom prst="ellipse">
            <a:avLst>
              <a:gd name="adj" fmla="val 24242"/>
            </a:avLst>
          </a:prstGeom>
          <a:solidFill>
            <a:srgbClr val="386948"/>
          </a:solidFill>
          <a:ln w="12700">
            <a:solidFill>
              <a:srgbClr val="386948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13816" y="4244645"/>
            <a:ext cx="30175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03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1261872" y="4133088"/>
            <a:ext cx="78089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342E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전체 구조와 클래스 흐름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1261872" y="4416552"/>
            <a:ext cx="7808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168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Firebase 동기화와 로컬 알람 예약</a:t>
            </a:r>
            <a:endParaRPr lang="en-US" sz="850" dirty="0"/>
          </a:p>
        </p:txBody>
      </p:sp>
      <p:sp>
        <p:nvSpPr>
          <p:cNvPr id="28" name="Text 25"/>
          <p:cNvSpPr/>
          <p:nvPr/>
        </p:nvSpPr>
        <p:spPr>
          <a:xfrm>
            <a:off x="9820656" y="4105656"/>
            <a:ext cx="11704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386948"/>
                </a:solidFill>
                <a:latin typeface="KIMM_Light" pitchFamily="34" charset="0"/>
                <a:ea typeface="KIMM_Light" pitchFamily="34" charset="-122"/>
                <a:cs typeface="KIMM_Light" pitchFamily="34" charset="-120"/>
              </a:rPr>
              <a:t>03</a:t>
            </a:r>
            <a:endParaRPr lang="en-US" sz="2600" dirty="0"/>
          </a:p>
        </p:txBody>
      </p:sp>
      <p:sp>
        <p:nvSpPr>
          <p:cNvPr id="29" name="Shape 26"/>
          <p:cNvSpPr/>
          <p:nvPr/>
        </p:nvSpPr>
        <p:spPr>
          <a:xfrm>
            <a:off x="640080" y="4846320"/>
            <a:ext cx="859536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AE6DD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813816" y="5047488"/>
            <a:ext cx="301752" cy="301752"/>
          </a:xfrm>
          <a:prstGeom prst="ellipse">
            <a:avLst>
              <a:gd name="adj" fmla="val 24242"/>
            </a:avLst>
          </a:prstGeom>
          <a:solidFill>
            <a:srgbClr val="386948"/>
          </a:solidFill>
          <a:ln w="12700">
            <a:solidFill>
              <a:srgbClr val="386948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813816" y="5104181"/>
            <a:ext cx="30175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04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1261872" y="4992624"/>
            <a:ext cx="78089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342E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구현 진행 및 보안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1261872" y="5276088"/>
            <a:ext cx="7808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168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제어 흐름, 데이터 구조, 접근 제어</a:t>
            </a:r>
            <a:endParaRPr lang="en-US" sz="850" dirty="0"/>
          </a:p>
        </p:txBody>
      </p:sp>
      <p:sp>
        <p:nvSpPr>
          <p:cNvPr id="34" name="Text 31"/>
          <p:cNvSpPr/>
          <p:nvPr/>
        </p:nvSpPr>
        <p:spPr>
          <a:xfrm>
            <a:off x="9820656" y="4965192"/>
            <a:ext cx="11704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B9EFC5"/>
                </a:solidFill>
                <a:latin typeface="KIMM_Light" pitchFamily="34" charset="0"/>
                <a:ea typeface="KIMM_Light" pitchFamily="34" charset="-122"/>
                <a:cs typeface="KIMM_Light" pitchFamily="34" charset="-120"/>
              </a:rPr>
              <a:t>04</a:t>
            </a:r>
            <a:endParaRPr lang="en-US" sz="2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720840" y="0"/>
            <a:ext cx="547085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7827264" cy="6858000"/>
          </a:xfrm>
          <a:prstGeom prst="rect">
            <a:avLst/>
          </a:prstGeom>
          <a:solidFill>
            <a:srgbClr val="F7FAF4"/>
          </a:solidFill>
          <a:ln w="12700">
            <a:solidFill>
              <a:srgbClr val="F7FAF4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03504" y="38404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386948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LET'S ALARM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9235440" y="384048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168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평가 (1) 프로그램 개요 및 설명</a:t>
            </a:r>
            <a:endParaRPr lang="en-US" sz="800" dirty="0"/>
          </a:p>
        </p:txBody>
      </p:sp>
      <p:sp>
        <p:nvSpPr>
          <p:cNvPr id="6" name="Shape 3"/>
          <p:cNvSpPr/>
          <p:nvPr/>
        </p:nvSpPr>
        <p:spPr>
          <a:xfrm>
            <a:off x="603504" y="704088"/>
            <a:ext cx="10981944" cy="0"/>
          </a:xfrm>
          <a:prstGeom prst="line">
            <a:avLst/>
          </a:prstGeom>
          <a:noFill/>
          <a:ln w="12700">
            <a:solidFill>
              <a:srgbClr val="DAE6D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03504" y="6419088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15" kern="0" dirty="0">
                <a:solidFill>
                  <a:srgbClr val="647168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UI/UX PROGRAMMING   /   TEAM 06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11155680" y="6419088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86948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03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21792" y="941832"/>
            <a:ext cx="10652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C342E"/>
                </a:solidFill>
                <a:latin typeface="KIMM_Bold" pitchFamily="34" charset="0"/>
                <a:ea typeface="KIMM_Bold" pitchFamily="34" charset="-122"/>
                <a:cs typeface="KIMM_Bold" pitchFamily="34" charset="-120"/>
              </a:rPr>
              <a:t>개발 배경 및 목표</a:t>
            </a:r>
            <a:endParaRPr lang="en-US" sz="2700" dirty="0"/>
          </a:p>
        </p:txBody>
      </p:sp>
      <p:sp>
        <p:nvSpPr>
          <p:cNvPr id="10" name="Text 7"/>
          <p:cNvSpPr/>
          <p:nvPr/>
        </p:nvSpPr>
        <p:spPr>
          <a:xfrm>
            <a:off x="640080" y="1536192"/>
            <a:ext cx="105613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6948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기기마다 분리된 알람 상태를 Android 알람과 Firebase 동기화로 연결합니다.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40080" y="2176272"/>
            <a:ext cx="5084064" cy="2130552"/>
          </a:xfrm>
          <a:prstGeom prst="roundRect">
            <a:avLst>
              <a:gd name="adj" fmla="val 3433"/>
            </a:avLst>
          </a:prstGeom>
          <a:solidFill>
            <a:srgbClr val="FFFFFF"/>
          </a:solidFill>
          <a:ln w="12700">
            <a:solidFill>
              <a:srgbClr val="DAE6D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68680" y="2395728"/>
            <a:ext cx="462686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386948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PROBLEM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868680" y="2761488"/>
            <a:ext cx="46268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342E"/>
                </a:solidFill>
                <a:latin typeface="KIMM_Bold" pitchFamily="34" charset="0"/>
                <a:ea typeface="KIMM_Bold" pitchFamily="34" charset="-122"/>
                <a:cs typeface="KIMM_Bold" pitchFamily="34" charset="-120"/>
              </a:rPr>
              <a:t>기기별 알람 상태 분리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868680" y="3227832"/>
            <a:ext cx="46268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168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각 기기에서 변경한 시간과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47168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해제·스누즈 상태가 따로 남아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47168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일관된 사용이 어렵습니다.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6007608" y="2176272"/>
            <a:ext cx="5559552" cy="2130552"/>
          </a:xfrm>
          <a:prstGeom prst="roundRect">
            <a:avLst>
              <a:gd name="adj" fmla="val 3433"/>
            </a:avLst>
          </a:prstGeom>
          <a:solidFill>
            <a:srgbClr val="E7F7EB"/>
          </a:solidFill>
          <a:ln w="12700">
            <a:solidFill>
              <a:srgbClr val="B9EFC5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236208" y="2395728"/>
            <a:ext cx="510235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386948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SOLUTION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6236208" y="2761488"/>
            <a:ext cx="5102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342E"/>
                </a:solidFill>
                <a:latin typeface="KIMM_Bold" pitchFamily="34" charset="0"/>
                <a:ea typeface="KIMM_Bold" pitchFamily="34" charset="-122"/>
                <a:cs typeface="KIMM_Bold" pitchFamily="34" charset="-120"/>
              </a:rPr>
              <a:t>Android 우선 + Firebase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6236208" y="3227832"/>
            <a:ext cx="51023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168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Flutter Android 알람을 먼저 완성하고,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47168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Firebase로 여러 기기의 변경 상태를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47168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공유합니다.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658368" y="4736592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386948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IMPLEMENTATION SCOPE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640080" y="5084064"/>
            <a:ext cx="3401568" cy="713232"/>
          </a:xfrm>
          <a:prstGeom prst="roundRect">
            <a:avLst>
              <a:gd name="adj" fmla="val 10256"/>
            </a:avLst>
          </a:prstGeom>
          <a:solidFill>
            <a:srgbClr val="E7F7EB"/>
          </a:solidFill>
          <a:ln w="12700">
            <a:solidFill>
              <a:srgbClr val="B9EFC5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813816" y="5285232"/>
            <a:ext cx="301752" cy="301752"/>
          </a:xfrm>
          <a:prstGeom prst="ellipse">
            <a:avLst>
              <a:gd name="adj" fmla="val 24242"/>
            </a:avLst>
          </a:prstGeom>
          <a:solidFill>
            <a:srgbClr val="386948"/>
          </a:solidFill>
          <a:ln w="12700">
            <a:solidFill>
              <a:srgbClr val="38694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13816" y="5341925"/>
            <a:ext cx="30175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1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1261872" y="5230368"/>
            <a:ext cx="2615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342E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기본 구현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1261872" y="5513832"/>
            <a:ext cx="26151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168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Android 알람 / 로컬 예약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4233672" y="5084064"/>
            <a:ext cx="3401568" cy="713232"/>
          </a:xfrm>
          <a:prstGeom prst="roundRect">
            <a:avLst>
              <a:gd name="adj" fmla="val 10256"/>
            </a:avLst>
          </a:prstGeom>
          <a:solidFill>
            <a:srgbClr val="E7F7EB"/>
          </a:solidFill>
          <a:ln w="12700">
            <a:solidFill>
              <a:srgbClr val="B9EFC5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407408" y="5285232"/>
            <a:ext cx="301752" cy="301752"/>
          </a:xfrm>
          <a:prstGeom prst="ellipse">
            <a:avLst>
              <a:gd name="adj" fmla="val 24242"/>
            </a:avLst>
          </a:prstGeom>
          <a:solidFill>
            <a:srgbClr val="386948"/>
          </a:solidFill>
          <a:ln w="12700">
            <a:solidFill>
              <a:srgbClr val="386948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407408" y="5341925"/>
            <a:ext cx="30175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2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4855464" y="5230368"/>
            <a:ext cx="2615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342E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동기화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4855464" y="5513832"/>
            <a:ext cx="26151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168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로그인 / 그룹 / Firebase</a:t>
            </a:r>
            <a:endParaRPr lang="en-US" sz="850" dirty="0"/>
          </a:p>
        </p:txBody>
      </p:sp>
      <p:sp>
        <p:nvSpPr>
          <p:cNvPr id="30" name="Shape 27"/>
          <p:cNvSpPr/>
          <p:nvPr/>
        </p:nvSpPr>
        <p:spPr>
          <a:xfrm>
            <a:off x="7827264" y="5084064"/>
            <a:ext cx="3739896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AE6DD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8001000" y="5285232"/>
            <a:ext cx="301752" cy="301752"/>
          </a:xfrm>
          <a:prstGeom prst="ellipse">
            <a:avLst>
              <a:gd name="adj" fmla="val 24242"/>
            </a:avLst>
          </a:prstGeom>
          <a:solidFill>
            <a:srgbClr val="386948"/>
          </a:solidFill>
          <a:ln w="12700">
            <a:solidFill>
              <a:srgbClr val="386948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8001000" y="5341925"/>
            <a:ext cx="30175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3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8449056" y="5230368"/>
            <a:ext cx="2953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342E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향후 확장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8449056" y="5513832"/>
            <a:ext cx="295351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168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Web / Linux / Windows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720840" y="0"/>
            <a:ext cx="547085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7827264" cy="6858000"/>
          </a:xfrm>
          <a:prstGeom prst="rect">
            <a:avLst/>
          </a:prstGeom>
          <a:solidFill>
            <a:srgbClr val="F7FAF4"/>
          </a:solidFill>
          <a:ln w="12700">
            <a:solidFill>
              <a:srgbClr val="F7FAF4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03504" y="38404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386948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LET'S ALARM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9235440" y="384048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168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평가 (3) 주요 기능 설명</a:t>
            </a:r>
            <a:endParaRPr lang="en-US" sz="800" dirty="0"/>
          </a:p>
        </p:txBody>
      </p:sp>
      <p:sp>
        <p:nvSpPr>
          <p:cNvPr id="6" name="Shape 3"/>
          <p:cNvSpPr/>
          <p:nvPr/>
        </p:nvSpPr>
        <p:spPr>
          <a:xfrm>
            <a:off x="603504" y="704088"/>
            <a:ext cx="10981944" cy="0"/>
          </a:xfrm>
          <a:prstGeom prst="line">
            <a:avLst/>
          </a:prstGeom>
          <a:noFill/>
          <a:ln w="12700">
            <a:solidFill>
              <a:srgbClr val="DAE6D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03504" y="6419088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15" kern="0" dirty="0">
                <a:solidFill>
                  <a:srgbClr val="647168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UI/UX PROGRAMMING   /   TEAM 06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11155680" y="6419088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86948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04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21792" y="941832"/>
            <a:ext cx="10652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C342E"/>
                </a:solidFill>
                <a:latin typeface="KIMM_Bold" pitchFamily="34" charset="0"/>
                <a:ea typeface="KIMM_Bold" pitchFamily="34" charset="-122"/>
                <a:cs typeface="KIMM_Bold" pitchFamily="34" charset="-120"/>
              </a:rPr>
              <a:t>주요 UI 기능 I. 알람 관리</a:t>
            </a:r>
            <a:endParaRPr lang="en-US" sz="2700" dirty="0"/>
          </a:p>
        </p:txBody>
      </p:sp>
      <p:sp>
        <p:nvSpPr>
          <p:cNvPr id="10" name="Text 7"/>
          <p:cNvSpPr/>
          <p:nvPr/>
        </p:nvSpPr>
        <p:spPr>
          <a:xfrm>
            <a:off x="640080" y="1536192"/>
            <a:ext cx="105613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6948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목록에서 알람 상태를 확인하고, 편집 화면에서 조건을 설정합니다.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40080" y="2103120"/>
            <a:ext cx="2816352" cy="384048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2700">
            <a:solidFill>
              <a:srgbClr val="DAE6DD"/>
            </a:solidFill>
            <a:prstDash val="solid"/>
          </a:ln>
        </p:spPr>
      </p:sp>
      <p:pic>
        <p:nvPicPr>
          <p:cNvPr id="12" name="Image 1" descr="/home/devuser/projects/teamproject1/presentation/assets/alarm_home_captur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2249424"/>
            <a:ext cx="1682496" cy="336499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822960" y="5577840"/>
            <a:ext cx="2450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342E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AlarmHomeScreen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822960" y="5760720"/>
            <a:ext cx="2450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168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목록 / 활성화 토글 / 동기화 상태</a:t>
            </a:r>
            <a:endParaRPr lang="en-US" sz="750" dirty="0"/>
          </a:p>
        </p:txBody>
      </p:sp>
      <p:sp>
        <p:nvSpPr>
          <p:cNvPr id="15" name="Shape 11"/>
          <p:cNvSpPr/>
          <p:nvPr/>
        </p:nvSpPr>
        <p:spPr>
          <a:xfrm>
            <a:off x="3712464" y="2103120"/>
            <a:ext cx="2816352" cy="384048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2700">
            <a:solidFill>
              <a:srgbClr val="DAE6DD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3877056" y="2267712"/>
            <a:ext cx="2487168" cy="3172968"/>
          </a:xfrm>
          <a:prstGeom prst="roundRect">
            <a:avLst>
              <a:gd name="adj" fmla="val 2206"/>
            </a:avLst>
          </a:prstGeom>
          <a:solidFill>
            <a:srgbClr val="F1F7F2"/>
          </a:solidFill>
          <a:ln w="12700">
            <a:solidFill>
              <a:srgbClr val="B9EFC5"/>
            </a:solidFill>
            <a:prstDash val="solid"/>
          </a:ln>
        </p:spPr>
      </p:sp>
      <p:pic>
        <p:nvPicPr>
          <p:cNvPr id="17" name="Image 2" descr="/home/devuser/projects/teamproject1/presentation/assets/icon_tun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9472" y="3584448"/>
            <a:ext cx="402336" cy="40233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3986784" y="4078224"/>
            <a:ext cx="22677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86948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화면 캡처 삽입 영역</a:t>
            </a:r>
            <a:endParaRPr lang="en-US" sz="950" dirty="0"/>
          </a:p>
        </p:txBody>
      </p:sp>
      <p:sp>
        <p:nvSpPr>
          <p:cNvPr id="19" name="Text 14"/>
          <p:cNvSpPr/>
          <p:nvPr/>
        </p:nvSpPr>
        <p:spPr>
          <a:xfrm>
            <a:off x="3895344" y="5577840"/>
            <a:ext cx="2450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342E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AlarmEditorSheet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3895344" y="5751576"/>
            <a:ext cx="2450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168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이름 / 시간 / 요일 / 다시 알림</a:t>
            </a:r>
            <a:endParaRPr lang="en-US" sz="750" dirty="0"/>
          </a:p>
        </p:txBody>
      </p:sp>
      <p:sp>
        <p:nvSpPr>
          <p:cNvPr id="21" name="Text 16"/>
          <p:cNvSpPr/>
          <p:nvPr/>
        </p:nvSpPr>
        <p:spPr>
          <a:xfrm>
            <a:off x="6967728" y="2139696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386948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USER ACTION</a:t>
            </a:r>
            <a:endParaRPr lang="en-US" sz="850" dirty="0"/>
          </a:p>
        </p:txBody>
      </p:sp>
      <p:sp>
        <p:nvSpPr>
          <p:cNvPr id="22" name="Shape 17"/>
          <p:cNvSpPr/>
          <p:nvPr/>
        </p:nvSpPr>
        <p:spPr>
          <a:xfrm>
            <a:off x="6949440" y="2514600"/>
            <a:ext cx="4608576" cy="713232"/>
          </a:xfrm>
          <a:prstGeom prst="roundRect">
            <a:avLst>
              <a:gd name="adj" fmla="val 10256"/>
            </a:avLst>
          </a:prstGeom>
          <a:solidFill>
            <a:srgbClr val="E7F7EB"/>
          </a:solidFill>
          <a:ln w="12700">
            <a:solidFill>
              <a:srgbClr val="B9EFC5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7123176" y="2715768"/>
            <a:ext cx="301752" cy="301752"/>
          </a:xfrm>
          <a:prstGeom prst="ellipse">
            <a:avLst>
              <a:gd name="adj" fmla="val 24242"/>
            </a:avLst>
          </a:prstGeom>
          <a:solidFill>
            <a:srgbClr val="386948"/>
          </a:solidFill>
          <a:ln w="12700">
            <a:solidFill>
              <a:srgbClr val="386948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7123176" y="2772461"/>
            <a:ext cx="30175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1</a:t>
            </a:r>
            <a:endParaRPr lang="en-US" sz="800" dirty="0"/>
          </a:p>
        </p:txBody>
      </p:sp>
      <p:sp>
        <p:nvSpPr>
          <p:cNvPr id="25" name="Text 20"/>
          <p:cNvSpPr/>
          <p:nvPr/>
        </p:nvSpPr>
        <p:spPr>
          <a:xfrm>
            <a:off x="7571232" y="2660904"/>
            <a:ext cx="38221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342E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알람 목록 확인</a:t>
            </a:r>
            <a:endParaRPr lang="en-US" sz="1100" dirty="0"/>
          </a:p>
        </p:txBody>
      </p:sp>
      <p:sp>
        <p:nvSpPr>
          <p:cNvPr id="26" name="Text 21"/>
          <p:cNvSpPr/>
          <p:nvPr/>
        </p:nvSpPr>
        <p:spPr>
          <a:xfrm>
            <a:off x="7571232" y="2944368"/>
            <a:ext cx="38221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168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시간과 활성화 상태 확인</a:t>
            </a:r>
            <a:endParaRPr lang="en-US" sz="850" dirty="0"/>
          </a:p>
        </p:txBody>
      </p:sp>
      <p:sp>
        <p:nvSpPr>
          <p:cNvPr id="27" name="Shape 22"/>
          <p:cNvSpPr/>
          <p:nvPr/>
        </p:nvSpPr>
        <p:spPr>
          <a:xfrm>
            <a:off x="6949440" y="3383280"/>
            <a:ext cx="4608576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AE6DD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7123176" y="3584448"/>
            <a:ext cx="301752" cy="301752"/>
          </a:xfrm>
          <a:prstGeom prst="ellipse">
            <a:avLst>
              <a:gd name="adj" fmla="val 24242"/>
            </a:avLst>
          </a:prstGeom>
          <a:solidFill>
            <a:srgbClr val="386948"/>
          </a:solidFill>
          <a:ln w="12700">
            <a:solidFill>
              <a:srgbClr val="386948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7123176" y="3641141"/>
            <a:ext cx="30175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2</a:t>
            </a:r>
            <a:endParaRPr lang="en-US" sz="800" dirty="0"/>
          </a:p>
        </p:txBody>
      </p:sp>
      <p:sp>
        <p:nvSpPr>
          <p:cNvPr id="30" name="Text 25"/>
          <p:cNvSpPr/>
          <p:nvPr/>
        </p:nvSpPr>
        <p:spPr>
          <a:xfrm>
            <a:off x="7571232" y="3529584"/>
            <a:ext cx="38221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342E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시간 · 요일 편집</a:t>
            </a:r>
            <a:endParaRPr lang="en-US" sz="1100" dirty="0"/>
          </a:p>
        </p:txBody>
      </p:sp>
      <p:sp>
        <p:nvSpPr>
          <p:cNvPr id="31" name="Text 26"/>
          <p:cNvSpPr/>
          <p:nvPr/>
        </p:nvSpPr>
        <p:spPr>
          <a:xfrm>
            <a:off x="7571232" y="3813048"/>
            <a:ext cx="38221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168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반복 알람 조건 설정</a:t>
            </a:r>
            <a:endParaRPr lang="en-US" sz="850" dirty="0"/>
          </a:p>
        </p:txBody>
      </p:sp>
      <p:sp>
        <p:nvSpPr>
          <p:cNvPr id="32" name="Shape 27"/>
          <p:cNvSpPr/>
          <p:nvPr/>
        </p:nvSpPr>
        <p:spPr>
          <a:xfrm>
            <a:off x="6949440" y="4251960"/>
            <a:ext cx="4608576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AE6DD"/>
            </a:solidFill>
            <a:prstDash val="solid"/>
          </a:ln>
        </p:spPr>
      </p:sp>
      <p:sp>
        <p:nvSpPr>
          <p:cNvPr id="33" name="Shape 28"/>
          <p:cNvSpPr/>
          <p:nvPr/>
        </p:nvSpPr>
        <p:spPr>
          <a:xfrm>
            <a:off x="7123176" y="4453128"/>
            <a:ext cx="301752" cy="301752"/>
          </a:xfrm>
          <a:prstGeom prst="ellipse">
            <a:avLst>
              <a:gd name="adj" fmla="val 24242"/>
            </a:avLst>
          </a:prstGeom>
          <a:solidFill>
            <a:srgbClr val="386948"/>
          </a:solidFill>
          <a:ln w="12700">
            <a:solidFill>
              <a:srgbClr val="386948"/>
            </a:solidFill>
            <a:prstDash val="solid"/>
          </a:ln>
        </p:spPr>
      </p:sp>
      <p:sp>
        <p:nvSpPr>
          <p:cNvPr id="34" name="Text 29"/>
          <p:cNvSpPr/>
          <p:nvPr/>
        </p:nvSpPr>
        <p:spPr>
          <a:xfrm>
            <a:off x="7123176" y="4509821"/>
            <a:ext cx="30175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3</a:t>
            </a:r>
            <a:endParaRPr lang="en-US" sz="800" dirty="0"/>
          </a:p>
        </p:txBody>
      </p:sp>
      <p:sp>
        <p:nvSpPr>
          <p:cNvPr id="35" name="Text 30"/>
          <p:cNvSpPr/>
          <p:nvPr/>
        </p:nvSpPr>
        <p:spPr>
          <a:xfrm>
            <a:off x="7571232" y="4398264"/>
            <a:ext cx="38221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342E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소리 · 진동 설정</a:t>
            </a:r>
            <a:endParaRPr lang="en-US" sz="1100" dirty="0"/>
          </a:p>
        </p:txBody>
      </p:sp>
      <p:sp>
        <p:nvSpPr>
          <p:cNvPr id="36" name="Text 31"/>
          <p:cNvSpPr/>
          <p:nvPr/>
        </p:nvSpPr>
        <p:spPr>
          <a:xfrm>
            <a:off x="7571232" y="4681728"/>
            <a:ext cx="38221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168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알람별 울림 방식 선택</a:t>
            </a:r>
            <a:endParaRPr lang="en-US" sz="850" dirty="0"/>
          </a:p>
        </p:txBody>
      </p:sp>
      <p:sp>
        <p:nvSpPr>
          <p:cNvPr id="37" name="Shape 32"/>
          <p:cNvSpPr/>
          <p:nvPr/>
        </p:nvSpPr>
        <p:spPr>
          <a:xfrm>
            <a:off x="6949440" y="5120640"/>
            <a:ext cx="4608576" cy="713232"/>
          </a:xfrm>
          <a:prstGeom prst="roundRect">
            <a:avLst>
              <a:gd name="adj" fmla="val 10256"/>
            </a:avLst>
          </a:prstGeom>
          <a:solidFill>
            <a:srgbClr val="E7F7EB"/>
          </a:solidFill>
          <a:ln w="12700">
            <a:solidFill>
              <a:srgbClr val="B9EFC5"/>
            </a:solidFill>
            <a:prstDash val="solid"/>
          </a:ln>
        </p:spPr>
      </p:sp>
      <p:sp>
        <p:nvSpPr>
          <p:cNvPr id="38" name="Shape 33"/>
          <p:cNvSpPr/>
          <p:nvPr/>
        </p:nvSpPr>
        <p:spPr>
          <a:xfrm>
            <a:off x="7123176" y="5321808"/>
            <a:ext cx="301752" cy="301752"/>
          </a:xfrm>
          <a:prstGeom prst="ellipse">
            <a:avLst>
              <a:gd name="adj" fmla="val 24242"/>
            </a:avLst>
          </a:prstGeom>
          <a:solidFill>
            <a:srgbClr val="386948"/>
          </a:solidFill>
          <a:ln w="12700">
            <a:solidFill>
              <a:srgbClr val="386948"/>
            </a:solidFill>
            <a:prstDash val="solid"/>
          </a:ln>
        </p:spPr>
      </p:sp>
      <p:sp>
        <p:nvSpPr>
          <p:cNvPr id="39" name="Text 34"/>
          <p:cNvSpPr/>
          <p:nvPr/>
        </p:nvSpPr>
        <p:spPr>
          <a:xfrm>
            <a:off x="7123176" y="5378501"/>
            <a:ext cx="30175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4</a:t>
            </a:r>
            <a:endParaRPr lang="en-US" sz="800" dirty="0"/>
          </a:p>
        </p:txBody>
      </p:sp>
      <p:sp>
        <p:nvSpPr>
          <p:cNvPr id="40" name="Text 35"/>
          <p:cNvSpPr/>
          <p:nvPr/>
        </p:nvSpPr>
        <p:spPr>
          <a:xfrm>
            <a:off x="7571232" y="5266944"/>
            <a:ext cx="38221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342E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다시 알림 설정</a:t>
            </a:r>
            <a:endParaRPr lang="en-US" sz="1100" dirty="0"/>
          </a:p>
        </p:txBody>
      </p:sp>
      <p:sp>
        <p:nvSpPr>
          <p:cNvPr id="41" name="Text 36"/>
          <p:cNvSpPr/>
          <p:nvPr/>
        </p:nvSpPr>
        <p:spPr>
          <a:xfrm>
            <a:off x="7571232" y="5550408"/>
            <a:ext cx="38221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168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스누즈 간격과 횟수 설정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720840" y="0"/>
            <a:ext cx="547085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7827264" cy="6858000"/>
          </a:xfrm>
          <a:prstGeom prst="rect">
            <a:avLst/>
          </a:prstGeom>
          <a:solidFill>
            <a:srgbClr val="F7FAF4"/>
          </a:solidFill>
          <a:ln w="12700">
            <a:solidFill>
              <a:srgbClr val="F7FAF4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03504" y="38404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386948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LET'S ALARM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9235440" y="384048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168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평가 (3) 주요 기능 설명</a:t>
            </a:r>
            <a:endParaRPr lang="en-US" sz="800" dirty="0"/>
          </a:p>
        </p:txBody>
      </p:sp>
      <p:sp>
        <p:nvSpPr>
          <p:cNvPr id="6" name="Shape 3"/>
          <p:cNvSpPr/>
          <p:nvPr/>
        </p:nvSpPr>
        <p:spPr>
          <a:xfrm>
            <a:off x="603504" y="704088"/>
            <a:ext cx="10981944" cy="0"/>
          </a:xfrm>
          <a:prstGeom prst="line">
            <a:avLst/>
          </a:prstGeom>
          <a:noFill/>
          <a:ln w="12700">
            <a:solidFill>
              <a:srgbClr val="DAE6D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03504" y="6419088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15" kern="0" dirty="0">
                <a:solidFill>
                  <a:srgbClr val="647168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UI/UX PROGRAMMING   /   TEAM 06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11155680" y="6419088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86948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05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21792" y="941832"/>
            <a:ext cx="10652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C342E"/>
                </a:solidFill>
                <a:latin typeface="KIMM_Bold" pitchFamily="34" charset="0"/>
                <a:ea typeface="KIMM_Bold" pitchFamily="34" charset="-122"/>
                <a:cs typeface="KIMM_Bold" pitchFamily="34" charset="-120"/>
              </a:rPr>
              <a:t>주요 UI 기능 II. 울림과 계정 동기화</a:t>
            </a:r>
            <a:endParaRPr lang="en-US" sz="2700" dirty="0"/>
          </a:p>
        </p:txBody>
      </p:sp>
      <p:sp>
        <p:nvSpPr>
          <p:cNvPr id="10" name="Text 7"/>
          <p:cNvSpPr/>
          <p:nvPr/>
        </p:nvSpPr>
        <p:spPr>
          <a:xfrm>
            <a:off x="640080" y="1536192"/>
            <a:ext cx="105613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6948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로그아웃 상태에서는 로컬 알람을 사용하고, 로그인 후에는 그룹 알람을 공유합니다.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40080" y="2112264"/>
            <a:ext cx="2862072" cy="3794760"/>
          </a:xfrm>
          <a:prstGeom prst="roundRect">
            <a:avLst>
              <a:gd name="adj" fmla="val 2556"/>
            </a:avLst>
          </a:prstGeom>
          <a:solidFill>
            <a:srgbClr val="FFFFFF"/>
          </a:solidFill>
          <a:ln w="12700">
            <a:solidFill>
              <a:srgbClr val="DAE6DD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04672" y="2276856"/>
            <a:ext cx="2532888" cy="3127248"/>
          </a:xfrm>
          <a:prstGeom prst="roundRect">
            <a:avLst>
              <a:gd name="adj" fmla="val 2166"/>
            </a:avLst>
          </a:prstGeom>
          <a:solidFill>
            <a:srgbClr val="F1F7F2"/>
          </a:solidFill>
          <a:ln w="12700">
            <a:solidFill>
              <a:srgbClr val="B9EFC5"/>
            </a:solidFill>
            <a:prstDash val="solid"/>
          </a:ln>
        </p:spPr>
      </p:sp>
      <p:pic>
        <p:nvPicPr>
          <p:cNvPr id="13" name="Image 1" descr="/home/devuser/projects/teamproject1/presentation/assets/icon_tun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9948" y="3570732"/>
            <a:ext cx="402336" cy="40233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914400" y="4064508"/>
            <a:ext cx="2313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86948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화면 캡처 삽입 영역</a:t>
            </a:r>
            <a:endParaRPr lang="en-US" sz="950" dirty="0"/>
          </a:p>
        </p:txBody>
      </p:sp>
      <p:sp>
        <p:nvSpPr>
          <p:cNvPr id="15" name="Text 11"/>
          <p:cNvSpPr/>
          <p:nvPr/>
        </p:nvSpPr>
        <p:spPr>
          <a:xfrm>
            <a:off x="822960" y="5541264"/>
            <a:ext cx="24963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342E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AlarmRingScreen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822960" y="5715000"/>
            <a:ext cx="24963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168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잠금화면 울림 화면</a:t>
            </a:r>
            <a:endParaRPr lang="en-US" sz="750" dirty="0"/>
          </a:p>
        </p:txBody>
      </p:sp>
      <p:sp>
        <p:nvSpPr>
          <p:cNvPr id="17" name="Shape 13"/>
          <p:cNvSpPr/>
          <p:nvPr/>
        </p:nvSpPr>
        <p:spPr>
          <a:xfrm>
            <a:off x="3749040" y="2112264"/>
            <a:ext cx="2862072" cy="3794760"/>
          </a:xfrm>
          <a:prstGeom prst="roundRect">
            <a:avLst>
              <a:gd name="adj" fmla="val 2556"/>
            </a:avLst>
          </a:prstGeom>
          <a:solidFill>
            <a:srgbClr val="FFFFFF"/>
          </a:solidFill>
          <a:ln w="12700">
            <a:solidFill>
              <a:srgbClr val="DAE6DD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3913632" y="2276856"/>
            <a:ext cx="2532888" cy="3127248"/>
          </a:xfrm>
          <a:prstGeom prst="roundRect">
            <a:avLst>
              <a:gd name="adj" fmla="val 2166"/>
            </a:avLst>
          </a:prstGeom>
          <a:solidFill>
            <a:srgbClr val="F1F7F2"/>
          </a:solidFill>
          <a:ln w="12700">
            <a:solidFill>
              <a:srgbClr val="B9EFC5"/>
            </a:solidFill>
            <a:prstDash val="solid"/>
          </a:ln>
        </p:spPr>
      </p:sp>
      <p:pic>
        <p:nvPicPr>
          <p:cNvPr id="19" name="Image 2" descr="/home/devuser/projects/teamproject1/presentation/assets/icon_tun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78908" y="3570732"/>
            <a:ext cx="402336" cy="402336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4023360" y="4064508"/>
            <a:ext cx="2313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86948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화면 캡처 삽입 영역</a:t>
            </a:r>
            <a:endParaRPr lang="en-US" sz="950" dirty="0"/>
          </a:p>
        </p:txBody>
      </p:sp>
      <p:sp>
        <p:nvSpPr>
          <p:cNvPr id="21" name="Text 16"/>
          <p:cNvSpPr/>
          <p:nvPr/>
        </p:nvSpPr>
        <p:spPr>
          <a:xfrm>
            <a:off x="3931920" y="5541264"/>
            <a:ext cx="24963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342E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Account / Group</a:t>
            </a:r>
            <a:endParaRPr lang="en-US" sz="900" dirty="0"/>
          </a:p>
        </p:txBody>
      </p:sp>
      <p:sp>
        <p:nvSpPr>
          <p:cNvPr id="22" name="Text 17"/>
          <p:cNvSpPr/>
          <p:nvPr/>
        </p:nvSpPr>
        <p:spPr>
          <a:xfrm>
            <a:off x="3931920" y="5715000"/>
            <a:ext cx="24963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168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로그인 및 그룹 관리</a:t>
            </a:r>
            <a:endParaRPr lang="en-US" sz="750" dirty="0"/>
          </a:p>
        </p:txBody>
      </p:sp>
      <p:sp>
        <p:nvSpPr>
          <p:cNvPr id="23" name="Shape 18"/>
          <p:cNvSpPr/>
          <p:nvPr/>
        </p:nvSpPr>
        <p:spPr>
          <a:xfrm>
            <a:off x="7004304" y="2112264"/>
            <a:ext cx="4562856" cy="1664208"/>
          </a:xfrm>
          <a:prstGeom prst="roundRect">
            <a:avLst>
              <a:gd name="adj" fmla="val 4396"/>
            </a:avLst>
          </a:prstGeom>
          <a:solidFill>
            <a:srgbClr val="FFFFFF"/>
          </a:solidFill>
          <a:ln w="12700">
            <a:solidFill>
              <a:srgbClr val="DAE6DD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7232904" y="2331720"/>
            <a:ext cx="410565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386948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ALARM ACTION</a:t>
            </a:r>
            <a:endParaRPr lang="en-US" sz="850" dirty="0"/>
          </a:p>
        </p:txBody>
      </p:sp>
      <p:sp>
        <p:nvSpPr>
          <p:cNvPr id="25" name="Text 20"/>
          <p:cNvSpPr/>
          <p:nvPr/>
        </p:nvSpPr>
        <p:spPr>
          <a:xfrm>
            <a:off x="7232904" y="2697480"/>
            <a:ext cx="41056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342E"/>
                </a:solidFill>
                <a:latin typeface="KIMM_Bold" pitchFamily="34" charset="0"/>
                <a:ea typeface="KIMM_Bold" pitchFamily="34" charset="-122"/>
                <a:cs typeface="KIMM_Bold" pitchFamily="34" charset="-120"/>
              </a:rPr>
              <a:t>Dismiss / Snooze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7232904" y="3163824"/>
            <a:ext cx="41056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168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Dismiss  현재 울림 종료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168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Snooze  설정 시간 뒤 재알림</a:t>
            </a:r>
            <a:endParaRPr lang="en-US" sz="1050" dirty="0"/>
          </a:p>
        </p:txBody>
      </p:sp>
      <p:sp>
        <p:nvSpPr>
          <p:cNvPr id="27" name="Shape 22"/>
          <p:cNvSpPr/>
          <p:nvPr/>
        </p:nvSpPr>
        <p:spPr>
          <a:xfrm>
            <a:off x="7004304" y="4041648"/>
            <a:ext cx="4562856" cy="1664208"/>
          </a:xfrm>
          <a:prstGeom prst="roundRect">
            <a:avLst>
              <a:gd name="adj" fmla="val 4396"/>
            </a:avLst>
          </a:prstGeom>
          <a:solidFill>
            <a:srgbClr val="E7F7EB"/>
          </a:solidFill>
          <a:ln w="12700">
            <a:solidFill>
              <a:srgbClr val="B9EFC5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7232904" y="4261104"/>
            <a:ext cx="410565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386948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SYNC MODE</a:t>
            </a:r>
            <a:endParaRPr lang="en-US" sz="850" dirty="0"/>
          </a:p>
        </p:txBody>
      </p:sp>
      <p:sp>
        <p:nvSpPr>
          <p:cNvPr id="29" name="Text 24"/>
          <p:cNvSpPr/>
          <p:nvPr/>
        </p:nvSpPr>
        <p:spPr>
          <a:xfrm>
            <a:off x="7232904" y="4626864"/>
            <a:ext cx="41056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342E"/>
                </a:solidFill>
                <a:latin typeface="KIMM_Bold" pitchFamily="34" charset="0"/>
                <a:ea typeface="KIMM_Bold" pitchFamily="34" charset="-122"/>
                <a:cs typeface="KIMM_Bold" pitchFamily="34" charset="-120"/>
              </a:rPr>
              <a:t>로컬 또는 공유 사용</a:t>
            </a:r>
            <a:endParaRPr lang="en-US" sz="1500" dirty="0"/>
          </a:p>
        </p:txBody>
      </p:sp>
      <p:sp>
        <p:nvSpPr>
          <p:cNvPr id="30" name="Text 25"/>
          <p:cNvSpPr/>
          <p:nvPr/>
        </p:nvSpPr>
        <p:spPr>
          <a:xfrm>
            <a:off x="7232904" y="5093208"/>
            <a:ext cx="41056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168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로그아웃  로컬 알람 사용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168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로그인 + 그룹  공유 동기화 사용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538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3504" y="38404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B9EFC5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LET'S ALARM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9235440" y="384048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E4F0E6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평가 (2) 전체 시스템 구조도</a:t>
            </a:r>
            <a:endParaRPr lang="en-US" sz="800" dirty="0"/>
          </a:p>
        </p:txBody>
      </p:sp>
      <p:sp>
        <p:nvSpPr>
          <p:cNvPr id="5" name="Shape 2"/>
          <p:cNvSpPr/>
          <p:nvPr/>
        </p:nvSpPr>
        <p:spPr>
          <a:xfrm>
            <a:off x="603504" y="704088"/>
            <a:ext cx="10981944" cy="0"/>
          </a:xfrm>
          <a:prstGeom prst="line">
            <a:avLst/>
          </a:prstGeom>
          <a:noFill/>
          <a:ln w="12700">
            <a:solidFill>
              <a:srgbClr val="52776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03504" y="6419088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15" kern="0" dirty="0">
                <a:solidFill>
                  <a:srgbClr val="E4F0E6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UI/UX PROGRAMMING   /   TEAM 06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155680" y="6419088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EFC5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06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621792" y="941832"/>
            <a:ext cx="10652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KIMM_Bold" pitchFamily="34" charset="0"/>
                <a:ea typeface="KIMM_Bold" pitchFamily="34" charset="-122"/>
                <a:cs typeface="KIMM_Bold" pitchFamily="34" charset="-120"/>
              </a:rPr>
              <a:t>Firebase 기반 동기화 알람 구조</a:t>
            </a:r>
            <a:endParaRPr lang="en-US" sz="2700" dirty="0"/>
          </a:p>
        </p:txBody>
      </p:sp>
      <p:sp>
        <p:nvSpPr>
          <p:cNvPr id="9" name="Text 6"/>
          <p:cNvSpPr/>
          <p:nvPr/>
        </p:nvSpPr>
        <p:spPr>
          <a:xfrm>
            <a:off x="640080" y="1536192"/>
            <a:ext cx="105613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5E9DE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변경 데이터는 Firebase로 전달하고, 실제 정각 울림은 각 Android 기기가 실행합니다.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40080" y="2212848"/>
            <a:ext cx="2322576" cy="2880360"/>
          </a:xfrm>
          <a:prstGeom prst="roundRect">
            <a:avLst>
              <a:gd name="adj" fmla="val 3150"/>
            </a:avLst>
          </a:prstGeom>
          <a:solidFill>
            <a:srgbClr val="214537"/>
          </a:solidFill>
          <a:ln w="12700">
            <a:solidFill>
              <a:srgbClr val="52776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50392" y="2450592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B9EFC5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DEVICE A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850392" y="2871216"/>
            <a:ext cx="1901952" cy="758952"/>
          </a:xfrm>
          <a:prstGeom prst="roundRect">
            <a:avLst>
              <a:gd name="adj" fmla="val 963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3" name="Image 1" descr="/home/devuser/projects/teamproject1/presentation/assets/icon_alarm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696" y="3035808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353312" y="3035808"/>
            <a:ext cx="12344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342E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Flutter Android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1353312" y="3337560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168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알람 생성 / 수정</a:t>
            </a:r>
            <a:endParaRPr lang="en-US" sz="800" dirty="0"/>
          </a:p>
        </p:txBody>
      </p:sp>
      <p:sp>
        <p:nvSpPr>
          <p:cNvPr id="16" name="Shape 12"/>
          <p:cNvSpPr/>
          <p:nvPr/>
        </p:nvSpPr>
        <p:spPr>
          <a:xfrm>
            <a:off x="850392" y="3931920"/>
            <a:ext cx="1901952" cy="758952"/>
          </a:xfrm>
          <a:prstGeom prst="roundRect">
            <a:avLst>
              <a:gd name="adj" fmla="val 9639"/>
            </a:avLst>
          </a:prstGeom>
          <a:solidFill>
            <a:srgbClr val="E7F7EB"/>
          </a:solidFill>
          <a:ln w="12700">
            <a:solidFill>
              <a:srgbClr val="B9EFC5"/>
            </a:solidFill>
            <a:prstDash val="solid"/>
          </a:ln>
        </p:spPr>
      </p:sp>
      <p:pic>
        <p:nvPicPr>
          <p:cNvPr id="17" name="Image 2" descr="/home/devuser/projects/teamproject1/presentation/assets/icon_bel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696" y="4096512"/>
            <a:ext cx="274320" cy="2743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53312" y="4096512"/>
            <a:ext cx="12344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342E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로컬 알람 예약</a:t>
            </a:r>
            <a:endParaRPr lang="en-US" sz="1000" dirty="0"/>
          </a:p>
        </p:txBody>
      </p:sp>
      <p:sp>
        <p:nvSpPr>
          <p:cNvPr id="19" name="Text 14"/>
          <p:cNvSpPr/>
          <p:nvPr/>
        </p:nvSpPr>
        <p:spPr>
          <a:xfrm>
            <a:off x="1353312" y="4398264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168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정각 울림 담당</a:t>
            </a:r>
            <a:endParaRPr lang="en-US" sz="800" dirty="0"/>
          </a:p>
        </p:txBody>
      </p:sp>
      <p:sp>
        <p:nvSpPr>
          <p:cNvPr id="20" name="Shape 15"/>
          <p:cNvSpPr/>
          <p:nvPr/>
        </p:nvSpPr>
        <p:spPr>
          <a:xfrm>
            <a:off x="3410712" y="2057400"/>
            <a:ext cx="5349240" cy="3200400"/>
          </a:xfrm>
          <a:prstGeom prst="roundRect">
            <a:avLst>
              <a:gd name="adj" fmla="val 2286"/>
            </a:avLst>
          </a:prstGeom>
          <a:solidFill>
            <a:srgbClr val="F7FAF4"/>
          </a:solidFill>
          <a:ln w="12700">
            <a:solidFill>
              <a:srgbClr val="F7FAF4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3675888" y="2313432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386948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FIREBASE CLOUD</a:t>
            </a:r>
            <a:endParaRPr lang="en-US" sz="850" dirty="0"/>
          </a:p>
        </p:txBody>
      </p:sp>
      <p:sp>
        <p:nvSpPr>
          <p:cNvPr id="22" name="Shape 17"/>
          <p:cNvSpPr/>
          <p:nvPr/>
        </p:nvSpPr>
        <p:spPr>
          <a:xfrm>
            <a:off x="3675888" y="2871216"/>
            <a:ext cx="1490472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DAE6DD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3858768" y="3035808"/>
            <a:ext cx="1143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342E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Authentication</a:t>
            </a:r>
            <a:endParaRPr lang="en-US" sz="1000" dirty="0"/>
          </a:p>
        </p:txBody>
      </p:sp>
      <p:sp>
        <p:nvSpPr>
          <p:cNvPr id="24" name="Text 19"/>
          <p:cNvSpPr/>
          <p:nvPr/>
        </p:nvSpPr>
        <p:spPr>
          <a:xfrm>
            <a:off x="3858768" y="3337560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168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사용자 식별</a:t>
            </a:r>
            <a:endParaRPr lang="en-US" sz="800" dirty="0"/>
          </a:p>
        </p:txBody>
      </p:sp>
      <p:sp>
        <p:nvSpPr>
          <p:cNvPr id="25" name="Shape 20"/>
          <p:cNvSpPr/>
          <p:nvPr/>
        </p:nvSpPr>
        <p:spPr>
          <a:xfrm>
            <a:off x="5367528" y="2871216"/>
            <a:ext cx="1463040" cy="749808"/>
          </a:xfrm>
          <a:prstGeom prst="roundRect">
            <a:avLst>
              <a:gd name="adj" fmla="val 9756"/>
            </a:avLst>
          </a:prstGeom>
          <a:solidFill>
            <a:srgbClr val="FFF3CD"/>
          </a:solidFill>
          <a:ln w="12700">
            <a:solidFill>
              <a:srgbClr val="F0BE53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5550408" y="3035808"/>
            <a:ext cx="11155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342E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Firestore</a:t>
            </a:r>
            <a:endParaRPr lang="en-US" sz="1000" dirty="0"/>
          </a:p>
        </p:txBody>
      </p:sp>
      <p:sp>
        <p:nvSpPr>
          <p:cNvPr id="27" name="Text 22"/>
          <p:cNvSpPr/>
          <p:nvPr/>
        </p:nvSpPr>
        <p:spPr>
          <a:xfrm>
            <a:off x="5550408" y="3337560"/>
            <a:ext cx="11155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168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공유 원본</a:t>
            </a:r>
            <a:endParaRPr lang="en-US" sz="800" dirty="0"/>
          </a:p>
        </p:txBody>
      </p:sp>
      <p:sp>
        <p:nvSpPr>
          <p:cNvPr id="28" name="Shape 23"/>
          <p:cNvSpPr/>
          <p:nvPr/>
        </p:nvSpPr>
        <p:spPr>
          <a:xfrm>
            <a:off x="7031736" y="2871216"/>
            <a:ext cx="1444752" cy="749808"/>
          </a:xfrm>
          <a:prstGeom prst="roundRect">
            <a:avLst>
              <a:gd name="adj" fmla="val 9756"/>
            </a:avLst>
          </a:prstGeom>
          <a:solidFill>
            <a:srgbClr val="FFF3CD"/>
          </a:solidFill>
          <a:ln w="12700">
            <a:solidFill>
              <a:srgbClr val="F0BE53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7214616" y="3035808"/>
            <a:ext cx="10972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342E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Functions</a:t>
            </a:r>
            <a:endParaRPr lang="en-US" sz="1000" dirty="0"/>
          </a:p>
        </p:txBody>
      </p:sp>
      <p:sp>
        <p:nvSpPr>
          <p:cNvPr id="30" name="Text 25"/>
          <p:cNvSpPr/>
          <p:nvPr/>
        </p:nvSpPr>
        <p:spPr>
          <a:xfrm>
            <a:off x="7214616" y="3337560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168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변경 감지</a:t>
            </a:r>
            <a:endParaRPr lang="en-US" sz="800" dirty="0"/>
          </a:p>
        </p:txBody>
      </p:sp>
      <p:sp>
        <p:nvSpPr>
          <p:cNvPr id="31" name="Shape 26"/>
          <p:cNvSpPr/>
          <p:nvPr/>
        </p:nvSpPr>
        <p:spPr>
          <a:xfrm>
            <a:off x="5376672" y="4096512"/>
            <a:ext cx="1444752" cy="749808"/>
          </a:xfrm>
          <a:prstGeom prst="roundRect">
            <a:avLst>
              <a:gd name="adj" fmla="val 9756"/>
            </a:avLst>
          </a:prstGeom>
          <a:solidFill>
            <a:srgbClr val="E7F7EB"/>
          </a:solidFill>
          <a:ln w="12700">
            <a:solidFill>
              <a:srgbClr val="B9EFC5"/>
            </a:solidFill>
            <a:prstDash val="solid"/>
          </a:ln>
        </p:spPr>
      </p:sp>
      <p:pic>
        <p:nvPicPr>
          <p:cNvPr id="32" name="Image 3" descr="/home/devuser/projects/teamproject1/presentation/assets/icon_clou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22976" y="4261104"/>
            <a:ext cx="274320" cy="274320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5879592" y="4261104"/>
            <a:ext cx="777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342E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FCM</a:t>
            </a:r>
            <a:endParaRPr lang="en-US" sz="1000" dirty="0"/>
          </a:p>
        </p:txBody>
      </p:sp>
      <p:sp>
        <p:nvSpPr>
          <p:cNvPr id="34" name="Text 28"/>
          <p:cNvSpPr/>
          <p:nvPr/>
        </p:nvSpPr>
        <p:spPr>
          <a:xfrm>
            <a:off x="5879592" y="4562856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168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변경 전달</a:t>
            </a:r>
            <a:endParaRPr lang="en-US" sz="800" dirty="0"/>
          </a:p>
        </p:txBody>
      </p:sp>
      <p:sp>
        <p:nvSpPr>
          <p:cNvPr id="35" name="Shape 29"/>
          <p:cNvSpPr/>
          <p:nvPr/>
        </p:nvSpPr>
        <p:spPr>
          <a:xfrm>
            <a:off x="3008376" y="3218688"/>
            <a:ext cx="320040" cy="118872"/>
          </a:xfrm>
          <a:prstGeom prst="chevron">
            <a:avLst/>
          </a:prstGeom>
          <a:solidFill>
            <a:srgbClr val="90CDA4"/>
          </a:solidFill>
          <a:ln w="12700">
            <a:solidFill>
              <a:srgbClr val="90CDA4">
                <a:alpha val="0"/>
              </a:srgbClr>
            </a:solidFill>
            <a:prstDash val="solid"/>
          </a:ln>
        </p:spPr>
      </p:sp>
      <p:sp>
        <p:nvSpPr>
          <p:cNvPr id="36" name="Text 30"/>
          <p:cNvSpPr/>
          <p:nvPr/>
        </p:nvSpPr>
        <p:spPr>
          <a:xfrm>
            <a:off x="2953512" y="2990088"/>
            <a:ext cx="42976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B9EFC5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1. 저장</a:t>
            </a:r>
            <a:endParaRPr lang="en-US" sz="750" dirty="0"/>
          </a:p>
        </p:txBody>
      </p:sp>
      <p:sp>
        <p:nvSpPr>
          <p:cNvPr id="37" name="Shape 31"/>
          <p:cNvSpPr/>
          <p:nvPr/>
        </p:nvSpPr>
        <p:spPr>
          <a:xfrm>
            <a:off x="8860536" y="3218688"/>
            <a:ext cx="320040" cy="118872"/>
          </a:xfrm>
          <a:prstGeom prst="chevron">
            <a:avLst/>
          </a:prstGeom>
          <a:solidFill>
            <a:srgbClr val="90CDA4"/>
          </a:solidFill>
          <a:ln w="12700">
            <a:solidFill>
              <a:srgbClr val="90CDA4">
                <a:alpha val="0"/>
              </a:srgbClr>
            </a:solidFill>
            <a:prstDash val="solid"/>
          </a:ln>
        </p:spPr>
      </p:sp>
      <p:sp>
        <p:nvSpPr>
          <p:cNvPr id="38" name="Text 32"/>
          <p:cNvSpPr/>
          <p:nvPr/>
        </p:nvSpPr>
        <p:spPr>
          <a:xfrm>
            <a:off x="8805672" y="2990088"/>
            <a:ext cx="42976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B9EFC5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4. 수신</a:t>
            </a:r>
            <a:endParaRPr lang="en-US" sz="750" dirty="0"/>
          </a:p>
        </p:txBody>
      </p:sp>
      <p:sp>
        <p:nvSpPr>
          <p:cNvPr id="39" name="Text 33"/>
          <p:cNvSpPr/>
          <p:nvPr/>
        </p:nvSpPr>
        <p:spPr>
          <a:xfrm>
            <a:off x="3840480" y="4681728"/>
            <a:ext cx="4617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86948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2. 변경 감지   -&gt;   3. FCM 전송</a:t>
            </a:r>
            <a:endParaRPr lang="en-US" sz="900" dirty="0"/>
          </a:p>
        </p:txBody>
      </p:sp>
      <p:sp>
        <p:nvSpPr>
          <p:cNvPr id="40" name="Shape 34"/>
          <p:cNvSpPr/>
          <p:nvPr/>
        </p:nvSpPr>
        <p:spPr>
          <a:xfrm>
            <a:off x="9217152" y="2212848"/>
            <a:ext cx="2350008" cy="2880360"/>
          </a:xfrm>
          <a:prstGeom prst="roundRect">
            <a:avLst>
              <a:gd name="adj" fmla="val 3113"/>
            </a:avLst>
          </a:prstGeom>
          <a:solidFill>
            <a:srgbClr val="214537"/>
          </a:solidFill>
          <a:ln w="12700">
            <a:solidFill>
              <a:srgbClr val="527768"/>
            </a:solidFill>
            <a:prstDash val="solid"/>
          </a:ln>
        </p:spPr>
      </p:sp>
      <p:sp>
        <p:nvSpPr>
          <p:cNvPr id="41" name="Text 35"/>
          <p:cNvSpPr/>
          <p:nvPr/>
        </p:nvSpPr>
        <p:spPr>
          <a:xfrm>
            <a:off x="9445752" y="2450592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B9EFC5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DEVICE B</a:t>
            </a:r>
            <a:endParaRPr lang="en-US" sz="850" dirty="0"/>
          </a:p>
        </p:txBody>
      </p:sp>
      <p:sp>
        <p:nvSpPr>
          <p:cNvPr id="42" name="Shape 36"/>
          <p:cNvSpPr/>
          <p:nvPr/>
        </p:nvSpPr>
        <p:spPr>
          <a:xfrm>
            <a:off x="9445752" y="2871216"/>
            <a:ext cx="1901952" cy="758952"/>
          </a:xfrm>
          <a:prstGeom prst="roundRect">
            <a:avLst>
              <a:gd name="adj" fmla="val 963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43" name="Image 4" descr="/home/devuser/projects/teamproject1/presentation/assets/icon_clou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92056" y="3035808"/>
            <a:ext cx="274320" cy="274320"/>
          </a:xfrm>
          <a:prstGeom prst="rect">
            <a:avLst/>
          </a:prstGeom>
        </p:spPr>
      </p:pic>
      <p:sp>
        <p:nvSpPr>
          <p:cNvPr id="44" name="Text 37"/>
          <p:cNvSpPr/>
          <p:nvPr/>
        </p:nvSpPr>
        <p:spPr>
          <a:xfrm>
            <a:off x="9948672" y="3035808"/>
            <a:ext cx="12344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342E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Flutter Android</a:t>
            </a:r>
            <a:endParaRPr lang="en-US" sz="1000" dirty="0"/>
          </a:p>
        </p:txBody>
      </p:sp>
      <p:sp>
        <p:nvSpPr>
          <p:cNvPr id="45" name="Text 38"/>
          <p:cNvSpPr/>
          <p:nvPr/>
        </p:nvSpPr>
        <p:spPr>
          <a:xfrm>
            <a:off x="9948672" y="3337560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168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동기화 수신</a:t>
            </a:r>
            <a:endParaRPr lang="en-US" sz="800" dirty="0"/>
          </a:p>
        </p:txBody>
      </p:sp>
      <p:sp>
        <p:nvSpPr>
          <p:cNvPr id="46" name="Shape 39"/>
          <p:cNvSpPr/>
          <p:nvPr/>
        </p:nvSpPr>
        <p:spPr>
          <a:xfrm>
            <a:off x="9445752" y="3931920"/>
            <a:ext cx="1901952" cy="758952"/>
          </a:xfrm>
          <a:prstGeom prst="roundRect">
            <a:avLst>
              <a:gd name="adj" fmla="val 9639"/>
            </a:avLst>
          </a:prstGeom>
          <a:solidFill>
            <a:srgbClr val="E7F7EB"/>
          </a:solidFill>
          <a:ln w="12700">
            <a:solidFill>
              <a:srgbClr val="B9EFC5"/>
            </a:solidFill>
            <a:prstDash val="solid"/>
          </a:ln>
        </p:spPr>
      </p:sp>
      <p:pic>
        <p:nvPicPr>
          <p:cNvPr id="47" name="Image 5" descr="/home/devuser/projects/teamproject1/presentation/assets/icon_bell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92056" y="4096512"/>
            <a:ext cx="274320" cy="274320"/>
          </a:xfrm>
          <a:prstGeom prst="rect">
            <a:avLst/>
          </a:prstGeom>
        </p:spPr>
      </p:pic>
      <p:sp>
        <p:nvSpPr>
          <p:cNvPr id="48" name="Text 40"/>
          <p:cNvSpPr/>
          <p:nvPr/>
        </p:nvSpPr>
        <p:spPr>
          <a:xfrm>
            <a:off x="9948672" y="4096512"/>
            <a:ext cx="12344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342E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로컬 예약 갱신</a:t>
            </a:r>
            <a:endParaRPr lang="en-US" sz="1000" dirty="0"/>
          </a:p>
        </p:txBody>
      </p:sp>
      <p:sp>
        <p:nvSpPr>
          <p:cNvPr id="49" name="Text 41"/>
          <p:cNvSpPr/>
          <p:nvPr/>
        </p:nvSpPr>
        <p:spPr>
          <a:xfrm>
            <a:off x="9948672" y="4398264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168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정각 울림 담당</a:t>
            </a:r>
            <a:endParaRPr lang="en-US" sz="800" dirty="0"/>
          </a:p>
        </p:txBody>
      </p:sp>
      <p:sp>
        <p:nvSpPr>
          <p:cNvPr id="50" name="Shape 42"/>
          <p:cNvSpPr/>
          <p:nvPr/>
        </p:nvSpPr>
        <p:spPr>
          <a:xfrm>
            <a:off x="640080" y="5559552"/>
            <a:ext cx="10927080" cy="530352"/>
          </a:xfrm>
          <a:prstGeom prst="roundRect">
            <a:avLst>
              <a:gd name="adj" fmla="val 13793"/>
            </a:avLst>
          </a:prstGeom>
          <a:solidFill>
            <a:srgbClr val="315B4B"/>
          </a:solidFill>
          <a:ln w="12700">
            <a:solidFill>
              <a:srgbClr val="315B4B"/>
            </a:solidFill>
            <a:prstDash val="solid"/>
          </a:ln>
        </p:spPr>
      </p:sp>
      <p:sp>
        <p:nvSpPr>
          <p:cNvPr id="51" name="Text 43"/>
          <p:cNvSpPr/>
          <p:nvPr/>
        </p:nvSpPr>
        <p:spPr>
          <a:xfrm>
            <a:off x="960120" y="5733288"/>
            <a:ext cx="10287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FCM은 동기화 신호를 전달하고, 실제 알람 울림은 Android 로컬 예약이 담당합니다.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720840" y="0"/>
            <a:ext cx="547085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7827264" cy="6858000"/>
          </a:xfrm>
          <a:prstGeom prst="rect">
            <a:avLst/>
          </a:prstGeom>
          <a:solidFill>
            <a:srgbClr val="F7FAF4"/>
          </a:solidFill>
          <a:ln w="12700">
            <a:solidFill>
              <a:srgbClr val="F7FAF4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03504" y="38404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386948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LET'S ALARM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9235440" y="384048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168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평가 (2) 주요 클래스 흐름</a:t>
            </a:r>
            <a:endParaRPr lang="en-US" sz="800" dirty="0"/>
          </a:p>
        </p:txBody>
      </p:sp>
      <p:sp>
        <p:nvSpPr>
          <p:cNvPr id="6" name="Shape 3"/>
          <p:cNvSpPr/>
          <p:nvPr/>
        </p:nvSpPr>
        <p:spPr>
          <a:xfrm>
            <a:off x="603504" y="704088"/>
            <a:ext cx="10981944" cy="0"/>
          </a:xfrm>
          <a:prstGeom prst="line">
            <a:avLst/>
          </a:prstGeom>
          <a:noFill/>
          <a:ln w="12700">
            <a:solidFill>
              <a:srgbClr val="DAE6D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03504" y="6419088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15" kern="0" dirty="0">
                <a:solidFill>
                  <a:srgbClr val="647168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UI/UX PROGRAMMING   /   TEAM 06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11155680" y="6419088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86948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07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21792" y="941832"/>
            <a:ext cx="10652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C342E"/>
                </a:solidFill>
                <a:latin typeface="KIMM_Bold" pitchFamily="34" charset="0"/>
                <a:ea typeface="KIMM_Bold" pitchFamily="34" charset="-122"/>
                <a:cs typeface="KIMM_Bold" pitchFamily="34" charset="-120"/>
              </a:rPr>
              <a:t>주요 클래스 흐름. 알람 생성과 저장</a:t>
            </a:r>
            <a:endParaRPr lang="en-US" sz="2700" dirty="0"/>
          </a:p>
        </p:txBody>
      </p:sp>
      <p:sp>
        <p:nvSpPr>
          <p:cNvPr id="10" name="Text 7"/>
          <p:cNvSpPr/>
          <p:nvPr/>
        </p:nvSpPr>
        <p:spPr>
          <a:xfrm>
            <a:off x="640080" y="1536192"/>
            <a:ext cx="105613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6948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사용자 입력에서 Android 로컬 예약 갱신까지 앱 내부 처리 순서를 보여줍니다.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40080" y="2395728"/>
            <a:ext cx="1755648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AE6DD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13816" y="2596896"/>
            <a:ext cx="301752" cy="301752"/>
          </a:xfrm>
          <a:prstGeom prst="ellipse">
            <a:avLst>
              <a:gd name="adj" fmla="val 24242"/>
            </a:avLst>
          </a:prstGeom>
          <a:solidFill>
            <a:srgbClr val="386948"/>
          </a:solidFill>
          <a:ln w="12700">
            <a:solidFill>
              <a:srgbClr val="38694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13816" y="2653589"/>
            <a:ext cx="30175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01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1261872" y="2542032"/>
            <a:ext cx="9692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342E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AlarmEditorSheet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1261872" y="2825496"/>
            <a:ext cx="96926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168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정보 입력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2660904" y="2395728"/>
            <a:ext cx="1993392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AE6DD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2834640" y="2596896"/>
            <a:ext cx="301752" cy="301752"/>
          </a:xfrm>
          <a:prstGeom prst="ellipse">
            <a:avLst>
              <a:gd name="adj" fmla="val 24242"/>
            </a:avLst>
          </a:prstGeom>
          <a:solidFill>
            <a:srgbClr val="386948"/>
          </a:solidFill>
          <a:ln w="12700">
            <a:solidFill>
              <a:srgbClr val="38694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834640" y="2653589"/>
            <a:ext cx="30175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02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3282696" y="2542032"/>
            <a:ext cx="12070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342E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AlarmListController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3282696" y="2825496"/>
            <a:ext cx="120700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168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요청 처리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4956048" y="2395728"/>
            <a:ext cx="1901952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AE6DD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129784" y="2596896"/>
            <a:ext cx="301752" cy="301752"/>
          </a:xfrm>
          <a:prstGeom prst="ellipse">
            <a:avLst>
              <a:gd name="adj" fmla="val 24242"/>
            </a:avLst>
          </a:prstGeom>
          <a:solidFill>
            <a:srgbClr val="386948"/>
          </a:solidFill>
          <a:ln w="12700">
            <a:solidFill>
              <a:srgbClr val="38694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129784" y="2653589"/>
            <a:ext cx="30175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03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5577840" y="2542032"/>
            <a:ext cx="1115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342E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AlarmRepository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5577840" y="2825496"/>
            <a:ext cx="111556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168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모드별 저장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7132320" y="2395728"/>
            <a:ext cx="2130552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AE6DD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7306056" y="2596896"/>
            <a:ext cx="301752" cy="301752"/>
          </a:xfrm>
          <a:prstGeom prst="ellipse">
            <a:avLst>
              <a:gd name="adj" fmla="val 24242"/>
            </a:avLst>
          </a:prstGeom>
          <a:solidFill>
            <a:srgbClr val="386948"/>
          </a:solidFill>
          <a:ln w="12700">
            <a:solidFill>
              <a:srgbClr val="386948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7306056" y="2653589"/>
            <a:ext cx="30175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04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7754112" y="2542032"/>
            <a:ext cx="1344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342E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NotificationService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7754112" y="2825496"/>
            <a:ext cx="134416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168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예약 갱신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9546336" y="2395728"/>
            <a:ext cx="2011680" cy="713232"/>
          </a:xfrm>
          <a:prstGeom prst="roundRect">
            <a:avLst>
              <a:gd name="adj" fmla="val 10256"/>
            </a:avLst>
          </a:prstGeom>
          <a:solidFill>
            <a:srgbClr val="E7F7EB"/>
          </a:solidFill>
          <a:ln w="12700">
            <a:solidFill>
              <a:srgbClr val="B9EFC5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9720072" y="2596896"/>
            <a:ext cx="301752" cy="301752"/>
          </a:xfrm>
          <a:prstGeom prst="ellipse">
            <a:avLst>
              <a:gd name="adj" fmla="val 24242"/>
            </a:avLst>
          </a:prstGeom>
          <a:solidFill>
            <a:srgbClr val="386948"/>
          </a:solidFill>
          <a:ln w="12700">
            <a:solidFill>
              <a:srgbClr val="386948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9720072" y="2653589"/>
            <a:ext cx="30175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05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10168128" y="2542032"/>
            <a:ext cx="1225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342E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Android 예약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10168128" y="2825496"/>
            <a:ext cx="122529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168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정각 트리거</a:t>
            </a:r>
            <a:endParaRPr lang="en-US" sz="850" dirty="0"/>
          </a:p>
        </p:txBody>
      </p:sp>
      <p:sp>
        <p:nvSpPr>
          <p:cNvPr id="36" name="Shape 33"/>
          <p:cNvSpPr/>
          <p:nvPr/>
        </p:nvSpPr>
        <p:spPr>
          <a:xfrm>
            <a:off x="2441448" y="2697480"/>
            <a:ext cx="155448" cy="118872"/>
          </a:xfrm>
          <a:prstGeom prst="chevron">
            <a:avLst/>
          </a:prstGeom>
          <a:solidFill>
            <a:srgbClr val="B9EFC5"/>
          </a:solidFill>
          <a:ln w="12700">
            <a:solidFill>
              <a:srgbClr val="B9EFC5">
                <a:alpha val="0"/>
              </a:srgbClr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4745736" y="2697480"/>
            <a:ext cx="155448" cy="118872"/>
          </a:xfrm>
          <a:prstGeom prst="chevron">
            <a:avLst/>
          </a:prstGeom>
          <a:solidFill>
            <a:srgbClr val="B9EFC5"/>
          </a:solidFill>
          <a:ln w="12700">
            <a:solidFill>
              <a:srgbClr val="B9EFC5">
                <a:alpha val="0"/>
              </a:srgbClr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6931152" y="2697480"/>
            <a:ext cx="155448" cy="118872"/>
          </a:xfrm>
          <a:prstGeom prst="chevron">
            <a:avLst/>
          </a:prstGeom>
          <a:solidFill>
            <a:srgbClr val="B9EFC5"/>
          </a:solidFill>
          <a:ln w="12700">
            <a:solidFill>
              <a:srgbClr val="B9EFC5">
                <a:alpha val="0"/>
              </a:srgbClr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9326880" y="2697480"/>
            <a:ext cx="155448" cy="118872"/>
          </a:xfrm>
          <a:prstGeom prst="chevron">
            <a:avLst/>
          </a:prstGeom>
          <a:solidFill>
            <a:srgbClr val="B9EFC5"/>
          </a:solidFill>
          <a:ln w="12700">
            <a:solidFill>
              <a:srgbClr val="B9EFC5">
                <a:alpha val="0"/>
              </a:srgbClr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658368" y="3794760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386948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REPOSITORY BRANCH</a:t>
            </a:r>
            <a:endParaRPr lang="en-US" sz="850" dirty="0"/>
          </a:p>
        </p:txBody>
      </p:sp>
      <p:sp>
        <p:nvSpPr>
          <p:cNvPr id="41" name="Shape 38"/>
          <p:cNvSpPr/>
          <p:nvPr/>
        </p:nvSpPr>
        <p:spPr>
          <a:xfrm>
            <a:off x="640080" y="4169664"/>
            <a:ext cx="5358384" cy="135331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AE6DD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868680" y="4389120"/>
            <a:ext cx="49011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386948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LOCAL MODE</a:t>
            </a:r>
            <a:endParaRPr lang="en-US" sz="850" dirty="0"/>
          </a:p>
        </p:txBody>
      </p:sp>
      <p:sp>
        <p:nvSpPr>
          <p:cNvPr id="43" name="Text 40"/>
          <p:cNvSpPr/>
          <p:nvPr/>
        </p:nvSpPr>
        <p:spPr>
          <a:xfrm>
            <a:off x="868680" y="4754880"/>
            <a:ext cx="4901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342E"/>
                </a:solidFill>
                <a:latin typeface="KIMM_Bold" pitchFamily="34" charset="0"/>
                <a:ea typeface="KIMM_Bold" pitchFamily="34" charset="-122"/>
                <a:cs typeface="KIMM_Bold" pitchFamily="34" charset="-120"/>
              </a:rPr>
              <a:t>로그아웃 / 로컬 모드</a:t>
            </a:r>
            <a:endParaRPr lang="en-US" sz="1400" dirty="0"/>
          </a:p>
        </p:txBody>
      </p:sp>
      <p:sp>
        <p:nvSpPr>
          <p:cNvPr id="44" name="Text 41"/>
          <p:cNvSpPr/>
          <p:nvPr/>
        </p:nvSpPr>
        <p:spPr>
          <a:xfrm>
            <a:off x="868680" y="5221224"/>
            <a:ext cx="490118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168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LocalDemoAlarmRepository  -&gt;  SharedPreferences</a:t>
            </a:r>
            <a:endParaRPr lang="en-US" sz="1050" dirty="0"/>
          </a:p>
        </p:txBody>
      </p:sp>
      <p:sp>
        <p:nvSpPr>
          <p:cNvPr id="45" name="Shape 42"/>
          <p:cNvSpPr/>
          <p:nvPr/>
        </p:nvSpPr>
        <p:spPr>
          <a:xfrm>
            <a:off x="6208776" y="4169664"/>
            <a:ext cx="5358384" cy="1353312"/>
          </a:xfrm>
          <a:prstGeom prst="roundRect">
            <a:avLst>
              <a:gd name="adj" fmla="val 5405"/>
            </a:avLst>
          </a:prstGeom>
          <a:solidFill>
            <a:srgbClr val="E7F7EB"/>
          </a:solidFill>
          <a:ln w="12700">
            <a:solidFill>
              <a:srgbClr val="B9EFC5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6437376" y="4389120"/>
            <a:ext cx="49011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386948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SYNC MODE</a:t>
            </a:r>
            <a:endParaRPr lang="en-US" sz="850" dirty="0"/>
          </a:p>
        </p:txBody>
      </p:sp>
      <p:sp>
        <p:nvSpPr>
          <p:cNvPr id="47" name="Text 44"/>
          <p:cNvSpPr/>
          <p:nvPr/>
        </p:nvSpPr>
        <p:spPr>
          <a:xfrm>
            <a:off x="6437376" y="4754880"/>
            <a:ext cx="4901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342E"/>
                </a:solidFill>
                <a:latin typeface="KIMM_Bold" pitchFamily="34" charset="0"/>
                <a:ea typeface="KIMM_Bold" pitchFamily="34" charset="-122"/>
                <a:cs typeface="KIMM_Bold" pitchFamily="34" charset="-120"/>
              </a:rPr>
              <a:t>로그인 + 활성 그룹 모드</a:t>
            </a:r>
            <a:endParaRPr lang="en-US" sz="1400" dirty="0"/>
          </a:p>
        </p:txBody>
      </p:sp>
      <p:sp>
        <p:nvSpPr>
          <p:cNvPr id="48" name="Text 45"/>
          <p:cNvSpPr/>
          <p:nvPr/>
        </p:nvSpPr>
        <p:spPr>
          <a:xfrm>
            <a:off x="6437376" y="5221224"/>
            <a:ext cx="490118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168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FirebaseAlarmRepository  -&gt;  Cloud Firestore</a:t>
            </a:r>
            <a:endParaRPr lang="en-US" sz="1050" dirty="0"/>
          </a:p>
        </p:txBody>
      </p:sp>
      <p:sp>
        <p:nvSpPr>
          <p:cNvPr id="49" name="Text 46"/>
          <p:cNvSpPr/>
          <p:nvPr/>
        </p:nvSpPr>
        <p:spPr>
          <a:xfrm>
            <a:off x="658368" y="5833872"/>
            <a:ext cx="10881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86948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저장 위치가 달라도 Android 로컬 알람 예약 갱신은 공통으로 수행됩니다.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720840" y="0"/>
            <a:ext cx="547085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7827264" cy="6858000"/>
          </a:xfrm>
          <a:prstGeom prst="rect">
            <a:avLst/>
          </a:prstGeom>
          <a:solidFill>
            <a:srgbClr val="F7FAF4"/>
          </a:solidFill>
          <a:ln w="12700">
            <a:solidFill>
              <a:srgbClr val="F7FAF4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03504" y="38404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386948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LET'S ALARM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9235440" y="384048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168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평가 (2) 기능 흐름 및 구현 진행</a:t>
            </a:r>
            <a:endParaRPr lang="en-US" sz="800" dirty="0"/>
          </a:p>
        </p:txBody>
      </p:sp>
      <p:sp>
        <p:nvSpPr>
          <p:cNvPr id="6" name="Shape 3"/>
          <p:cNvSpPr/>
          <p:nvPr/>
        </p:nvSpPr>
        <p:spPr>
          <a:xfrm>
            <a:off x="603504" y="704088"/>
            <a:ext cx="10981944" cy="0"/>
          </a:xfrm>
          <a:prstGeom prst="line">
            <a:avLst/>
          </a:prstGeom>
          <a:noFill/>
          <a:ln w="12700">
            <a:solidFill>
              <a:srgbClr val="DAE6D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03504" y="6419088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15" kern="0" dirty="0">
                <a:solidFill>
                  <a:srgbClr val="647168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UI/UX PROGRAMMING   /   TEAM 06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11155680" y="6419088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86948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08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21792" y="941832"/>
            <a:ext cx="10652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C342E"/>
                </a:solidFill>
                <a:latin typeface="KIMM_Bold" pitchFamily="34" charset="0"/>
                <a:ea typeface="KIMM_Bold" pitchFamily="34" charset="-122"/>
                <a:cs typeface="KIMM_Bold" pitchFamily="34" charset="-120"/>
              </a:rPr>
              <a:t>기능 흐름 및 구현 진행</a:t>
            </a:r>
            <a:endParaRPr lang="en-US" sz="2700" dirty="0"/>
          </a:p>
        </p:txBody>
      </p:sp>
      <p:sp>
        <p:nvSpPr>
          <p:cNvPr id="10" name="Text 7"/>
          <p:cNvSpPr/>
          <p:nvPr/>
        </p:nvSpPr>
        <p:spPr>
          <a:xfrm>
            <a:off x="640080" y="1536192"/>
            <a:ext cx="105613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6948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변경 동기화와 알람 울림 제어는 서로 다른 책임으로 처리합니다.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40080" y="2139696"/>
            <a:ext cx="10927080" cy="1207008"/>
          </a:xfrm>
          <a:prstGeom prst="roundRect">
            <a:avLst>
              <a:gd name="adj" fmla="val 6061"/>
            </a:avLst>
          </a:prstGeom>
          <a:solidFill>
            <a:srgbClr val="E7F7EB"/>
          </a:solidFill>
          <a:ln w="12700">
            <a:solidFill>
              <a:srgbClr val="E7F7E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77824" y="2340864"/>
            <a:ext cx="14264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6948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변경 동기화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2359152" y="2642616"/>
            <a:ext cx="265176" cy="265176"/>
          </a:xfrm>
          <a:prstGeom prst="ellipse">
            <a:avLst>
              <a:gd name="adj" fmla="val 27586"/>
            </a:avLst>
          </a:prstGeom>
          <a:solidFill>
            <a:srgbClr val="386948"/>
          </a:solidFill>
          <a:ln w="12700">
            <a:solidFill>
              <a:srgbClr val="38694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359152" y="2702052"/>
            <a:ext cx="2651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1</a:t>
            </a:r>
            <a:endParaRPr lang="en-US" sz="700" dirty="0"/>
          </a:p>
        </p:txBody>
      </p:sp>
      <p:sp>
        <p:nvSpPr>
          <p:cNvPr id="15" name="Text 12"/>
          <p:cNvSpPr/>
          <p:nvPr/>
        </p:nvSpPr>
        <p:spPr>
          <a:xfrm>
            <a:off x="2706624" y="2578608"/>
            <a:ext cx="1207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C342E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기기 A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2C342E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수정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3895344" y="2724912"/>
            <a:ext cx="118872" cy="118872"/>
          </a:xfrm>
          <a:prstGeom prst="chevron">
            <a:avLst/>
          </a:prstGeom>
          <a:solidFill>
            <a:srgbClr val="B9EFC5"/>
          </a:solidFill>
          <a:ln w="12700">
            <a:solidFill>
              <a:srgbClr val="B9EFC5">
                <a:alpha val="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114800" y="2642616"/>
            <a:ext cx="265176" cy="265176"/>
          </a:xfrm>
          <a:prstGeom prst="ellipse">
            <a:avLst>
              <a:gd name="adj" fmla="val 27586"/>
            </a:avLst>
          </a:prstGeom>
          <a:solidFill>
            <a:srgbClr val="386948"/>
          </a:solidFill>
          <a:ln w="12700">
            <a:solidFill>
              <a:srgbClr val="38694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114800" y="2702052"/>
            <a:ext cx="2651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2</a:t>
            </a:r>
            <a:endParaRPr lang="en-US" sz="700" dirty="0"/>
          </a:p>
        </p:txBody>
      </p:sp>
      <p:sp>
        <p:nvSpPr>
          <p:cNvPr id="19" name="Text 16"/>
          <p:cNvSpPr/>
          <p:nvPr/>
        </p:nvSpPr>
        <p:spPr>
          <a:xfrm>
            <a:off x="4462272" y="2578608"/>
            <a:ext cx="1207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C342E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Firestore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5650992" y="2724912"/>
            <a:ext cx="118872" cy="118872"/>
          </a:xfrm>
          <a:prstGeom prst="chevron">
            <a:avLst/>
          </a:prstGeom>
          <a:solidFill>
            <a:srgbClr val="B9EFC5"/>
          </a:solidFill>
          <a:ln w="12700">
            <a:solidFill>
              <a:srgbClr val="B9EFC5">
                <a:alpha val="0"/>
              </a:srgbClr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870448" y="2642616"/>
            <a:ext cx="265176" cy="265176"/>
          </a:xfrm>
          <a:prstGeom prst="ellipse">
            <a:avLst>
              <a:gd name="adj" fmla="val 27586"/>
            </a:avLst>
          </a:prstGeom>
          <a:solidFill>
            <a:srgbClr val="386948"/>
          </a:solidFill>
          <a:ln w="12700">
            <a:solidFill>
              <a:srgbClr val="38694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870448" y="2702052"/>
            <a:ext cx="2651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3</a:t>
            </a:r>
            <a:endParaRPr lang="en-US" sz="700" dirty="0"/>
          </a:p>
        </p:txBody>
      </p:sp>
      <p:sp>
        <p:nvSpPr>
          <p:cNvPr id="23" name="Text 20"/>
          <p:cNvSpPr/>
          <p:nvPr/>
        </p:nvSpPr>
        <p:spPr>
          <a:xfrm>
            <a:off x="6217920" y="2578608"/>
            <a:ext cx="1207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C342E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Functions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7406640" y="2724912"/>
            <a:ext cx="118872" cy="118872"/>
          </a:xfrm>
          <a:prstGeom prst="chevron">
            <a:avLst/>
          </a:prstGeom>
          <a:solidFill>
            <a:srgbClr val="B9EFC5"/>
          </a:solidFill>
          <a:ln w="12700">
            <a:solidFill>
              <a:srgbClr val="B9EFC5">
                <a:alpha val="0"/>
              </a:srgbClr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7626096" y="2642616"/>
            <a:ext cx="265176" cy="265176"/>
          </a:xfrm>
          <a:prstGeom prst="ellipse">
            <a:avLst>
              <a:gd name="adj" fmla="val 27586"/>
            </a:avLst>
          </a:prstGeom>
          <a:solidFill>
            <a:srgbClr val="386948"/>
          </a:solidFill>
          <a:ln w="12700">
            <a:solidFill>
              <a:srgbClr val="386948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626096" y="2702052"/>
            <a:ext cx="2651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4</a:t>
            </a:r>
            <a:endParaRPr lang="en-US" sz="700" dirty="0"/>
          </a:p>
        </p:txBody>
      </p:sp>
      <p:sp>
        <p:nvSpPr>
          <p:cNvPr id="27" name="Text 24"/>
          <p:cNvSpPr/>
          <p:nvPr/>
        </p:nvSpPr>
        <p:spPr>
          <a:xfrm>
            <a:off x="7973568" y="2578608"/>
            <a:ext cx="1207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C342E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FCM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9162288" y="2724912"/>
            <a:ext cx="118872" cy="118872"/>
          </a:xfrm>
          <a:prstGeom prst="chevron">
            <a:avLst/>
          </a:prstGeom>
          <a:solidFill>
            <a:srgbClr val="B9EFC5"/>
          </a:solidFill>
          <a:ln w="12700">
            <a:solidFill>
              <a:srgbClr val="B9EFC5">
                <a:alpha val="0"/>
              </a:srgbClr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9381744" y="2642616"/>
            <a:ext cx="265176" cy="265176"/>
          </a:xfrm>
          <a:prstGeom prst="ellipse">
            <a:avLst>
              <a:gd name="adj" fmla="val 27586"/>
            </a:avLst>
          </a:prstGeom>
          <a:solidFill>
            <a:srgbClr val="386948"/>
          </a:solidFill>
          <a:ln w="12700">
            <a:solidFill>
              <a:srgbClr val="386948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9381744" y="2702052"/>
            <a:ext cx="2651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5</a:t>
            </a:r>
            <a:endParaRPr lang="en-US" sz="700" dirty="0"/>
          </a:p>
        </p:txBody>
      </p:sp>
      <p:sp>
        <p:nvSpPr>
          <p:cNvPr id="31" name="Text 28"/>
          <p:cNvSpPr/>
          <p:nvPr/>
        </p:nvSpPr>
        <p:spPr>
          <a:xfrm>
            <a:off x="9729216" y="2578608"/>
            <a:ext cx="1207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C342E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기기 B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2C342E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예약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640080" y="3657600"/>
            <a:ext cx="10927080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DAE6DD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877824" y="3858768"/>
            <a:ext cx="14264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6948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울림 제어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2359152" y="4160520"/>
            <a:ext cx="265176" cy="265176"/>
          </a:xfrm>
          <a:prstGeom prst="ellipse">
            <a:avLst>
              <a:gd name="adj" fmla="val 27586"/>
            </a:avLst>
          </a:prstGeom>
          <a:solidFill>
            <a:srgbClr val="386948"/>
          </a:solidFill>
          <a:ln w="12700">
            <a:solidFill>
              <a:srgbClr val="386948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2359152" y="4219956"/>
            <a:ext cx="2651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1</a:t>
            </a:r>
            <a:endParaRPr lang="en-US" sz="700" dirty="0"/>
          </a:p>
        </p:txBody>
      </p:sp>
      <p:sp>
        <p:nvSpPr>
          <p:cNvPr id="36" name="Text 33"/>
          <p:cNvSpPr/>
          <p:nvPr/>
        </p:nvSpPr>
        <p:spPr>
          <a:xfrm>
            <a:off x="2706624" y="4096512"/>
            <a:ext cx="1207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C342E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시각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2C342E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도달</a:t>
            </a:r>
            <a:endParaRPr lang="en-US" sz="850" dirty="0"/>
          </a:p>
        </p:txBody>
      </p:sp>
      <p:sp>
        <p:nvSpPr>
          <p:cNvPr id="37" name="Shape 34"/>
          <p:cNvSpPr/>
          <p:nvPr/>
        </p:nvSpPr>
        <p:spPr>
          <a:xfrm>
            <a:off x="3895344" y="4242816"/>
            <a:ext cx="118872" cy="118872"/>
          </a:xfrm>
          <a:prstGeom prst="chevron">
            <a:avLst/>
          </a:prstGeom>
          <a:solidFill>
            <a:srgbClr val="B9EFC5"/>
          </a:solidFill>
          <a:ln w="12700">
            <a:solidFill>
              <a:srgbClr val="B9EFC5">
                <a:alpha val="0"/>
              </a:srgbClr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114800" y="4160520"/>
            <a:ext cx="265176" cy="265176"/>
          </a:xfrm>
          <a:prstGeom prst="ellipse">
            <a:avLst>
              <a:gd name="adj" fmla="val 27586"/>
            </a:avLst>
          </a:prstGeom>
          <a:solidFill>
            <a:srgbClr val="386948"/>
          </a:solidFill>
          <a:ln w="12700">
            <a:solidFill>
              <a:srgbClr val="386948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4114800" y="4219956"/>
            <a:ext cx="2651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2</a:t>
            </a:r>
            <a:endParaRPr lang="en-US" sz="700" dirty="0"/>
          </a:p>
        </p:txBody>
      </p:sp>
      <p:sp>
        <p:nvSpPr>
          <p:cNvPr id="40" name="Text 37"/>
          <p:cNvSpPr/>
          <p:nvPr/>
        </p:nvSpPr>
        <p:spPr>
          <a:xfrm>
            <a:off x="4462272" y="4096512"/>
            <a:ext cx="1207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C342E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RingScreen</a:t>
            </a:r>
            <a:endParaRPr lang="en-US" sz="850" dirty="0"/>
          </a:p>
        </p:txBody>
      </p:sp>
      <p:sp>
        <p:nvSpPr>
          <p:cNvPr id="41" name="Shape 38"/>
          <p:cNvSpPr/>
          <p:nvPr/>
        </p:nvSpPr>
        <p:spPr>
          <a:xfrm>
            <a:off x="5650992" y="4242816"/>
            <a:ext cx="118872" cy="118872"/>
          </a:xfrm>
          <a:prstGeom prst="chevron">
            <a:avLst/>
          </a:prstGeom>
          <a:solidFill>
            <a:srgbClr val="B9EFC5"/>
          </a:solidFill>
          <a:ln w="12700">
            <a:solidFill>
              <a:srgbClr val="B9EFC5">
                <a:alpha val="0"/>
              </a:srgbClr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5870448" y="4160520"/>
            <a:ext cx="265176" cy="265176"/>
          </a:xfrm>
          <a:prstGeom prst="ellipse">
            <a:avLst>
              <a:gd name="adj" fmla="val 27586"/>
            </a:avLst>
          </a:prstGeom>
          <a:solidFill>
            <a:srgbClr val="386948"/>
          </a:solidFill>
          <a:ln w="12700">
            <a:solidFill>
              <a:srgbClr val="386948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5870448" y="4219956"/>
            <a:ext cx="2651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3</a:t>
            </a:r>
            <a:endParaRPr lang="en-US" sz="700" dirty="0"/>
          </a:p>
        </p:txBody>
      </p:sp>
      <p:sp>
        <p:nvSpPr>
          <p:cNvPr id="44" name="Text 41"/>
          <p:cNvSpPr/>
          <p:nvPr/>
        </p:nvSpPr>
        <p:spPr>
          <a:xfrm>
            <a:off x="6217920" y="4096512"/>
            <a:ext cx="1207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C342E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Dismiss</a:t>
            </a:r>
            <a:endParaRPr lang="en-US" sz="850" dirty="0"/>
          </a:p>
        </p:txBody>
      </p:sp>
      <p:sp>
        <p:nvSpPr>
          <p:cNvPr id="45" name="Shape 42"/>
          <p:cNvSpPr/>
          <p:nvPr/>
        </p:nvSpPr>
        <p:spPr>
          <a:xfrm>
            <a:off x="7406640" y="4242816"/>
            <a:ext cx="118872" cy="118872"/>
          </a:xfrm>
          <a:prstGeom prst="chevron">
            <a:avLst/>
          </a:prstGeom>
          <a:solidFill>
            <a:srgbClr val="B9EFC5"/>
          </a:solidFill>
          <a:ln w="12700">
            <a:solidFill>
              <a:srgbClr val="B9EFC5">
                <a:alpha val="0"/>
              </a:srgbClr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7626096" y="4160520"/>
            <a:ext cx="265176" cy="265176"/>
          </a:xfrm>
          <a:prstGeom prst="ellipse">
            <a:avLst>
              <a:gd name="adj" fmla="val 27586"/>
            </a:avLst>
          </a:prstGeom>
          <a:solidFill>
            <a:srgbClr val="386948"/>
          </a:solidFill>
          <a:ln w="12700">
            <a:solidFill>
              <a:srgbClr val="386948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7626096" y="4219956"/>
            <a:ext cx="2651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4</a:t>
            </a:r>
            <a:endParaRPr lang="en-US" sz="700" dirty="0"/>
          </a:p>
        </p:txBody>
      </p:sp>
      <p:sp>
        <p:nvSpPr>
          <p:cNvPr id="48" name="Text 45"/>
          <p:cNvSpPr/>
          <p:nvPr/>
        </p:nvSpPr>
        <p:spPr>
          <a:xfrm>
            <a:off x="7973568" y="4096512"/>
            <a:ext cx="1207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C342E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Snooze</a:t>
            </a:r>
            <a:endParaRPr lang="en-US" sz="850" dirty="0"/>
          </a:p>
        </p:txBody>
      </p:sp>
      <p:sp>
        <p:nvSpPr>
          <p:cNvPr id="49" name="Shape 46"/>
          <p:cNvSpPr/>
          <p:nvPr/>
        </p:nvSpPr>
        <p:spPr>
          <a:xfrm>
            <a:off x="9162288" y="4242816"/>
            <a:ext cx="118872" cy="118872"/>
          </a:xfrm>
          <a:prstGeom prst="chevron">
            <a:avLst/>
          </a:prstGeom>
          <a:solidFill>
            <a:srgbClr val="B9EFC5"/>
          </a:solidFill>
          <a:ln w="12700">
            <a:solidFill>
              <a:srgbClr val="B9EFC5">
                <a:alpha val="0"/>
              </a:srgbClr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9381744" y="4160520"/>
            <a:ext cx="265176" cy="265176"/>
          </a:xfrm>
          <a:prstGeom prst="ellipse">
            <a:avLst>
              <a:gd name="adj" fmla="val 27586"/>
            </a:avLst>
          </a:prstGeom>
          <a:solidFill>
            <a:srgbClr val="386948"/>
          </a:solidFill>
          <a:ln w="12700">
            <a:solidFill>
              <a:srgbClr val="386948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9381744" y="4219956"/>
            <a:ext cx="2651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5</a:t>
            </a:r>
            <a:endParaRPr lang="en-US" sz="700" dirty="0"/>
          </a:p>
        </p:txBody>
      </p:sp>
      <p:sp>
        <p:nvSpPr>
          <p:cNvPr id="52" name="Text 49"/>
          <p:cNvSpPr/>
          <p:nvPr/>
        </p:nvSpPr>
        <p:spPr>
          <a:xfrm>
            <a:off x="9729216" y="4096512"/>
            <a:ext cx="1207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C342E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상태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2C342E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전달</a:t>
            </a:r>
            <a:endParaRPr lang="en-US" sz="850" dirty="0"/>
          </a:p>
        </p:txBody>
      </p:sp>
      <p:sp>
        <p:nvSpPr>
          <p:cNvPr id="53" name="Shape 50"/>
          <p:cNvSpPr/>
          <p:nvPr/>
        </p:nvSpPr>
        <p:spPr>
          <a:xfrm>
            <a:off x="658368" y="5330952"/>
            <a:ext cx="1042416" cy="292608"/>
          </a:xfrm>
          <a:prstGeom prst="roundRect">
            <a:avLst>
              <a:gd name="adj" fmla="val 25000"/>
            </a:avLst>
          </a:prstGeom>
          <a:solidFill>
            <a:srgbClr val="E7F7EB"/>
          </a:solidFill>
          <a:ln w="12700">
            <a:solidFill>
              <a:srgbClr val="E7F7EB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768096" y="5390388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86948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구현 반영</a:t>
            </a:r>
            <a:endParaRPr lang="en-US" sz="850" dirty="0"/>
          </a:p>
        </p:txBody>
      </p:sp>
      <p:sp>
        <p:nvSpPr>
          <p:cNvPr id="55" name="Text 52"/>
          <p:cNvSpPr/>
          <p:nvPr/>
        </p:nvSpPr>
        <p:spPr>
          <a:xfrm>
            <a:off x="1828800" y="5385816"/>
            <a:ext cx="2971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342E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Android UI / 로컬 예약 / 그룹 코드</a:t>
            </a:r>
            <a:endParaRPr lang="en-US" sz="900" dirty="0"/>
          </a:p>
        </p:txBody>
      </p:sp>
      <p:sp>
        <p:nvSpPr>
          <p:cNvPr id="56" name="Shape 53"/>
          <p:cNvSpPr/>
          <p:nvPr/>
        </p:nvSpPr>
        <p:spPr>
          <a:xfrm>
            <a:off x="5093208" y="5330952"/>
            <a:ext cx="1042416" cy="292608"/>
          </a:xfrm>
          <a:prstGeom prst="roundRect">
            <a:avLst>
              <a:gd name="adj" fmla="val 25000"/>
            </a:avLst>
          </a:prstGeom>
          <a:solidFill>
            <a:srgbClr val="E7F7EB"/>
          </a:solidFill>
          <a:ln w="12700">
            <a:solidFill>
              <a:srgbClr val="E7F7EB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5202936" y="5390388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86948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확인 필요</a:t>
            </a:r>
            <a:endParaRPr lang="en-US" sz="850" dirty="0"/>
          </a:p>
        </p:txBody>
      </p:sp>
      <p:sp>
        <p:nvSpPr>
          <p:cNvPr id="58" name="Text 55"/>
          <p:cNvSpPr/>
          <p:nvPr/>
        </p:nvSpPr>
        <p:spPr>
          <a:xfrm>
            <a:off x="6254496" y="5385816"/>
            <a:ext cx="2075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342E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두 기기 간 동기화 안정성</a:t>
            </a:r>
            <a:endParaRPr lang="en-US" sz="900" dirty="0"/>
          </a:p>
        </p:txBody>
      </p:sp>
      <p:sp>
        <p:nvSpPr>
          <p:cNvPr id="59" name="Shape 56"/>
          <p:cNvSpPr/>
          <p:nvPr/>
        </p:nvSpPr>
        <p:spPr>
          <a:xfrm>
            <a:off x="8668512" y="5330952"/>
            <a:ext cx="1042416" cy="292608"/>
          </a:xfrm>
          <a:prstGeom prst="roundRect">
            <a:avLst>
              <a:gd name="adj" fmla="val 25000"/>
            </a:avLst>
          </a:prstGeom>
          <a:solidFill>
            <a:srgbClr val="E7F7EB"/>
          </a:solidFill>
          <a:ln w="12700">
            <a:solidFill>
              <a:srgbClr val="E7F7EB"/>
            </a:solidFill>
            <a:prstDash val="solid"/>
          </a:ln>
        </p:spPr>
      </p:sp>
      <p:sp>
        <p:nvSpPr>
          <p:cNvPr id="60" name="Text 57"/>
          <p:cNvSpPr/>
          <p:nvPr/>
        </p:nvSpPr>
        <p:spPr>
          <a:xfrm>
            <a:off x="8778240" y="5390388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86948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확장 계획</a:t>
            </a:r>
            <a:endParaRPr lang="en-US" sz="850" dirty="0"/>
          </a:p>
        </p:txBody>
      </p:sp>
      <p:sp>
        <p:nvSpPr>
          <p:cNvPr id="61" name="Text 58"/>
          <p:cNvSpPr/>
          <p:nvPr/>
        </p:nvSpPr>
        <p:spPr>
          <a:xfrm>
            <a:off x="9848088" y="5385816"/>
            <a:ext cx="1581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C342E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Web / Linux / Windows</a:t>
            </a:r>
            <a:endParaRPr lang="en-US" sz="850" dirty="0"/>
          </a:p>
        </p:txBody>
      </p:sp>
      <p:sp>
        <p:nvSpPr>
          <p:cNvPr id="62" name="Text 59"/>
          <p:cNvSpPr/>
          <p:nvPr/>
        </p:nvSpPr>
        <p:spPr>
          <a:xfrm>
            <a:off x="676656" y="5943600"/>
            <a:ext cx="10835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168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이미 예약된 알람은 네트워크가 없어도 울릴 수 있으며, 새로운 변경 동기화에는 네트워크가 필요합니다.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720840" y="0"/>
            <a:ext cx="547085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7827264" cy="6858000"/>
          </a:xfrm>
          <a:prstGeom prst="rect">
            <a:avLst/>
          </a:prstGeom>
          <a:solidFill>
            <a:srgbClr val="F7FAF4"/>
          </a:solidFill>
          <a:ln w="12700">
            <a:solidFill>
              <a:srgbClr val="F7FAF4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03504" y="38404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386948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LET'S ALARM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9235440" y="384048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168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평가 (2) 데이터 구조와 보안</a:t>
            </a:r>
            <a:endParaRPr lang="en-US" sz="800" dirty="0"/>
          </a:p>
        </p:txBody>
      </p:sp>
      <p:sp>
        <p:nvSpPr>
          <p:cNvPr id="6" name="Shape 3"/>
          <p:cNvSpPr/>
          <p:nvPr/>
        </p:nvSpPr>
        <p:spPr>
          <a:xfrm>
            <a:off x="603504" y="704088"/>
            <a:ext cx="10981944" cy="0"/>
          </a:xfrm>
          <a:prstGeom prst="line">
            <a:avLst/>
          </a:prstGeom>
          <a:noFill/>
          <a:ln w="12700">
            <a:solidFill>
              <a:srgbClr val="DAE6D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03504" y="6419088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15" kern="0" dirty="0">
                <a:solidFill>
                  <a:srgbClr val="647168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UI/UX PROGRAMMING   /   TEAM 06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11155680" y="6419088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86948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09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21792" y="941832"/>
            <a:ext cx="10652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C342E"/>
                </a:solidFill>
                <a:latin typeface="KIMM_Bold" pitchFamily="34" charset="0"/>
                <a:ea typeface="KIMM_Bold" pitchFamily="34" charset="-122"/>
                <a:cs typeface="KIMM_Bold" pitchFamily="34" charset="-120"/>
              </a:rPr>
              <a:t>데이터 구조와 보안</a:t>
            </a:r>
            <a:endParaRPr lang="en-US" sz="2700" dirty="0"/>
          </a:p>
        </p:txBody>
      </p:sp>
      <p:sp>
        <p:nvSpPr>
          <p:cNvPr id="10" name="Text 7"/>
          <p:cNvSpPr/>
          <p:nvPr/>
        </p:nvSpPr>
        <p:spPr>
          <a:xfrm>
            <a:off x="640080" y="1536192"/>
            <a:ext cx="105613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6948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공유 알람은 그룹 구성원에게만 열리고, 변경 신호는 등록된 Android 기기로 전달됩니다.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58368" y="2148840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386948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FIRESTORE COLLECTIONS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640080" y="2505456"/>
            <a:ext cx="4892040" cy="41148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DAE6D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95528" y="263347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2C342E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users/{uid}</a:t>
            </a:r>
            <a:endParaRPr lang="en-US" sz="880" dirty="0"/>
          </a:p>
        </p:txBody>
      </p:sp>
      <p:sp>
        <p:nvSpPr>
          <p:cNvPr id="14" name="Shape 11"/>
          <p:cNvSpPr/>
          <p:nvPr/>
        </p:nvSpPr>
        <p:spPr>
          <a:xfrm>
            <a:off x="640080" y="2999232"/>
            <a:ext cx="4892040" cy="411480"/>
          </a:xfrm>
          <a:prstGeom prst="roundRect">
            <a:avLst>
              <a:gd name="adj" fmla="val 17778"/>
            </a:avLst>
          </a:prstGeom>
          <a:solidFill>
            <a:srgbClr val="E7F7EB"/>
          </a:solidFill>
          <a:ln w="12700">
            <a:solidFill>
              <a:srgbClr val="B9EFC5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95528" y="3127248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386948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groups/{groupId}/members/{uid}</a:t>
            </a:r>
            <a:endParaRPr lang="en-US" sz="880" dirty="0"/>
          </a:p>
        </p:txBody>
      </p:sp>
      <p:sp>
        <p:nvSpPr>
          <p:cNvPr id="16" name="Shape 13"/>
          <p:cNvSpPr/>
          <p:nvPr/>
        </p:nvSpPr>
        <p:spPr>
          <a:xfrm>
            <a:off x="640080" y="3493008"/>
            <a:ext cx="4892040" cy="411480"/>
          </a:xfrm>
          <a:prstGeom prst="roundRect">
            <a:avLst>
              <a:gd name="adj" fmla="val 17778"/>
            </a:avLst>
          </a:prstGeom>
          <a:solidFill>
            <a:srgbClr val="E7F7EB"/>
          </a:solidFill>
          <a:ln w="12700">
            <a:solidFill>
              <a:srgbClr val="B9EFC5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95528" y="3621024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386948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groups/{groupId}/alarms/{alarmId}</a:t>
            </a:r>
            <a:endParaRPr lang="en-US" sz="880" dirty="0"/>
          </a:p>
        </p:txBody>
      </p:sp>
      <p:sp>
        <p:nvSpPr>
          <p:cNvPr id="18" name="Shape 15"/>
          <p:cNvSpPr/>
          <p:nvPr/>
        </p:nvSpPr>
        <p:spPr>
          <a:xfrm>
            <a:off x="640080" y="3986784"/>
            <a:ext cx="4892040" cy="41148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DAE6DD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95528" y="4114800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2C342E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groups/{groupId}/devices/{deviceId}</a:t>
            </a:r>
            <a:endParaRPr lang="en-US" sz="880" dirty="0"/>
          </a:p>
        </p:txBody>
      </p:sp>
      <p:sp>
        <p:nvSpPr>
          <p:cNvPr id="20" name="Shape 17"/>
          <p:cNvSpPr/>
          <p:nvPr/>
        </p:nvSpPr>
        <p:spPr>
          <a:xfrm>
            <a:off x="640080" y="4480560"/>
            <a:ext cx="4892040" cy="41148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DAE6DD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95528" y="4608576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2C342E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groups/{groupId}/commands/{commandId}</a:t>
            </a:r>
            <a:endParaRPr lang="en-US" sz="880" dirty="0"/>
          </a:p>
        </p:txBody>
      </p:sp>
      <p:sp>
        <p:nvSpPr>
          <p:cNvPr id="22" name="Shape 19"/>
          <p:cNvSpPr/>
          <p:nvPr/>
        </p:nvSpPr>
        <p:spPr>
          <a:xfrm>
            <a:off x="640080" y="4974336"/>
            <a:ext cx="4892040" cy="41148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DAE6DD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95528" y="510235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2C342E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groupSecrets/{groupId}</a:t>
            </a:r>
            <a:endParaRPr lang="en-US" sz="880" dirty="0"/>
          </a:p>
        </p:txBody>
      </p:sp>
      <p:sp>
        <p:nvSpPr>
          <p:cNvPr id="24" name="Text 21"/>
          <p:cNvSpPr/>
          <p:nvPr/>
        </p:nvSpPr>
        <p:spPr>
          <a:xfrm>
            <a:off x="5989320" y="214884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386948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SECURITY POINTS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5980176" y="2505456"/>
            <a:ext cx="5586984" cy="758952"/>
          </a:xfrm>
          <a:prstGeom prst="roundRect">
            <a:avLst>
              <a:gd name="adj" fmla="val 9639"/>
            </a:avLst>
          </a:prstGeom>
          <a:solidFill>
            <a:srgbClr val="FFFFFF"/>
          </a:solidFill>
          <a:ln w="12700">
            <a:solidFill>
              <a:srgbClr val="DAE6DD"/>
            </a:solidFill>
            <a:prstDash val="solid"/>
          </a:ln>
        </p:spPr>
      </p:sp>
      <p:pic>
        <p:nvPicPr>
          <p:cNvPr id="26" name="Image 1" descr="/home/devuser/projects/teamproject1/presentation/assets/icon_shie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2670048"/>
            <a:ext cx="274320" cy="274320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6483096" y="2670048"/>
            <a:ext cx="49194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342E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Authentication</a:t>
            </a:r>
            <a:endParaRPr lang="en-US" sz="1000" dirty="0"/>
          </a:p>
        </p:txBody>
      </p:sp>
      <p:sp>
        <p:nvSpPr>
          <p:cNvPr id="28" name="Text 24"/>
          <p:cNvSpPr/>
          <p:nvPr/>
        </p:nvSpPr>
        <p:spPr>
          <a:xfrm>
            <a:off x="6483096" y="2971800"/>
            <a:ext cx="4919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168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로그인 사용자 식별</a:t>
            </a:r>
            <a:endParaRPr lang="en-US" sz="800" dirty="0"/>
          </a:p>
        </p:txBody>
      </p:sp>
      <p:sp>
        <p:nvSpPr>
          <p:cNvPr id="29" name="Shape 25"/>
          <p:cNvSpPr/>
          <p:nvPr/>
        </p:nvSpPr>
        <p:spPr>
          <a:xfrm>
            <a:off x="5980176" y="3465576"/>
            <a:ext cx="5586984" cy="758952"/>
          </a:xfrm>
          <a:prstGeom prst="roundRect">
            <a:avLst>
              <a:gd name="adj" fmla="val 9639"/>
            </a:avLst>
          </a:prstGeom>
          <a:solidFill>
            <a:srgbClr val="E7F7EB"/>
          </a:solidFill>
          <a:ln w="12700">
            <a:solidFill>
              <a:srgbClr val="B9EFC5"/>
            </a:solidFill>
            <a:prstDash val="solid"/>
          </a:ln>
        </p:spPr>
      </p:sp>
      <p:pic>
        <p:nvPicPr>
          <p:cNvPr id="30" name="Image 2" descr="/home/devuser/projects/teamproject1/presentation/assets/icon_shie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0" y="3630168"/>
            <a:ext cx="274320" cy="274320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6483096" y="3630168"/>
            <a:ext cx="49194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342E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Firestore Rules</a:t>
            </a:r>
            <a:endParaRPr lang="en-US" sz="1000" dirty="0"/>
          </a:p>
        </p:txBody>
      </p:sp>
      <p:sp>
        <p:nvSpPr>
          <p:cNvPr id="32" name="Text 27"/>
          <p:cNvSpPr/>
          <p:nvPr/>
        </p:nvSpPr>
        <p:spPr>
          <a:xfrm>
            <a:off x="6483096" y="3931920"/>
            <a:ext cx="4919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168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그룹 멤버만 공유 알람 접근</a:t>
            </a:r>
            <a:endParaRPr lang="en-US" sz="800" dirty="0"/>
          </a:p>
        </p:txBody>
      </p:sp>
      <p:sp>
        <p:nvSpPr>
          <p:cNvPr id="33" name="Shape 28"/>
          <p:cNvSpPr/>
          <p:nvPr/>
        </p:nvSpPr>
        <p:spPr>
          <a:xfrm>
            <a:off x="5980176" y="4425696"/>
            <a:ext cx="5586984" cy="758952"/>
          </a:xfrm>
          <a:prstGeom prst="roundRect">
            <a:avLst>
              <a:gd name="adj" fmla="val 9639"/>
            </a:avLst>
          </a:prstGeom>
          <a:solidFill>
            <a:srgbClr val="FFFFFF"/>
          </a:solidFill>
          <a:ln w="12700">
            <a:solidFill>
              <a:srgbClr val="DAE6DD"/>
            </a:solidFill>
            <a:prstDash val="solid"/>
          </a:ln>
        </p:spPr>
      </p:sp>
      <p:pic>
        <p:nvPicPr>
          <p:cNvPr id="34" name="Image 3" descr="/home/devuser/projects/teamproject1/presentation/assets/icon_clou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6480" y="4590288"/>
            <a:ext cx="274320" cy="274320"/>
          </a:xfrm>
          <a:prstGeom prst="rect">
            <a:avLst/>
          </a:prstGeom>
        </p:spPr>
      </p:pic>
      <p:sp>
        <p:nvSpPr>
          <p:cNvPr id="35" name="Text 29"/>
          <p:cNvSpPr/>
          <p:nvPr/>
        </p:nvSpPr>
        <p:spPr>
          <a:xfrm>
            <a:off x="6483096" y="4590288"/>
            <a:ext cx="49194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342E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Functions / FCM</a:t>
            </a:r>
            <a:endParaRPr lang="en-US" sz="1000" dirty="0"/>
          </a:p>
        </p:txBody>
      </p:sp>
      <p:sp>
        <p:nvSpPr>
          <p:cNvPr id="36" name="Text 30"/>
          <p:cNvSpPr/>
          <p:nvPr/>
        </p:nvSpPr>
        <p:spPr>
          <a:xfrm>
            <a:off x="6483096" y="4892040"/>
            <a:ext cx="4919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168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변경 내용을 등록된 Android 기기로 전달</a:t>
            </a:r>
            <a:endParaRPr lang="en-US" sz="800" dirty="0"/>
          </a:p>
        </p:txBody>
      </p:sp>
      <p:sp>
        <p:nvSpPr>
          <p:cNvPr id="37" name="Shape 31"/>
          <p:cNvSpPr/>
          <p:nvPr/>
        </p:nvSpPr>
        <p:spPr>
          <a:xfrm>
            <a:off x="5980176" y="5468112"/>
            <a:ext cx="5586984" cy="566928"/>
          </a:xfrm>
          <a:prstGeom prst="roundRect">
            <a:avLst>
              <a:gd name="adj" fmla="val 12903"/>
            </a:avLst>
          </a:prstGeom>
          <a:solidFill>
            <a:srgbClr val="386948"/>
          </a:solidFill>
          <a:ln w="12700">
            <a:solidFill>
              <a:srgbClr val="386948"/>
            </a:solidFill>
            <a:prstDash val="solid"/>
          </a:ln>
        </p:spPr>
      </p:sp>
      <p:sp>
        <p:nvSpPr>
          <p:cNvPr id="38" name="Text 32"/>
          <p:cNvSpPr/>
          <p:nvPr/>
        </p:nvSpPr>
        <p:spPr>
          <a:xfrm>
            <a:off x="6217920" y="5660136"/>
            <a:ext cx="5120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2Z" pitchFamily="34" charset="0"/>
                <a:ea typeface="A2Z" pitchFamily="34" charset="-122"/>
                <a:cs typeface="A2Z" pitchFamily="34" charset="-120"/>
              </a:rPr>
              <a:t>초대 코드 해시 저장  /  FCM 토큰은 기기 문서에서 관리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KIMM_Bol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2Z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UI/UX 프로그래밍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Let's alarm - 디자인 정리본</dc:title>
  <dc:subject>UI/UX 프로그래밍 6조 발표자료</dc:subject>
  <dc:creator>6조</dc:creator>
  <cp:lastModifiedBy>6조</cp:lastModifiedBy>
  <cp:revision>1</cp:revision>
  <dcterms:created xsi:type="dcterms:W3CDTF">2026-05-26T17:56:55Z</dcterms:created>
  <dcterms:modified xsi:type="dcterms:W3CDTF">2026-05-26T17:56:55Z</dcterms:modified>
</cp:coreProperties>
</file>